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33"/>
    <p:restoredTop sz="68638"/>
  </p:normalViewPr>
  <p:slideViewPr>
    <p:cSldViewPr snapToGrid="0">
      <p:cViewPr>
        <p:scale>
          <a:sx n="105" d="100"/>
          <a:sy n="105" d="100"/>
        </p:scale>
        <p:origin x="144" y="-2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976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6;p3"/>
          <p:cNvPicPr>
            <a:picLocks noChangeAspect="1"/>
          </p:cNvPicPr>
          <p:nvPr/>
        </p:nvPicPr>
        <p:blipFill rotWithShape="1">
          <a:blip r:embed="rId3">
            <a:alphaModFix amt="28000"/>
          </a:blip>
          <a:srcRect/>
          <a:stretch/>
        </p:blipFill>
        <p:spPr>
          <a:xfrm rot="1200000">
            <a:off x="12573000" y="952500"/>
            <a:ext cx="4762500" cy="4762500"/>
          </a:xfrm>
          <a:prstGeom prst="rect">
            <a:avLst/>
          </a:prstGeom>
          <a:ln>
            <a:noFill/>
          </a:ln>
        </p:spPr>
      </p:pic>
      <p:pic>
        <p:nvPicPr>
          <p:cNvPr id="28" name="Google Shape;17;p3"/>
          <p:cNvPicPr>
            <a:picLocks noChangeAspect="1"/>
          </p:cNvPicPr>
          <p:nvPr/>
        </p:nvPicPr>
        <p:blipFill rotWithShape="1">
          <a:blip r:embed="rId4">
            <a:alphaModFix amt="40000"/>
          </a:blip>
          <a:srcRect/>
          <a:stretch/>
        </p:blipFill>
        <p:spPr>
          <a:xfrm rot="900003">
            <a:off x="14287500" y="4095750"/>
            <a:ext cx="3143250" cy="3143250"/>
          </a:xfrm>
          <a:prstGeom prst="rect">
            <a:avLst/>
          </a:prstGeom>
          <a:ln>
            <a:noFill/>
          </a:ln>
        </p:spPr>
      </p:pic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C86FF234-B079-47B8-A7E5-0BB8C77A34D2}"/>
              </a:ext>
            </a:extLst>
          </p:cNvPr>
          <p:cNvSpPr>
            <a:spLocks noGrp="1"/>
          </p:cNvSpPr>
          <p:nvPr/>
        </p:nvSpPr>
        <p:spPr>
          <a:xfrm>
            <a:off x="1490075" y="1058804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2100"/>
              <a:buFont typeface="Inter"/>
              <a:buNone/>
            </a:pPr>
            <a:r>
              <a:rPr sz="270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AI-ASSISTED PEER COLLABORATION PLATFORM</a:t>
            </a:r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0981BC7F-15B2-4DA5-BFCE-F2371F71E8A3}"/>
              </a:ext>
            </a:extLst>
          </p:cNvPr>
          <p:cNvSpPr>
            <a:spLocks noGrp="1"/>
          </p:cNvSpPr>
          <p:nvPr/>
        </p:nvSpPr>
        <p:spPr>
          <a:xfrm>
            <a:off x="1333500" y="1858904"/>
            <a:ext cx="11430000" cy="26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10500"/>
              <a:buFont typeface="Space Grotesk"/>
              <a:buNone/>
            </a:pPr>
            <a:r>
              <a:rPr sz="105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Smart Peer Companion</a:t>
            </a:r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5F4FCFA0-1F39-4D49-A791-288D5B516896}"/>
              </a:ext>
            </a:extLst>
          </p:cNvPr>
          <p:cNvSpPr>
            <a:spLocks noGrp="1"/>
          </p:cNvSpPr>
          <p:nvPr/>
        </p:nvSpPr>
        <p:spPr>
          <a:xfrm>
            <a:off x="1390650" y="5002154"/>
            <a:ext cx="5715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1250"/>
              <a:buFont typeface="Space Grotesk"/>
              <a:buNone/>
            </a:pPr>
            <a:r>
              <a:rPr sz="11250" b="1" i="0" u="none" cap="none">
                <a:solidFill>
                  <a:srgbClr val="2F80ED"/>
                </a:solidFill>
                <a:latin typeface="Space Grotesk"/>
                <a:ea typeface="Space Grotesk"/>
                <a:cs typeface="Space Grotesk"/>
              </a:rPr>
              <a:t>SPC</a:t>
            </a: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1596B63C-6CD6-426A-A494-82B9A7F9F865}"/>
              </a:ext>
            </a:extLst>
          </p:cNvPr>
          <p:cNvSpPr>
            <a:spLocks noGrp="1"/>
          </p:cNvSpPr>
          <p:nvPr/>
        </p:nvSpPr>
        <p:spPr>
          <a:xfrm>
            <a:off x="1428750" y="6615300"/>
            <a:ext cx="9525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r>
              <a:rPr sz="2250">
                <a:solidFill>
                  <a:srgbClr val="AAB2C8"/>
                </a:solidFill>
                <a:latin typeface="Inter"/>
                <a:ea typeface="Inter"/>
                <a:cs typeface="Inter"/>
              </a:rPr>
              <a:t>Where AI facilitates learning — instead of replacing it.</a:t>
            </a: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endParaRPr sz="2250">
              <a:solidFill>
                <a:srgbClr val="AAB2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C990032A-1922-4512-AA30-A95EF2D4372E}"/>
              </a:ext>
            </a:extLst>
          </p:cNvPr>
          <p:cNvSpPr>
            <a:spLocks noGrp="1"/>
          </p:cNvSpPr>
          <p:nvPr/>
        </p:nvSpPr>
        <p:spPr>
          <a:xfrm>
            <a:off x="1390650" y="7361988"/>
            <a:ext cx="129399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r>
              <a:rPr sz="1600" b="1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Team 1  </a:t>
            </a:r>
            <a:r>
              <a:rPr sz="1600" b="1">
                <a:solidFill>
                  <a:srgbClr val="C3CADD"/>
                </a:solidFill>
                <a:latin typeface="Inter"/>
                <a:ea typeface="Inter"/>
                <a:cs typeface="Inter"/>
              </a:rPr>
              <a:t>|</a:t>
            </a:r>
            <a:r>
              <a:rPr sz="1600" b="1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 University of Newcastle</a:t>
            </a:r>
            <a:r>
              <a:rPr sz="1600" b="1">
                <a:solidFill>
                  <a:srgbClr val="C3CADD"/>
                </a:solidFill>
                <a:latin typeface="Inter"/>
                <a:ea typeface="Inter"/>
                <a:cs typeface="Inter"/>
              </a:rPr>
              <a:t> | COMP3851A : Computing and Information Sciences WIL</a:t>
            </a: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63CF46C2-05DE-4E79-AD93-FC49F5E91601}"/>
              </a:ext>
            </a:extLst>
          </p:cNvPr>
          <p:cNvSpPr>
            <a:spLocks noGrp="1"/>
          </p:cNvSpPr>
          <p:nvPr/>
        </p:nvSpPr>
        <p:spPr>
          <a:xfrm>
            <a:off x="1394825" y="8002475"/>
            <a:ext cx="9525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650"/>
              <a:buFont typeface="Inter"/>
              <a:buNone/>
            </a:pPr>
            <a:r>
              <a:rPr sz="16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PRESENTERS</a:t>
            </a: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A68169D6-6832-403C-980E-6752E943C9BA}"/>
              </a:ext>
            </a:extLst>
          </p:cNvPr>
          <p:cNvSpPr>
            <a:spLocks noGrp="1"/>
          </p:cNvSpPr>
          <p:nvPr/>
        </p:nvSpPr>
        <p:spPr>
          <a:xfrm>
            <a:off x="1333500" y="8316875"/>
            <a:ext cx="100014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100"/>
              <a:buFont typeface="Inter"/>
              <a:buNone/>
            </a:pP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· </a:t>
            </a: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Krish Long</a:t>
            </a:r>
            <a:r>
              <a:rPr sz="160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wani</a:t>
            </a: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 - C3549511 (PM)</a:t>
            </a:r>
          </a:p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100"/>
              <a:buFont typeface="Inter"/>
              <a:buNone/>
            </a:pP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·  Elizabeth Flores</a:t>
            </a: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 - C3546059 (DPM)</a:t>
            </a:r>
          </a:p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100"/>
              <a:buFont typeface="Inter"/>
              <a:buNone/>
            </a:pPr>
            <a:r>
              <a:rPr sz="16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·  He</a:t>
            </a:r>
            <a:r>
              <a:rPr lang="en-US" sz="16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in Myat</a:t>
            </a:r>
            <a:r>
              <a:rPr sz="16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Thu - </a:t>
            </a: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C3552370</a:t>
            </a:r>
          </a:p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100"/>
              <a:buFont typeface="Inter"/>
              <a:buNone/>
            </a:pP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·  Kaung Sett Paing Tun</a:t>
            </a: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 - C3546060</a:t>
            </a:r>
          </a:p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100"/>
              <a:buFont typeface="Inter"/>
              <a:buNone/>
            </a:pP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·  Daniil </a:t>
            </a:r>
            <a:r>
              <a:rPr sz="1600" b="0" i="0" u="none" cap="none" dirty="0" err="1">
                <a:solidFill>
                  <a:srgbClr val="C3CADD"/>
                </a:solidFill>
                <a:latin typeface="Inter"/>
                <a:ea typeface="Inter"/>
                <a:cs typeface="Inter"/>
              </a:rPr>
              <a:t>Berezovik</a:t>
            </a:r>
            <a:r>
              <a:rPr sz="1600" b="0" i="0" u="none" cap="none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 - </a:t>
            </a:r>
            <a:r>
              <a:rPr sz="1600" dirty="0">
                <a:solidFill>
                  <a:srgbClr val="C3CADD"/>
                </a:solidFill>
                <a:latin typeface="Inter"/>
                <a:ea typeface="Inter"/>
                <a:cs typeface="Inter"/>
              </a:rPr>
              <a:t>C3543315</a:t>
            </a:r>
          </a:p>
        </p:txBody>
      </p:sp>
    </p:spTree>
    <p:extLst>
      <p:ext uri="{BB962C8B-B14F-4D97-AF65-F5344CB8AC3E}">
        <p14:creationId xmlns:p14="http://schemas.microsoft.com/office/powerpoint/2010/main" val="44464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BC576EDB-265E-4595-B668-E930824F1347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01 — THE PROBLEM</a:t>
            </a:r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9570C9F5-777A-4288-899B-3A6FF0C6FC16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7200"/>
              <a:buFont typeface="Space Grotesk"/>
              <a:buNone/>
            </a:pPr>
            <a:r>
              <a:rPr sz="72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The AI Isolation Problem</a:t>
            </a:r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165BCC14-BB70-445F-AA41-B21A8279F2BA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85725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3000"/>
              <a:buFont typeface="Inter"/>
              <a:buNone/>
            </a:pPr>
            <a:r>
              <a:rPr sz="30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Generative AI tools hand students instant answers — quietly bypassing critical thinking, peer discussion, and the friction where real learning happens.</a:t>
            </a:r>
          </a:p>
        </p:txBody>
      </p:sp>
      <p:pic>
        <p:nvPicPr>
          <p:cNvPr id="39" name="Google Shape;33;p4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11811000" y="2857500"/>
            <a:ext cx="4953000" cy="4953000"/>
          </a:xfrm>
          <a:prstGeom prst="rect">
            <a:avLst/>
          </a:prstGeom>
          <a:ln>
            <a:noFill/>
          </a:ln>
        </p:spPr>
      </p:pic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54721B9D-CB05-48AE-9CFA-605A913D84BA}"/>
              </a:ext>
            </a:extLst>
          </p:cNvPr>
          <p:cNvSpPr>
            <a:spLocks noGrp="1"/>
          </p:cNvSpPr>
          <p:nvPr/>
        </p:nvSpPr>
        <p:spPr>
          <a:xfrm>
            <a:off x="12382500" y="4605900"/>
            <a:ext cx="38100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750"/>
              <a:buFont typeface="Space Grotesk"/>
              <a:buNone/>
            </a:pPr>
            <a:r>
              <a:rPr sz="6750" b="1" i="0" u="non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</a:rPr>
              <a:t>ALONE</a:t>
            </a:r>
          </a:p>
        </p:txBody>
      </p:sp>
    </p:spTree>
    <p:extLst>
      <p:ext uri="{BB962C8B-B14F-4D97-AF65-F5344CB8AC3E}">
        <p14:creationId xmlns:p14="http://schemas.microsoft.com/office/powerpoint/2010/main" val="11899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>
            <a:extLst>
              <a:ext uri="{FF2B5EF4-FFF2-40B4-BE49-F238E27FC236}">
                <a16:creationId xmlns:a16="http://schemas.microsoft.com/office/drawing/2014/main" id="{8357AB76-4C57-47EF-BA0A-D3349BBDAB18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02 — THE GAP IN THE MARKET</a:t>
            </a:r>
          </a:p>
        </p:txBody>
      </p:sp>
      <p:sp>
        <p:nvSpPr>
          <p:cNvPr id="41" name="Google Shape;41;p5">
            <a:extLst>
              <a:ext uri="{FF2B5EF4-FFF2-40B4-BE49-F238E27FC236}">
                <a16:creationId xmlns:a16="http://schemas.microsoft.com/office/drawing/2014/main" id="{8ABEF198-07B1-486D-98B3-EB042BE2FDCE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13335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7200"/>
              <a:buFont typeface="Space Grotesk"/>
              <a:buNone/>
            </a:pPr>
            <a:r>
              <a:rPr sz="72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The Missing Link</a:t>
            </a:r>
          </a:p>
        </p:txBody>
      </p:sp>
      <p:pic>
        <p:nvPicPr>
          <p:cNvPr id="56" name="Google Shape;42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000500"/>
            <a:ext cx="4762500" cy="4381500"/>
          </a:xfrm>
          <a:prstGeom prst="rect">
            <a:avLst/>
          </a:prstGeom>
          <a:ln>
            <a:noFill/>
          </a:ln>
        </p:spPr>
      </p:pic>
      <p:sp>
        <p:nvSpPr>
          <p:cNvPr id="43" name="Google Shape;43;p5">
            <a:extLst>
              <a:ext uri="{FF2B5EF4-FFF2-40B4-BE49-F238E27FC236}">
                <a16:creationId xmlns:a16="http://schemas.microsoft.com/office/drawing/2014/main" id="{DC207B9C-2976-4939-8E7B-AB2E35B35F37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700"/>
              <a:buFont typeface="Space Grotesk"/>
              <a:buNone/>
            </a:pPr>
            <a:r>
              <a:rPr sz="2700" b="1" i="0" u="none" cap="none">
                <a:solidFill>
                  <a:srgbClr val="2F80ED"/>
                </a:solidFill>
                <a:latin typeface="Space Grotesk"/>
                <a:ea typeface="Space Grotesk"/>
                <a:cs typeface="Space Grotesk"/>
              </a:rPr>
              <a:t>Generic Group Chats</a:t>
            </a:r>
          </a:p>
        </p:txBody>
      </p:sp>
      <p:sp>
        <p:nvSpPr>
          <p:cNvPr id="44" name="Google Shape;44;p5">
            <a:extLst>
              <a:ext uri="{FF2B5EF4-FFF2-40B4-BE49-F238E27FC236}">
                <a16:creationId xmlns:a16="http://schemas.microsoft.com/office/drawing/2014/main" id="{80A54F89-E645-4E71-9712-A4D9F09AD3B4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40005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r>
              <a:rPr sz="2250" b="0" i="0" u="none" cap="none">
                <a:solidFill>
                  <a:srgbClr val="AAB2C8"/>
                </a:solidFill>
                <a:latin typeface="Inter"/>
                <a:ea typeface="Inter"/>
                <a:cs typeface="Inter"/>
              </a:rPr>
              <a:t>Peer collaboration, but no intelligence. Just noisy threads with zero guided learning.</a:t>
            </a:r>
          </a:p>
        </p:txBody>
      </p:sp>
      <p:pic>
        <p:nvPicPr>
          <p:cNvPr id="59" name="Google Shape;45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0" y="4000500"/>
            <a:ext cx="4762500" cy="4381500"/>
          </a:xfrm>
          <a:prstGeom prst="rect">
            <a:avLst/>
          </a:prstGeom>
          <a:ln>
            <a:noFill/>
          </a:ln>
        </p:spPr>
      </p:pic>
      <p:sp>
        <p:nvSpPr>
          <p:cNvPr id="46" name="Google Shape;46;p5">
            <a:extLst>
              <a:ext uri="{FF2B5EF4-FFF2-40B4-BE49-F238E27FC236}">
                <a16:creationId xmlns:a16="http://schemas.microsoft.com/office/drawing/2014/main" id="{5284FD88-6182-445E-9217-F461139B98E1}"/>
              </a:ext>
            </a:extLst>
          </p:cNvPr>
          <p:cNvSpPr>
            <a:spLocks noGrp="1"/>
          </p:cNvSpPr>
          <p:nvPr/>
        </p:nvSpPr>
        <p:spPr>
          <a:xfrm>
            <a:off x="7143750" y="4476750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700"/>
              <a:buFont typeface="Space Grotesk"/>
              <a:buNone/>
            </a:pPr>
            <a:r>
              <a:rPr sz="2700" b="1" i="0" u="non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</a:rPr>
              <a:t>Solitary AI Bots</a:t>
            </a:r>
          </a:p>
        </p:txBody>
      </p:sp>
      <p:sp>
        <p:nvSpPr>
          <p:cNvPr id="47" name="Google Shape;47;p5">
            <a:extLst>
              <a:ext uri="{FF2B5EF4-FFF2-40B4-BE49-F238E27FC236}">
                <a16:creationId xmlns:a16="http://schemas.microsoft.com/office/drawing/2014/main" id="{C176C591-B5A4-442D-B6C7-5EB74162DB53}"/>
              </a:ext>
            </a:extLst>
          </p:cNvPr>
          <p:cNvSpPr>
            <a:spLocks noGrp="1"/>
          </p:cNvSpPr>
          <p:nvPr/>
        </p:nvSpPr>
        <p:spPr>
          <a:xfrm>
            <a:off x="7143750" y="5334000"/>
            <a:ext cx="40005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B2C8"/>
              </a:buClr>
              <a:buSzPts val="2250"/>
              <a:buFont typeface="Inter"/>
              <a:buNone/>
            </a:pPr>
            <a:r>
              <a:rPr sz="2250" b="0" i="0" u="none" cap="none">
                <a:solidFill>
                  <a:srgbClr val="AAB2C8"/>
                </a:solidFill>
                <a:latin typeface="Inter"/>
                <a:ea typeface="Inter"/>
                <a:cs typeface="Inter"/>
              </a:rPr>
              <a:t>Instant answers, but no peers. Learning happens in isolation with no shared context.</a:t>
            </a:r>
          </a:p>
        </p:txBody>
      </p:sp>
      <p:pic>
        <p:nvPicPr>
          <p:cNvPr id="62" name="Google Shape;48;p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0" y="4000500"/>
            <a:ext cx="4762500" cy="4381500"/>
          </a:xfrm>
          <a:prstGeom prst="rect">
            <a:avLst/>
          </a:prstGeom>
          <a:ln>
            <a:noFill/>
          </a:ln>
        </p:spPr>
      </p:pic>
      <p:sp>
        <p:nvSpPr>
          <p:cNvPr id="49" name="Google Shape;49;p5">
            <a:extLst>
              <a:ext uri="{FF2B5EF4-FFF2-40B4-BE49-F238E27FC236}">
                <a16:creationId xmlns:a16="http://schemas.microsoft.com/office/drawing/2014/main" id="{C81D1B27-B853-4BAE-9465-CF4EAA1B16DD}"/>
              </a:ext>
            </a:extLst>
          </p:cNvPr>
          <p:cNvSpPr>
            <a:spLocks noGrp="1"/>
          </p:cNvSpPr>
          <p:nvPr/>
        </p:nvSpPr>
        <p:spPr>
          <a:xfrm>
            <a:off x="12573000" y="447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SPC</a:t>
            </a:r>
          </a:p>
        </p:txBody>
      </p:sp>
      <p:sp>
        <p:nvSpPr>
          <p:cNvPr id="50" name="Google Shape;50;p5">
            <a:extLst>
              <a:ext uri="{FF2B5EF4-FFF2-40B4-BE49-F238E27FC236}">
                <a16:creationId xmlns:a16="http://schemas.microsoft.com/office/drawing/2014/main" id="{C0779966-639D-419A-95B6-F3BD6856F2C4}"/>
              </a:ext>
            </a:extLst>
          </p:cNvPr>
          <p:cNvSpPr>
            <a:spLocks noGrp="1"/>
          </p:cNvSpPr>
          <p:nvPr/>
        </p:nvSpPr>
        <p:spPr>
          <a:xfrm>
            <a:off x="12573000" y="5334000"/>
            <a:ext cx="40005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2FB"/>
              </a:buClr>
              <a:buSzPts val="2250"/>
              <a:buFont typeface="Inter"/>
              <a:buNone/>
            </a:pPr>
            <a:r>
              <a:rPr sz="2250" b="0" i="0" u="none" cap="none">
                <a:solidFill>
                  <a:srgbClr val="F0F2FB"/>
                </a:solidFill>
                <a:latin typeface="Inter"/>
                <a:ea typeface="Inter"/>
                <a:cs typeface="Inter"/>
              </a:rPr>
              <a:t>The missing middle ground: collaborative, AI-guided learning in one shared space.</a:t>
            </a:r>
          </a:p>
        </p:txBody>
      </p:sp>
    </p:spTree>
    <p:extLst>
      <p:ext uri="{BB962C8B-B14F-4D97-AF65-F5344CB8AC3E}">
        <p14:creationId xmlns:p14="http://schemas.microsoft.com/office/powerpoint/2010/main" val="62646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962115BC-D7BB-4FEA-B929-50A039B6DBB6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03 — OUR SOLUTION</a:t>
            </a:r>
          </a:p>
        </p:txBody>
      </p:sp>
      <p:sp>
        <p:nvSpPr>
          <p:cNvPr id="57" name="Google Shape;57;p6">
            <a:extLst>
              <a:ext uri="{FF2B5EF4-FFF2-40B4-BE49-F238E27FC236}">
                <a16:creationId xmlns:a16="http://schemas.microsoft.com/office/drawing/2014/main" id="{74708124-FE9A-42BD-8BFF-910E96FC615C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600"/>
              <a:buFont typeface="Space Grotesk"/>
              <a:buNone/>
            </a:pPr>
            <a:r>
              <a:rPr sz="66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The Smart Peer Companion</a:t>
            </a:r>
          </a:p>
        </p:txBody>
      </p:sp>
      <p:sp>
        <p:nvSpPr>
          <p:cNvPr id="58" name="Google Shape;58;p6">
            <a:extLst>
              <a:ext uri="{FF2B5EF4-FFF2-40B4-BE49-F238E27FC236}">
                <a16:creationId xmlns:a16="http://schemas.microsoft.com/office/drawing/2014/main" id="{8CEB3CF6-481C-42F9-8D32-5BE350ECD36A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72390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A walled-garden study platform where AI acts as a Facilitator — not an answer key.</a:t>
            </a:r>
          </a:p>
        </p:txBody>
      </p:sp>
      <p:sp>
        <p:nvSpPr>
          <p:cNvPr id="59" name="Google Shape;59;p6">
            <a:extLst>
              <a:ext uri="{FF2B5EF4-FFF2-40B4-BE49-F238E27FC236}">
                <a16:creationId xmlns:a16="http://schemas.microsoft.com/office/drawing/2014/main" id="{F603F7E5-882A-4CE8-AB11-6B789EE0BA15}"/>
              </a:ext>
            </a:extLst>
          </p:cNvPr>
          <p:cNvSpPr>
            <a:spLocks noGrp="1"/>
          </p:cNvSpPr>
          <p:nvPr/>
        </p:nvSpPr>
        <p:spPr>
          <a:xfrm>
            <a:off x="1333500" y="6477000"/>
            <a:ext cx="7239000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Public &amp; private study channels</a:t>
            </a:r>
          </a:p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Secure file uploads for course material</a:t>
            </a:r>
          </a:p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Targeted AI modes for guided learning</a:t>
            </a:r>
          </a:p>
        </p:txBody>
      </p:sp>
      <p:pic>
        <p:nvPicPr>
          <p:cNvPr id="68" name="Google Shape;60;p6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rcRect/>
          <a:stretch/>
        </p:blipFill>
        <p:spPr>
          <a:xfrm>
            <a:off x="10287000" y="2857500"/>
            <a:ext cx="6940626" cy="4736400"/>
          </a:xfrm>
          <a:prstGeom prst="rect">
            <a:avLst/>
          </a:prstGeom>
          <a:ln>
            <a:noFill/>
          </a:ln>
        </p:spPr>
      </p:pic>
      <p:sp>
        <p:nvSpPr>
          <p:cNvPr id="61" name="Google Shape;61;p6">
            <a:extLst>
              <a:ext uri="{FF2B5EF4-FFF2-40B4-BE49-F238E27FC236}">
                <a16:creationId xmlns:a16="http://schemas.microsoft.com/office/drawing/2014/main" id="{6E1F1435-C903-42BF-93B6-D160366C3876}"/>
              </a:ext>
            </a:extLst>
          </p:cNvPr>
          <p:cNvSpPr>
            <a:spLocks noGrp="1"/>
          </p:cNvSpPr>
          <p:nvPr/>
        </p:nvSpPr>
        <p:spPr>
          <a:xfrm>
            <a:off x="10763250" y="3429000"/>
            <a:ext cx="5524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950"/>
              <a:buFont typeface="Inter"/>
              <a:buNone/>
            </a:pPr>
            <a:r>
              <a:rPr sz="3050" b="1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AI AS FACILITATOR</a:t>
            </a:r>
          </a:p>
        </p:txBody>
      </p:sp>
      <p:sp>
        <p:nvSpPr>
          <p:cNvPr id="62" name="Google Shape;62;p6">
            <a:extLst>
              <a:ext uri="{FF2B5EF4-FFF2-40B4-BE49-F238E27FC236}">
                <a16:creationId xmlns:a16="http://schemas.microsoft.com/office/drawing/2014/main" id="{4401ED71-5D55-4C11-827C-ADABF4E3D751}"/>
              </a:ext>
            </a:extLst>
          </p:cNvPr>
          <p:cNvSpPr>
            <a:spLocks noGrp="1"/>
          </p:cNvSpPr>
          <p:nvPr/>
        </p:nvSpPr>
        <p:spPr>
          <a:xfrm>
            <a:off x="10763250" y="4252325"/>
            <a:ext cx="60990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Guides discussion</a:t>
            </a:r>
          </a:p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Asks questions</a:t>
            </a:r>
          </a:p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Summarizes learning</a:t>
            </a:r>
          </a:p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Never just hands over answers</a:t>
            </a:r>
          </a:p>
        </p:txBody>
      </p:sp>
    </p:spTree>
    <p:extLst>
      <p:ext uri="{BB962C8B-B14F-4D97-AF65-F5344CB8AC3E}">
        <p14:creationId xmlns:p14="http://schemas.microsoft.com/office/powerpoint/2010/main" val="74751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>
            <a:extLst>
              <a:ext uri="{FF2B5EF4-FFF2-40B4-BE49-F238E27FC236}">
                <a16:creationId xmlns:a16="http://schemas.microsoft.com/office/drawing/2014/main" id="{C8025289-9F50-4E28-A820-9E9FDFC7E3EB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04 — THE STUDY HUB</a:t>
            </a:r>
          </a:p>
        </p:txBody>
      </p:sp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C6B663CD-6FDE-4B6F-8081-1214A74C4254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600"/>
              <a:buFont typeface="Space Grotesk"/>
              <a:buNone/>
            </a:pPr>
            <a:r>
              <a:rPr sz="66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The Study Hub</a:t>
            </a:r>
          </a:p>
        </p:txBody>
      </p:sp>
      <p:sp>
        <p:nvSpPr>
          <p:cNvPr id="70" name="Google Shape;70;p7">
            <a:extLst>
              <a:ext uri="{FF2B5EF4-FFF2-40B4-BE49-F238E27FC236}">
                <a16:creationId xmlns:a16="http://schemas.microsoft.com/office/drawing/2014/main" id="{3913D127-5D1B-494A-8C23-35EA2D244DB4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A clean, intuitive UI giving students centralized access to study groups, private chats, and uploaded learning materials — all from a single hub.</a:t>
            </a:r>
          </a:p>
        </p:txBody>
      </p:sp>
      <p:pic>
        <p:nvPicPr>
          <p:cNvPr id="77" name="Picture 7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67850" y="2536679"/>
            <a:ext cx="7353300" cy="5023142"/>
          </a:xfrm>
          <a:prstGeom prst="rect">
            <a:avLst/>
          </a:prstGeom>
        </p:spPr>
      </p:pic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D3F9F31-26C4-4751-B372-83917875B25C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noFill/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433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>
            <a:extLst>
              <a:ext uri="{FF2B5EF4-FFF2-40B4-BE49-F238E27FC236}">
                <a16:creationId xmlns:a16="http://schemas.microsoft.com/office/drawing/2014/main" id="{E0627178-6885-475F-AFD9-D491C4A6E302}"/>
              </a:ext>
            </a:extLst>
          </p:cNvPr>
          <p:cNvSpPr>
            <a:spLocks noGrp="1"/>
          </p:cNvSpPr>
          <p:nvPr/>
        </p:nvSpPr>
        <p:spPr>
          <a:xfrm>
            <a:off x="1333500" y="1091350"/>
            <a:ext cx="66675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</a:t>
            </a: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5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COLLABORATIVE STUDY CHANNELS</a:t>
            </a:r>
          </a:p>
        </p:txBody>
      </p:sp>
      <p:sp>
        <p:nvSpPr>
          <p:cNvPr id="79" name="Google Shape;79;p8">
            <a:extLst>
              <a:ext uri="{FF2B5EF4-FFF2-40B4-BE49-F238E27FC236}">
                <a16:creationId xmlns:a16="http://schemas.microsoft.com/office/drawing/2014/main" id="{D4D10D94-F87E-4408-8447-2ACF15C99583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000"/>
              <a:buFont typeface="Space Grotesk"/>
              <a:buNone/>
            </a:pPr>
            <a:r>
              <a:rPr sz="6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Peer-to-Peer Workspaces</a:t>
            </a:r>
          </a:p>
        </p:txBody>
      </p:sp>
      <p:sp>
        <p:nvSpPr>
          <p:cNvPr id="80" name="Google Shape;80;p8">
            <a:extLst>
              <a:ext uri="{FF2B5EF4-FFF2-40B4-BE49-F238E27FC236}">
                <a16:creationId xmlns:a16="http://schemas.microsoft.com/office/drawing/2014/main" id="{EC770907-42A7-4223-8A2F-9DF0F40EF0CB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Real-time messaging designed for active student discussion, file sharing, and peer review.</a:t>
            </a:r>
          </a:p>
        </p:txBody>
      </p:sp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DEC26F9C-F71A-4388-8E28-9A37A33F0E0F}"/>
              </a:ext>
            </a:extLst>
          </p:cNvPr>
          <p:cNvSpPr>
            <a:spLocks noGrp="1"/>
          </p:cNvSpPr>
          <p:nvPr/>
        </p:nvSpPr>
        <p:spPr>
          <a:xfrm>
            <a:off x="1333500" y="6667500"/>
            <a:ext cx="7048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342900" marR="0" lvl="0" indent="-3429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Live threaded discussion</a:t>
            </a:r>
          </a:p>
          <a:p>
            <a:pPr marL="342900" marR="0" lvl="0" indent="-3429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Drag-and-drop file sharing</a:t>
            </a:r>
          </a:p>
          <a:p>
            <a:pPr marL="342900" marR="0" lvl="0" indent="-3429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Structured peer review</a:t>
            </a:r>
          </a:p>
        </p:txBody>
      </p:sp>
      <p:pic>
        <p:nvPicPr>
          <p:cNvPr id="89" name="Picture 9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67850" y="2536679"/>
            <a:ext cx="7353300" cy="5023142"/>
          </a:xfrm>
          <a:prstGeom prst="rect">
            <a:avLst/>
          </a:prstGeom>
        </p:spPr>
      </p:pic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D7AC1C4-BB40-4D61-8C5A-3CBE69BE9DDA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noFill/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61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B41A2142-2175-4A36-8B2A-FA351E5F7649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</a:t>
            </a: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6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INVOKING THE AI FACILITATOR</a:t>
            </a:r>
          </a:p>
        </p:txBody>
      </p:sp>
      <p:sp>
        <p:nvSpPr>
          <p:cNvPr id="90" name="Google Shape;90;p9">
            <a:extLst>
              <a:ext uri="{FF2B5EF4-FFF2-40B4-BE49-F238E27FC236}">
                <a16:creationId xmlns:a16="http://schemas.microsoft.com/office/drawing/2014/main" id="{26BC083C-27BC-4EA9-9E0C-148A3997E0E1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000"/>
              <a:buFont typeface="Space Grotesk"/>
              <a:buNone/>
            </a:pPr>
            <a:r>
              <a:rPr sz="6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On-Demand Intelligence</a:t>
            </a:r>
          </a:p>
        </p:txBody>
      </p:sp>
      <p:sp>
        <p:nvSpPr>
          <p:cNvPr id="91" name="Google Shape;91;p9">
            <a:extLst>
              <a:ext uri="{FF2B5EF4-FFF2-40B4-BE49-F238E27FC236}">
                <a16:creationId xmlns:a16="http://schemas.microsoft.com/office/drawing/2014/main" id="{21154E89-55D9-4D61-AA66-A2CFF779CD81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The AI stays passive until summoned — preventing over-reliance and encouraging human-first problem solving.</a:t>
            </a:r>
          </a:p>
        </p:txBody>
      </p:sp>
      <p:sp>
        <p:nvSpPr>
          <p:cNvPr id="92" name="Google Shape;92;p9">
            <a:extLst>
              <a:ext uri="{FF2B5EF4-FFF2-40B4-BE49-F238E27FC236}">
                <a16:creationId xmlns:a16="http://schemas.microsoft.com/office/drawing/2014/main" id="{226BEDFE-34AF-49CD-8DF1-949D913A1810}"/>
              </a:ext>
            </a:extLst>
          </p:cNvPr>
          <p:cNvSpPr>
            <a:spLocks noGrp="1"/>
          </p:cNvSpPr>
          <p:nvPr/>
        </p:nvSpPr>
        <p:spPr>
          <a:xfrm>
            <a:off x="1333500" y="6953250"/>
            <a:ext cx="7048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200"/>
              <a:buFont typeface="Space Grotesk"/>
              <a:buNone/>
            </a:pPr>
            <a:r>
              <a:rPr sz="4200" b="1" i="0" u="none" cap="none">
                <a:solidFill>
                  <a:srgbClr val="2F80ED"/>
                </a:solidFill>
                <a:latin typeface="Space Grotesk"/>
                <a:ea typeface="Space Grotesk"/>
                <a:cs typeface="Space Grotesk"/>
              </a:rPr>
              <a:t>Type @ → choose a role</a:t>
            </a:r>
          </a:p>
        </p:txBody>
      </p:sp>
      <p:pic>
        <p:nvPicPr>
          <p:cNvPr id="100" name="Picture 10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67850" y="2536679"/>
            <a:ext cx="7353300" cy="5023142"/>
          </a:xfrm>
          <a:prstGeom prst="rect">
            <a:avLst/>
          </a:prstGeom>
        </p:spPr>
      </p:pic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432C05FB-675C-451E-A99F-4C6B27EAFE4E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noFill/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915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>
            <a:extLst>
              <a:ext uri="{FF2B5EF4-FFF2-40B4-BE49-F238E27FC236}">
                <a16:creationId xmlns:a16="http://schemas.microsoft.com/office/drawing/2014/main" id="{7807C2B8-D4BA-4BFA-A63D-D4DAC1375E50}"/>
              </a:ext>
            </a:extLst>
          </p:cNvPr>
          <p:cNvSpPr>
            <a:spLocks noGrp="1"/>
          </p:cNvSpPr>
          <p:nvPr/>
        </p:nvSpPr>
        <p:spPr>
          <a:xfrm>
            <a:off x="1333500" y="720225"/>
            <a:ext cx="47625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</a:t>
            </a: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7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THE USER EXPERIENCE</a:t>
            </a:r>
          </a:p>
        </p:txBody>
      </p:sp>
      <p:sp>
        <p:nvSpPr>
          <p:cNvPr id="101" name="Google Shape;101;p10">
            <a:extLst>
              <a:ext uri="{FF2B5EF4-FFF2-40B4-BE49-F238E27FC236}">
                <a16:creationId xmlns:a16="http://schemas.microsoft.com/office/drawing/2014/main" id="{92647109-4046-413E-AB4D-76D57C01FCF4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85725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600"/>
              <a:buFont typeface="Space Grotesk"/>
              <a:buNone/>
            </a:pPr>
            <a:r>
              <a:rPr sz="6600" b="1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Guided Learning</a:t>
            </a:r>
          </a:p>
        </p:txBody>
      </p:sp>
      <p:sp>
        <p:nvSpPr>
          <p:cNvPr id="102" name="Google Shape;102;p10">
            <a:extLst>
              <a:ext uri="{FF2B5EF4-FFF2-40B4-BE49-F238E27FC236}">
                <a16:creationId xmlns:a16="http://schemas.microsoft.com/office/drawing/2014/main" id="{E5177516-4D23-4FC3-9933-565C60B3180C}"/>
              </a:ext>
            </a:extLst>
          </p:cNvPr>
          <p:cNvSpPr>
            <a:spLocks noGrp="1"/>
          </p:cNvSpPr>
          <p:nvPr/>
        </p:nvSpPr>
        <p:spPr>
          <a:xfrm>
            <a:off x="1333500" y="2600450"/>
            <a:ext cx="64083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700"/>
              <a:buFont typeface="Inter"/>
              <a:buNone/>
            </a:pPr>
            <a:r>
              <a:rPr sz="2500">
                <a:solidFill>
                  <a:srgbClr val="C3CADD"/>
                </a:solidFill>
                <a:latin typeface="Inter"/>
                <a:ea typeface="Inter"/>
                <a:cs typeface="Inter"/>
              </a:rPr>
              <a:t>Toggle the AI into a specific mode to fit the learning goal.</a:t>
            </a:r>
          </a:p>
        </p:txBody>
      </p:sp>
      <p:sp>
        <p:nvSpPr>
          <p:cNvPr id="103" name="Google Shape;103;p10">
            <a:extLst>
              <a:ext uri="{FF2B5EF4-FFF2-40B4-BE49-F238E27FC236}">
                <a16:creationId xmlns:a16="http://schemas.microsoft.com/office/drawing/2014/main" id="{8B2D66F0-A032-4C27-96B2-424B67CF8D97}"/>
              </a:ext>
            </a:extLst>
          </p:cNvPr>
          <p:cNvSpPr>
            <a:spLocks noGrp="1"/>
          </p:cNvSpPr>
          <p:nvPr/>
        </p:nvSpPr>
        <p:spPr>
          <a:xfrm>
            <a:off x="1333500" y="4185800"/>
            <a:ext cx="7906200" cy="58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None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@Companion modes:</a:t>
            </a:r>
          </a:p>
          <a:p>
            <a:pPr marL="0" marR="0" lvl="0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None/>
            </a:pPr>
            <a:endParaRPr sz="2550" b="0" i="0" u="none" cap="none">
              <a:solidFill>
                <a:srgbClr val="E5E9F5"/>
              </a:solidFill>
              <a:latin typeface="Inter"/>
              <a:ea typeface="Inter"/>
              <a:cs typeface="Inter"/>
            </a:endParaRPr>
          </a:p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i="0" u="sng" cap="none">
                <a:solidFill>
                  <a:schemeClr val="accent2"/>
                </a:solidFill>
                <a:latin typeface="Inter"/>
                <a:ea typeface="Inter"/>
                <a:cs typeface="Inter"/>
              </a:rPr>
              <a:t>QuizMaster</a:t>
            </a: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 : </a:t>
            </a:r>
            <a:r>
              <a:rPr sz="2400">
                <a:solidFill>
                  <a:srgbClr val="E5E9F5"/>
                </a:solidFill>
                <a:latin typeface="Inter"/>
                <a:ea typeface="Inter"/>
                <a:cs typeface="Inter"/>
              </a:rPr>
              <a:t>Generates practice tests to check understanding and reinforce recall.</a:t>
            </a:r>
          </a:p>
          <a:p>
            <a:pPr marL="342900" marR="0" lvl="0" indent="-333375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400"/>
              <a:buFont typeface="Inter"/>
              <a:buChar char="•"/>
            </a:pPr>
            <a:r>
              <a:rPr sz="2400" i="0" u="sng" cap="none">
                <a:solidFill>
                  <a:srgbClr val="4A86E8"/>
                </a:solidFill>
                <a:latin typeface="Inter"/>
                <a:ea typeface="Inter"/>
                <a:cs typeface="Inter"/>
              </a:rPr>
              <a:t>Summarizer</a:t>
            </a:r>
            <a:r>
              <a:rPr sz="240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 : </a:t>
            </a:r>
            <a:r>
              <a:rPr sz="2400">
                <a:solidFill>
                  <a:srgbClr val="E5E9F5"/>
                </a:solidFill>
                <a:latin typeface="Inter"/>
                <a:ea typeface="Inter"/>
                <a:cs typeface="Inter"/>
              </a:rPr>
              <a:t>Synthesizes notes and readings into clear, concise summaries.</a:t>
            </a:r>
          </a:p>
          <a:p>
            <a:pPr marL="342900" marR="0" lvl="0" indent="-333375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400"/>
              <a:buFont typeface="Inter"/>
              <a:buChar char="•"/>
            </a:pPr>
            <a:r>
              <a:rPr sz="2400" i="0" u="sng" cap="none">
                <a:solidFill>
                  <a:schemeClr val="accent6"/>
                </a:solidFill>
                <a:latin typeface="Inter"/>
                <a:ea typeface="Inter"/>
                <a:cs typeface="Inter"/>
              </a:rPr>
              <a:t>Facilitator</a:t>
            </a:r>
            <a:r>
              <a:rPr sz="240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 : </a:t>
            </a:r>
            <a:r>
              <a:rPr sz="2400">
                <a:solidFill>
                  <a:srgbClr val="E5E9F5"/>
                </a:solidFill>
                <a:latin typeface="Inter"/>
                <a:ea typeface="Inter"/>
                <a:cs typeface="Inter"/>
              </a:rPr>
              <a:t>Leads Socratic debate, prompting deeper reasoning instead of giving answers.</a:t>
            </a:r>
          </a:p>
        </p:txBody>
      </p:sp>
      <p:pic>
        <p:nvPicPr>
          <p:cNvPr id="111" name="Picture 1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53600" y="2465241"/>
            <a:ext cx="7353300" cy="5023142"/>
          </a:xfrm>
          <a:prstGeom prst="rect">
            <a:avLst/>
          </a:prstGeom>
        </p:spPr>
      </p:pic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7B47C38C-A3F0-4D27-B755-C6CF8FA677F4}"/>
              </a:ext>
            </a:extLst>
          </p:cNvPr>
          <p:cNvSpPr>
            <a:spLocks noGrp="1"/>
          </p:cNvSpPr>
          <p:nvPr/>
        </p:nvSpPr>
        <p:spPr>
          <a:xfrm>
            <a:off x="9620250" y="1762125"/>
            <a:ext cx="7620000" cy="6429375"/>
          </a:xfrm>
          <a:prstGeom prst="roundRect">
            <a:avLst>
              <a:gd name="adj" fmla="val 2370"/>
            </a:avLst>
          </a:prstGeom>
          <a:noFill/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594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>
            <a:extLst>
              <a:ext uri="{FF2B5EF4-FFF2-40B4-BE49-F238E27FC236}">
                <a16:creationId xmlns:a16="http://schemas.microsoft.com/office/drawing/2014/main" id="{C54F092B-8E4B-414C-924F-4141873602D7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</a:t>
            </a: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8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THE AI ENGINE · COMPETITIVE ADVANTAGE</a:t>
            </a:r>
          </a:p>
        </p:txBody>
      </p:sp>
      <p:sp>
        <p:nvSpPr>
          <p:cNvPr id="112" name="Google Shape;112;p11">
            <a:extLst>
              <a:ext uri="{FF2B5EF4-FFF2-40B4-BE49-F238E27FC236}">
                <a16:creationId xmlns:a16="http://schemas.microsoft.com/office/drawing/2014/main" id="{E12309A7-7288-4F05-A6DC-914B637E12C9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8572500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9500"/>
              <a:buFont typeface="Space Grotesk"/>
              <a:buNone/>
            </a:pPr>
            <a:r>
              <a:rPr sz="19500" b="1" i="0" u="none" cap="none">
                <a:solidFill>
                  <a:srgbClr val="2F80ED"/>
                </a:solidFill>
                <a:latin typeface="Space Grotesk"/>
                <a:ea typeface="Space Grotesk"/>
                <a:cs typeface="Space Grotesk"/>
              </a:rPr>
              <a:t>100%</a:t>
            </a:r>
          </a:p>
        </p:txBody>
      </p:sp>
      <p:sp>
        <p:nvSpPr>
          <p:cNvPr id="113" name="Google Shape;113;p11">
            <a:extLst>
              <a:ext uri="{FF2B5EF4-FFF2-40B4-BE49-F238E27FC236}">
                <a16:creationId xmlns:a16="http://schemas.microsoft.com/office/drawing/2014/main" id="{04C62A8A-7FCF-4FAF-AE14-A2A90F8F7C28}"/>
              </a:ext>
            </a:extLst>
          </p:cNvPr>
          <p:cNvSpPr>
            <a:spLocks noGrp="1"/>
          </p:cNvSpPr>
          <p:nvPr/>
        </p:nvSpPr>
        <p:spPr>
          <a:xfrm>
            <a:off x="1428750" y="4857750"/>
            <a:ext cx="8572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000"/>
              <a:buFont typeface="Space Grotesk"/>
              <a:buNone/>
            </a:pPr>
            <a:r>
              <a:rPr sz="6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Localized AI</a:t>
            </a:r>
          </a:p>
        </p:txBody>
      </p:sp>
      <p:sp>
        <p:nvSpPr>
          <p:cNvPr id="114" name="Google Shape;114;p11">
            <a:extLst>
              <a:ext uri="{FF2B5EF4-FFF2-40B4-BE49-F238E27FC236}">
                <a16:creationId xmlns:a16="http://schemas.microsoft.com/office/drawing/2014/main" id="{7BFB4A48-61FA-418B-AF60-067CD828C2A9}"/>
              </a:ext>
            </a:extLst>
          </p:cNvPr>
          <p:cNvSpPr>
            <a:spLocks noGrp="1"/>
          </p:cNvSpPr>
          <p:nvPr/>
        </p:nvSpPr>
        <p:spPr>
          <a:xfrm>
            <a:off x="1428750" y="6286500"/>
            <a:ext cx="7620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700"/>
              <a:buFont typeface="Inter"/>
              <a:buNone/>
            </a:pPr>
            <a:r>
              <a:rPr sz="27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No commercial APIs. SPC runs a localized Llama 3.1 model on a GPU-enabled VM.</a:t>
            </a:r>
          </a:p>
        </p:txBody>
      </p:sp>
      <p:pic>
        <p:nvPicPr>
          <p:cNvPr id="127" name="Google Shape;115;p1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0" y="2857500"/>
            <a:ext cx="6096000" cy="2381250"/>
          </a:xfrm>
          <a:prstGeom prst="rect">
            <a:avLst/>
          </a:prstGeom>
          <a:ln>
            <a:noFill/>
          </a:ln>
        </p:spPr>
      </p:pic>
      <p:sp>
        <p:nvSpPr>
          <p:cNvPr id="116" name="Google Shape;116;p11">
            <a:extLst>
              <a:ext uri="{FF2B5EF4-FFF2-40B4-BE49-F238E27FC236}">
                <a16:creationId xmlns:a16="http://schemas.microsoft.com/office/drawing/2014/main" id="{00F3C9A9-578F-43A8-A228-2687F4D13CFF}"/>
              </a:ext>
            </a:extLst>
          </p:cNvPr>
          <p:cNvSpPr>
            <a:spLocks noGrp="1"/>
          </p:cNvSpPr>
          <p:nvPr/>
        </p:nvSpPr>
        <p:spPr>
          <a:xfrm>
            <a:off x="11239500" y="3286125"/>
            <a:ext cx="5334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ZERO RECURRING API COSTS</a:t>
            </a:r>
          </a:p>
        </p:txBody>
      </p:sp>
      <p:sp>
        <p:nvSpPr>
          <p:cNvPr id="117" name="Google Shape;117;p11">
            <a:extLst>
              <a:ext uri="{FF2B5EF4-FFF2-40B4-BE49-F238E27FC236}">
                <a16:creationId xmlns:a16="http://schemas.microsoft.com/office/drawing/2014/main" id="{33E6C2D4-0EA2-4AE4-8F40-9CA8B28BB754}"/>
              </a:ext>
            </a:extLst>
          </p:cNvPr>
          <p:cNvSpPr>
            <a:spLocks noGrp="1"/>
          </p:cNvSpPr>
          <p:nvPr/>
        </p:nvSpPr>
        <p:spPr>
          <a:xfrm>
            <a:off x="11239500" y="3857625"/>
            <a:ext cx="53340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FE4F1"/>
              </a:buClr>
              <a:buSzPts val="2400"/>
              <a:buFont typeface="Inter"/>
              <a:buNone/>
            </a:pPr>
            <a:r>
              <a:rPr sz="2400" b="0" i="0" u="none" cap="none">
                <a:solidFill>
                  <a:srgbClr val="DFE4F1"/>
                </a:solidFill>
                <a:latin typeface="Inter"/>
                <a:ea typeface="Inter"/>
                <a:cs typeface="Inter"/>
              </a:rPr>
              <a:t>Predictable, sustainable infrastructure at scale.</a:t>
            </a:r>
          </a:p>
        </p:txBody>
      </p:sp>
      <p:pic>
        <p:nvPicPr>
          <p:cNvPr id="130" name="Google Shape;118;p1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500" y="5619750"/>
            <a:ext cx="6096000" cy="2381250"/>
          </a:xfrm>
          <a:prstGeom prst="rect">
            <a:avLst/>
          </a:prstGeom>
          <a:ln>
            <a:noFill/>
          </a:ln>
        </p:spPr>
      </p:pic>
      <p:sp>
        <p:nvSpPr>
          <p:cNvPr id="119" name="Google Shape;119;p11">
            <a:extLst>
              <a:ext uri="{FF2B5EF4-FFF2-40B4-BE49-F238E27FC236}">
                <a16:creationId xmlns:a16="http://schemas.microsoft.com/office/drawing/2014/main" id="{79550C05-8413-4FC0-B307-2C40C0132C9F}"/>
              </a:ext>
            </a:extLst>
          </p:cNvPr>
          <p:cNvSpPr>
            <a:spLocks noGrp="1"/>
          </p:cNvSpPr>
          <p:nvPr/>
        </p:nvSpPr>
        <p:spPr>
          <a:xfrm>
            <a:off x="11239500" y="6048375"/>
            <a:ext cx="5334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TOTAL DATA SOVEREIGNTY</a:t>
            </a:r>
          </a:p>
        </p:txBody>
      </p:sp>
      <p:sp>
        <p:nvSpPr>
          <p:cNvPr id="120" name="Google Shape;120;p11">
            <a:extLst>
              <a:ext uri="{FF2B5EF4-FFF2-40B4-BE49-F238E27FC236}">
                <a16:creationId xmlns:a16="http://schemas.microsoft.com/office/drawing/2014/main" id="{A4FB46B3-49CB-431C-AB5D-C6AE13500B69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53340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0F2FB"/>
              </a:buClr>
              <a:buSzPts val="2400"/>
              <a:buFont typeface="Inter"/>
              <a:buNone/>
            </a:pPr>
            <a:r>
              <a:rPr sz="2400" b="0" i="0" u="none" cap="none">
                <a:solidFill>
                  <a:srgbClr val="F0F2FB"/>
                </a:solidFill>
                <a:latin typeface="Inter"/>
                <a:ea typeface="Inter"/>
                <a:cs typeface="Inter"/>
              </a:rPr>
              <a:t>Student data never leaves our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10363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>
            <a:extLst>
              <a:ext uri="{FF2B5EF4-FFF2-40B4-BE49-F238E27FC236}">
                <a16:creationId xmlns:a16="http://schemas.microsoft.com/office/drawing/2014/main" id="{86B0C0AC-C04B-40D5-A8A8-BE6A13A5E3C1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0</a:t>
            </a: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9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THE RAG PIPELINE</a:t>
            </a:r>
          </a:p>
        </p:txBody>
      </p:sp>
      <p:sp>
        <p:nvSpPr>
          <p:cNvPr id="127" name="Google Shape;127;p12">
            <a:extLst>
              <a:ext uri="{FF2B5EF4-FFF2-40B4-BE49-F238E27FC236}">
                <a16:creationId xmlns:a16="http://schemas.microsoft.com/office/drawing/2014/main" id="{01F3C4A1-512A-44FD-8E06-B9F3CB15CF5D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11430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750"/>
              <a:buFont typeface="Space Grotesk"/>
              <a:buNone/>
            </a:pPr>
            <a:r>
              <a:rPr sz="675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Hallucination-Free AI</a:t>
            </a:r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4FBB4893-076E-4803-9F45-5E3E0F647347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14287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550"/>
              <a:buFont typeface="Inter"/>
              <a:buNone/>
            </a:pPr>
            <a:r>
              <a:rPr sz="25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Retrieval-Augmented Generation reads only authorized, uploaded course materials.</a:t>
            </a:r>
          </a:p>
        </p:txBody>
      </p:sp>
      <p:pic>
        <p:nvPicPr>
          <p:cNvPr id="148" name="Google Shape;129;p1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953000"/>
            <a:ext cx="3429000" cy="3355825"/>
          </a:xfrm>
          <a:prstGeom prst="rect">
            <a:avLst/>
          </a:prstGeom>
          <a:ln>
            <a:noFill/>
          </a:ln>
        </p:spPr>
      </p:pic>
      <p:sp>
        <p:nvSpPr>
          <p:cNvPr id="130" name="Google Shape;130;p12">
            <a:extLst>
              <a:ext uri="{FF2B5EF4-FFF2-40B4-BE49-F238E27FC236}">
                <a16:creationId xmlns:a16="http://schemas.microsoft.com/office/drawing/2014/main" id="{363E1488-5DE0-4094-BC99-13D1F9E31C8B}"/>
              </a:ext>
            </a:extLst>
          </p:cNvPr>
          <p:cNvSpPr>
            <a:spLocks noGrp="1"/>
          </p:cNvSpPr>
          <p:nvPr/>
        </p:nvSpPr>
        <p:spPr>
          <a:xfrm>
            <a:off x="1714500" y="5563150"/>
            <a:ext cx="26670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2F80ED"/>
                </a:solidFill>
                <a:latin typeface="Inter"/>
                <a:ea typeface="Inter"/>
                <a:cs typeface="Inter"/>
              </a:rPr>
              <a:t>01 UPLOAD</a:t>
            </a:r>
          </a:p>
        </p:txBody>
      </p:sp>
      <p:sp>
        <p:nvSpPr>
          <p:cNvPr id="131" name="Google Shape;131;p12">
            <a:extLst>
              <a:ext uri="{FF2B5EF4-FFF2-40B4-BE49-F238E27FC236}">
                <a16:creationId xmlns:a16="http://schemas.microsoft.com/office/drawing/2014/main" id="{8FE7CFED-0871-4C64-A6C6-F5904AD2509E}"/>
              </a:ext>
            </a:extLst>
          </p:cNvPr>
          <p:cNvSpPr>
            <a:spLocks noGrp="1"/>
          </p:cNvSpPr>
          <p:nvPr/>
        </p:nvSpPr>
        <p:spPr>
          <a:xfrm>
            <a:off x="1714500" y="6402106"/>
            <a:ext cx="27624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FE4F1"/>
              </a:buClr>
              <a:buSzPts val="2100"/>
              <a:buFont typeface="Inter"/>
              <a:buNone/>
            </a:pPr>
            <a:r>
              <a:rPr sz="2100" b="0" i="0" u="none" cap="none">
                <a:solidFill>
                  <a:srgbClr val="DFE4F1"/>
                </a:solidFill>
                <a:latin typeface="Inter"/>
                <a:ea typeface="Inter"/>
                <a:cs typeface="Inter"/>
              </a:rPr>
              <a:t>Course materials ingested securely.</a:t>
            </a:r>
          </a:p>
        </p:txBody>
      </p:sp>
      <p:pic>
        <p:nvPicPr>
          <p:cNvPr id="151" name="Google Shape;132;p1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0" y="4953000"/>
            <a:ext cx="3429000" cy="3355825"/>
          </a:xfrm>
          <a:prstGeom prst="rect">
            <a:avLst/>
          </a:prstGeom>
          <a:ln>
            <a:noFill/>
          </a:ln>
        </p:spPr>
      </p:pic>
      <p:sp>
        <p:nvSpPr>
          <p:cNvPr id="133" name="Google Shape;133;p12">
            <a:extLst>
              <a:ext uri="{FF2B5EF4-FFF2-40B4-BE49-F238E27FC236}">
                <a16:creationId xmlns:a16="http://schemas.microsoft.com/office/drawing/2014/main" id="{99114088-64BE-4755-A079-2A81D85510D3}"/>
              </a:ext>
            </a:extLst>
          </p:cNvPr>
          <p:cNvSpPr>
            <a:spLocks noGrp="1"/>
          </p:cNvSpPr>
          <p:nvPr/>
        </p:nvSpPr>
        <p:spPr>
          <a:xfrm>
            <a:off x="5715000" y="5563150"/>
            <a:ext cx="28575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02 EMBED</a:t>
            </a:r>
          </a:p>
        </p:txBody>
      </p:sp>
      <p:sp>
        <p:nvSpPr>
          <p:cNvPr id="134" name="Google Shape;134;p12">
            <a:extLst>
              <a:ext uri="{FF2B5EF4-FFF2-40B4-BE49-F238E27FC236}">
                <a16:creationId xmlns:a16="http://schemas.microsoft.com/office/drawing/2014/main" id="{B92FE065-3322-47C2-9219-1A6FD5F3C1E3}"/>
              </a:ext>
            </a:extLst>
          </p:cNvPr>
          <p:cNvSpPr>
            <a:spLocks noGrp="1"/>
          </p:cNvSpPr>
          <p:nvPr/>
        </p:nvSpPr>
        <p:spPr>
          <a:xfrm>
            <a:off x="5715000" y="6402106"/>
            <a:ext cx="28575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FE4F1"/>
              </a:buClr>
              <a:buSzPts val="2100"/>
              <a:buFont typeface="Inter"/>
              <a:buNone/>
            </a:pPr>
            <a:r>
              <a:rPr sz="2100" b="0" i="0" u="none" cap="none" dirty="0">
                <a:solidFill>
                  <a:srgbClr val="DFE4F1"/>
                </a:solidFill>
                <a:latin typeface="Inter"/>
                <a:ea typeface="Inter"/>
                <a:cs typeface="Inter"/>
              </a:rPr>
              <a:t>Nomic Embeddings + pgvector index.</a:t>
            </a:r>
          </a:p>
        </p:txBody>
      </p:sp>
      <p:pic>
        <p:nvPicPr>
          <p:cNvPr id="154" name="Google Shape;135;p1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00" y="4953000"/>
            <a:ext cx="3429000" cy="3355825"/>
          </a:xfrm>
          <a:prstGeom prst="rect">
            <a:avLst/>
          </a:prstGeom>
          <a:ln>
            <a:noFill/>
          </a:ln>
        </p:spPr>
      </p:pic>
      <p:sp>
        <p:nvSpPr>
          <p:cNvPr id="136" name="Google Shape;136;p12">
            <a:extLst>
              <a:ext uri="{FF2B5EF4-FFF2-40B4-BE49-F238E27FC236}">
                <a16:creationId xmlns:a16="http://schemas.microsoft.com/office/drawing/2014/main" id="{35EAACB3-87ED-4A78-B1E1-E82E0641E2B1}"/>
              </a:ext>
            </a:extLst>
          </p:cNvPr>
          <p:cNvSpPr>
            <a:spLocks noGrp="1"/>
          </p:cNvSpPr>
          <p:nvPr/>
        </p:nvSpPr>
        <p:spPr>
          <a:xfrm>
            <a:off x="9715500" y="5563150"/>
            <a:ext cx="28575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2F80ED"/>
                </a:solidFill>
                <a:latin typeface="Inter"/>
                <a:ea typeface="Inter"/>
                <a:cs typeface="Inter"/>
              </a:rPr>
              <a:t>03 RETRIEVE</a:t>
            </a:r>
          </a:p>
        </p:txBody>
      </p:sp>
      <p:sp>
        <p:nvSpPr>
          <p:cNvPr id="137" name="Google Shape;137;p12">
            <a:extLst>
              <a:ext uri="{FF2B5EF4-FFF2-40B4-BE49-F238E27FC236}">
                <a16:creationId xmlns:a16="http://schemas.microsoft.com/office/drawing/2014/main" id="{A48B6D17-DED0-4CC5-959C-2AB4A24643FF}"/>
              </a:ext>
            </a:extLst>
          </p:cNvPr>
          <p:cNvSpPr>
            <a:spLocks noGrp="1"/>
          </p:cNvSpPr>
          <p:nvPr/>
        </p:nvSpPr>
        <p:spPr>
          <a:xfrm>
            <a:off x="9715500" y="6402106"/>
            <a:ext cx="28575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FE4F1"/>
              </a:buClr>
              <a:buSzPts val="2100"/>
              <a:buFont typeface="Inter"/>
              <a:buNone/>
            </a:pPr>
            <a:r>
              <a:rPr sz="2100" b="0" i="0" u="none" cap="none">
                <a:solidFill>
                  <a:srgbClr val="DFE4F1"/>
                </a:solidFill>
                <a:latin typeface="Inter"/>
                <a:ea typeface="Inter"/>
                <a:cs typeface="Inter"/>
              </a:rPr>
              <a:t>Relevant context pulled per query.</a:t>
            </a:r>
          </a:p>
        </p:txBody>
      </p:sp>
      <p:pic>
        <p:nvPicPr>
          <p:cNvPr id="157" name="Google Shape;138;p1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0" y="4953000"/>
            <a:ext cx="3619500" cy="3355825"/>
          </a:xfrm>
          <a:prstGeom prst="rect">
            <a:avLst/>
          </a:prstGeom>
          <a:ln>
            <a:noFill/>
          </a:ln>
        </p:spPr>
      </p:pic>
      <p:sp>
        <p:nvSpPr>
          <p:cNvPr id="139" name="Google Shape;139;p12">
            <a:extLst>
              <a:ext uri="{FF2B5EF4-FFF2-40B4-BE49-F238E27FC236}">
                <a16:creationId xmlns:a16="http://schemas.microsoft.com/office/drawing/2014/main" id="{3B0E16E4-CB1D-4624-9A92-1DC5572DAA2B}"/>
              </a:ext>
            </a:extLst>
          </p:cNvPr>
          <p:cNvSpPr>
            <a:spLocks noGrp="1"/>
          </p:cNvSpPr>
          <p:nvPr/>
        </p:nvSpPr>
        <p:spPr>
          <a:xfrm>
            <a:off x="13716000" y="5563150"/>
            <a:ext cx="30480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sz="1950" b="1" i="0" u="non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04 GENERATE</a:t>
            </a:r>
          </a:p>
        </p:txBody>
      </p:sp>
      <p:sp>
        <p:nvSpPr>
          <p:cNvPr id="140" name="Google Shape;140;p12">
            <a:extLst>
              <a:ext uri="{FF2B5EF4-FFF2-40B4-BE49-F238E27FC236}">
                <a16:creationId xmlns:a16="http://schemas.microsoft.com/office/drawing/2014/main" id="{74B568EB-433A-4040-9AF9-CD04A516F595}"/>
              </a:ext>
            </a:extLst>
          </p:cNvPr>
          <p:cNvSpPr>
            <a:spLocks noGrp="1"/>
          </p:cNvSpPr>
          <p:nvPr/>
        </p:nvSpPr>
        <p:spPr>
          <a:xfrm>
            <a:off x="13716000" y="6402106"/>
            <a:ext cx="30480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0F2FB"/>
              </a:buClr>
              <a:buSzPts val="2100"/>
              <a:buFont typeface="Inter"/>
              <a:buNone/>
            </a:pPr>
            <a:r>
              <a:rPr sz="2100" b="0" i="0" u="none" cap="none">
                <a:solidFill>
                  <a:srgbClr val="F0F2FB"/>
                </a:solidFill>
                <a:latin typeface="Inter"/>
                <a:ea typeface="Inter"/>
                <a:cs typeface="Inter"/>
              </a:rPr>
              <a:t>Accurate, source-grounded answers.</a:t>
            </a:r>
          </a:p>
        </p:txBody>
      </p:sp>
    </p:spTree>
    <p:extLst>
      <p:ext uri="{BB962C8B-B14F-4D97-AF65-F5344CB8AC3E}">
        <p14:creationId xmlns:p14="http://schemas.microsoft.com/office/powerpoint/2010/main" val="91018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>
            <a:extLst>
              <a:ext uri="{FF2B5EF4-FFF2-40B4-BE49-F238E27FC236}">
                <a16:creationId xmlns:a16="http://schemas.microsoft.com/office/drawing/2014/main" id="{B27CD26D-4542-4664-AB6A-DEB508792F85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10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THE AI LOGIC ENGINE</a:t>
            </a:r>
          </a:p>
        </p:txBody>
      </p:sp>
      <p:sp>
        <p:nvSpPr>
          <p:cNvPr id="147" name="Google Shape;147;p13">
            <a:extLst>
              <a:ext uri="{FF2B5EF4-FFF2-40B4-BE49-F238E27FC236}">
                <a16:creationId xmlns:a16="http://schemas.microsoft.com/office/drawing/2014/main" id="{99892CE6-BC11-4555-AF5D-000775EB9289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5700"/>
              <a:buFont typeface="Space Grotesk"/>
              <a:buNone/>
            </a:pPr>
            <a:r>
              <a:rPr sz="57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Event-Driven Processing</a:t>
            </a:r>
          </a:p>
        </p:txBody>
      </p:sp>
      <p:sp>
        <p:nvSpPr>
          <p:cNvPr id="148" name="Google Shape;148;p13">
            <a:extLst>
              <a:ext uri="{FF2B5EF4-FFF2-40B4-BE49-F238E27FC236}">
                <a16:creationId xmlns:a16="http://schemas.microsoft.com/office/drawing/2014/main" id="{ACFFE873-E405-4756-A082-B3E4866964EE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Server-side WebSocket listeners isolate standard messages from AI queries, ensuring secure and efficient inference routing.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3E7B04D0-431C-46AC-820A-7599923684C6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solidFill>
            <a:srgbClr val="10152E"/>
          </a:solidFill>
          <a:ln w="19050">
            <a:solidFill>
              <a:srgbClr val="343C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F936D68-719F-43EB-9EE8-991C3FD4A86A}"/>
              </a:ext>
            </a:extLst>
          </p:cNvPr>
          <p:cNvSpPr>
            <a:spLocks noGrp="1"/>
          </p:cNvSpPr>
          <p:nvPr/>
        </p:nvSpPr>
        <p:spPr>
          <a:xfrm>
            <a:off x="9763125" y="23336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MESSAGE ROUTING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C12B4AE0-6368-4DEE-8ABF-B6B96C31D3CB}"/>
              </a:ext>
            </a:extLst>
          </p:cNvPr>
          <p:cNvSpPr>
            <a:spLocks noGrp="1"/>
          </p:cNvSpPr>
          <p:nvPr/>
        </p:nvSpPr>
        <p:spPr>
          <a:xfrm>
            <a:off x="9763125" y="2952750"/>
            <a:ext cx="2381250" cy="1143000"/>
          </a:xfrm>
          <a:prstGeom prst="roundRect">
            <a:avLst>
              <a:gd name="adj" fmla="val 10000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8AFF787-D884-4A91-A53F-9E42CF8170B2}"/>
              </a:ext>
            </a:extLst>
          </p:cNvPr>
          <p:cNvSpPr>
            <a:spLocks noGrp="1"/>
          </p:cNvSpPr>
          <p:nvPr/>
        </p:nvSpPr>
        <p:spPr>
          <a:xfrm>
            <a:off x="9934575" y="3124200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1DC3713-A599-4991-BB03-4513A4F59358}"/>
              </a:ext>
            </a:extLst>
          </p:cNvPr>
          <p:cNvSpPr>
            <a:spLocks noGrp="1"/>
          </p:cNvSpPr>
          <p:nvPr/>
        </p:nvSpPr>
        <p:spPr>
          <a:xfrm>
            <a:off x="9934575" y="331470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154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Incoming message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7F451E-0415-46FC-94DA-6B345F2371D6}"/>
              </a:ext>
            </a:extLst>
          </p:cNvPr>
          <p:cNvSpPr>
            <a:spLocks noGrp="1"/>
          </p:cNvSpPr>
          <p:nvPr/>
        </p:nvSpPr>
        <p:spPr>
          <a:xfrm>
            <a:off x="9934575" y="377190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WebSocket event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7C3E918A-F443-4270-8BC6-1CBCB584C8C8}"/>
              </a:ext>
            </a:extLst>
          </p:cNvPr>
          <p:cNvSpPr>
            <a:spLocks noGrp="1"/>
          </p:cNvSpPr>
          <p:nvPr/>
        </p:nvSpPr>
        <p:spPr>
          <a:xfrm>
            <a:off x="13239750" y="295275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930231-587E-4AE3-8F1F-7D7DE9E387BF}"/>
              </a:ext>
            </a:extLst>
          </p:cNvPr>
          <p:cNvSpPr>
            <a:spLocks noGrp="1"/>
          </p:cNvSpPr>
          <p:nvPr/>
        </p:nvSpPr>
        <p:spPr>
          <a:xfrm>
            <a:off x="13411200" y="3124200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35EF03B-8ED9-48C2-BCD8-87BA654CE561}"/>
              </a:ext>
            </a:extLst>
          </p:cNvPr>
          <p:cNvSpPr>
            <a:spLocks noGrp="1"/>
          </p:cNvSpPr>
          <p:nvPr/>
        </p:nvSpPr>
        <p:spPr>
          <a:xfrm>
            <a:off x="13411200" y="3314700"/>
            <a:ext cx="2514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Event router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6EF88EA-BDD0-44FA-8E0A-C708502F0728}"/>
              </a:ext>
            </a:extLst>
          </p:cNvPr>
          <p:cNvSpPr>
            <a:spLocks noGrp="1"/>
          </p:cNvSpPr>
          <p:nvPr/>
        </p:nvSpPr>
        <p:spPr>
          <a:xfrm>
            <a:off x="13411200" y="377190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standard or @Companion?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E877E39A-261E-4A2B-9BDE-06D3F3BF7FE7}"/>
              </a:ext>
            </a:extLst>
          </p:cNvPr>
          <p:cNvSpPr>
            <a:spLocks noGrp="1"/>
          </p:cNvSpPr>
          <p:nvPr/>
        </p:nvSpPr>
        <p:spPr>
          <a:xfrm>
            <a:off x="9810750" y="5095875"/>
            <a:ext cx="2714625" cy="1333500"/>
          </a:xfrm>
          <a:prstGeom prst="roundRect">
            <a:avLst>
              <a:gd name="adj" fmla="val 8571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70220F4-8A8F-41AD-B3D8-3773AD5BCE42}"/>
              </a:ext>
            </a:extLst>
          </p:cNvPr>
          <p:cNvSpPr>
            <a:spLocks noGrp="1"/>
          </p:cNvSpPr>
          <p:nvPr/>
        </p:nvSpPr>
        <p:spPr>
          <a:xfrm>
            <a:off x="9982200" y="5267325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F2BBB5F-1447-4904-A4DD-B8F879D49F3D}"/>
              </a:ext>
            </a:extLst>
          </p:cNvPr>
          <p:cNvSpPr>
            <a:spLocks noGrp="1"/>
          </p:cNvSpPr>
          <p:nvPr/>
        </p:nvSpPr>
        <p:spPr>
          <a:xfrm>
            <a:off x="9982200" y="5457825"/>
            <a:ext cx="2371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20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Persist + broadcast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3BB0DDC-48D2-456F-A55A-E04F175C1A00}"/>
              </a:ext>
            </a:extLst>
          </p:cNvPr>
          <p:cNvSpPr>
            <a:spLocks noGrp="1"/>
          </p:cNvSpPr>
          <p:nvPr/>
        </p:nvSpPr>
        <p:spPr>
          <a:xfrm>
            <a:off x="9982200" y="5915025"/>
            <a:ext cx="23717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fast path for peer chat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889E434A-6E4F-4EAF-BB8E-18755561D51C}"/>
              </a:ext>
            </a:extLst>
          </p:cNvPr>
          <p:cNvSpPr>
            <a:spLocks noGrp="1"/>
          </p:cNvSpPr>
          <p:nvPr/>
        </p:nvSpPr>
        <p:spPr>
          <a:xfrm>
            <a:off x="13430250" y="5095875"/>
            <a:ext cx="2714625" cy="1333500"/>
          </a:xfrm>
          <a:prstGeom prst="roundRect">
            <a:avLst>
              <a:gd name="adj" fmla="val 8571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193F960-42A1-491E-AECA-93AA3EBB7AD3}"/>
              </a:ext>
            </a:extLst>
          </p:cNvPr>
          <p:cNvSpPr>
            <a:spLocks noGrp="1"/>
          </p:cNvSpPr>
          <p:nvPr/>
        </p:nvSpPr>
        <p:spPr>
          <a:xfrm>
            <a:off x="13601700" y="5267325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DF769FC-1683-4AD1-A58E-B4A214454341}"/>
              </a:ext>
            </a:extLst>
          </p:cNvPr>
          <p:cNvSpPr>
            <a:spLocks noGrp="1"/>
          </p:cNvSpPr>
          <p:nvPr/>
        </p:nvSpPr>
        <p:spPr>
          <a:xfrm>
            <a:off x="13601700" y="5457825"/>
            <a:ext cx="2371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AI orchestrator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73D03-31E1-4226-A7DA-2F7E0E04D45B}"/>
              </a:ext>
            </a:extLst>
          </p:cNvPr>
          <p:cNvSpPr>
            <a:spLocks noGrp="1"/>
          </p:cNvSpPr>
          <p:nvPr/>
        </p:nvSpPr>
        <p:spPr>
          <a:xfrm>
            <a:off x="13601700" y="5915025"/>
            <a:ext cx="23717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authorized context only</a:t>
            </a:r>
          </a:p>
        </p:txBody>
      </p:sp>
      <p:cxnSp>
        <p:nvCxnSpPr>
          <p:cNvPr id="288" name="Straight Arrow Connector 239"/>
          <p:cNvCxnSpPr>
            <a:stCxn id="151" idx="3"/>
            <a:endCxn id="155" idx="1"/>
          </p:cNvCxnSpPr>
          <p:nvPr/>
        </p:nvCxnSpPr>
        <p:spPr>
          <a:xfrm>
            <a:off x="12144375" y="3524250"/>
            <a:ext cx="1095375" cy="0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289" name="Straight Arrow Connector 240"/>
          <p:cNvCxnSpPr>
            <a:stCxn id="155" idx="2"/>
            <a:endCxn id="159" idx="0"/>
          </p:cNvCxnSpPr>
          <p:nvPr/>
        </p:nvCxnSpPr>
        <p:spPr>
          <a:xfrm flipH="1">
            <a:off x="11168063" y="4095750"/>
            <a:ext cx="3500438" cy="1000125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cxnSp>
        <p:nvCxnSpPr>
          <p:cNvPr id="290" name="Straight Arrow Connector 241"/>
          <p:cNvCxnSpPr>
            <a:stCxn id="155" idx="2"/>
            <a:endCxn id="163" idx="0"/>
          </p:cNvCxnSpPr>
          <p:nvPr/>
        </p:nvCxnSpPr>
        <p:spPr>
          <a:xfrm>
            <a:off x="14668500" y="4095750"/>
            <a:ext cx="119063" cy="1000125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DA1858D-E4D5-49AE-9406-ADE0AAF569D0}"/>
              </a:ext>
            </a:extLst>
          </p:cNvPr>
          <p:cNvSpPr>
            <a:spLocks noGrp="1"/>
          </p:cNvSpPr>
          <p:nvPr/>
        </p:nvSpPr>
        <p:spPr>
          <a:xfrm>
            <a:off x="9810750" y="7000875"/>
            <a:ext cx="633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C9D0E8"/>
                </a:solidFill>
                <a:latin typeface="Inter"/>
                <a:ea typeface="Inter"/>
                <a:cs typeface="Inter"/>
              </a:rPr>
              <a:t>Human conversation stays instant. AI processing is invoked only when requested.</a:t>
            </a:r>
          </a:p>
        </p:txBody>
      </p:sp>
    </p:spTree>
    <p:extLst>
      <p:ext uri="{BB962C8B-B14F-4D97-AF65-F5344CB8AC3E}">
        <p14:creationId xmlns:p14="http://schemas.microsoft.com/office/powerpoint/2010/main" val="864835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>
            <a:extLst>
              <a:ext uri="{FF2B5EF4-FFF2-40B4-BE49-F238E27FC236}">
                <a16:creationId xmlns:a16="http://schemas.microsoft.com/office/drawing/2014/main" id="{48A5EE35-E2E9-4203-BB22-B2F865D5A6FB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11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RAG CLASS ARCHITECTURE</a:t>
            </a:r>
          </a:p>
        </p:txBody>
      </p:sp>
      <p:sp>
        <p:nvSpPr>
          <p:cNvPr id="157" name="Google Shape;157;p14">
            <a:extLst>
              <a:ext uri="{FF2B5EF4-FFF2-40B4-BE49-F238E27FC236}">
                <a16:creationId xmlns:a16="http://schemas.microsoft.com/office/drawing/2014/main" id="{4B4809C1-20E8-42E9-BE3B-FD7EAD5EEFB7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000"/>
              <a:buFont typeface="Space Grotesk"/>
              <a:buNone/>
            </a:pPr>
            <a:r>
              <a:rPr sz="6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Object-Oriented AI</a:t>
            </a:r>
          </a:p>
        </p:txBody>
      </p:sp>
      <p:sp>
        <p:nvSpPr>
          <p:cNvPr id="158" name="Google Shape;158;p14">
            <a:extLst>
              <a:ext uri="{FF2B5EF4-FFF2-40B4-BE49-F238E27FC236}">
                <a16:creationId xmlns:a16="http://schemas.microsoft.com/office/drawing/2014/main" id="{0A32D1EC-46AA-471E-A9DB-0A7709EE0DA2}"/>
              </a:ext>
            </a:extLst>
          </p:cNvPr>
          <p:cNvSpPr>
            <a:spLocks noGrp="1"/>
          </p:cNvSpPr>
          <p:nvPr/>
        </p:nvSpPr>
        <p:spPr>
          <a:xfrm>
            <a:off x="1333500" y="41290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Modular, scalable backend design separating document parsing, text chunking, vector storage, and LLM inference.</a:t>
            </a:r>
          </a:p>
        </p:txBody>
      </p:sp>
      <p:sp>
        <p:nvSpPr>
          <p:cNvPr id="159" name="Google Shape;159;p14">
            <a:extLst>
              <a:ext uri="{FF2B5EF4-FFF2-40B4-BE49-F238E27FC236}">
                <a16:creationId xmlns:a16="http://schemas.microsoft.com/office/drawing/2014/main" id="{0285800E-DEB8-4420-8D9E-585780BECED6}"/>
              </a:ext>
            </a:extLst>
          </p:cNvPr>
          <p:cNvSpPr>
            <a:spLocks noGrp="1"/>
          </p:cNvSpPr>
          <p:nvPr/>
        </p:nvSpPr>
        <p:spPr>
          <a:xfrm>
            <a:off x="1333500" y="6920200"/>
            <a:ext cx="70485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Document parsing</a:t>
            </a:r>
          </a:p>
          <a:p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Text chunking</a:t>
            </a:r>
          </a:p>
          <a:p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Vector storage</a:t>
            </a:r>
          </a:p>
          <a:p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50"/>
              <a:buFont typeface="Inter"/>
              <a:buChar char="•"/>
            </a:pPr>
            <a:r>
              <a:rPr sz="2250" b="0" i="0" u="none" cap="none">
                <a:solidFill>
                  <a:srgbClr val="8B5CF6"/>
                </a:solidFill>
                <a:latin typeface="Inter"/>
                <a:ea typeface="Inter"/>
                <a:cs typeface="Inter"/>
              </a:rPr>
              <a:t>LLM inference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9073D647-73FE-419D-A6B1-B8109D7F4350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solidFill>
            <a:srgbClr val="10152E"/>
          </a:solidFill>
          <a:ln w="19050">
            <a:solidFill>
              <a:srgbClr val="343C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9F6678F-1AD7-4380-8A6D-D0373C1E79DF}"/>
              </a:ext>
            </a:extLst>
          </p:cNvPr>
          <p:cNvSpPr>
            <a:spLocks noGrp="1"/>
          </p:cNvSpPr>
          <p:nvPr/>
        </p:nvSpPr>
        <p:spPr>
          <a:xfrm>
            <a:off x="9763125" y="23336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3DD6C6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3DD6C6"/>
                </a:solidFill>
                <a:latin typeface="Inter"/>
                <a:ea typeface="Inter"/>
                <a:cs typeface="Inter"/>
              </a:rPr>
              <a:t>INGESTION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4DC4737B-3D4F-4828-B361-921812D6C6D7}"/>
              </a:ext>
            </a:extLst>
          </p:cNvPr>
          <p:cNvSpPr>
            <a:spLocks noGrp="1"/>
          </p:cNvSpPr>
          <p:nvPr/>
        </p:nvSpPr>
        <p:spPr>
          <a:xfrm>
            <a:off x="9763125" y="2857500"/>
            <a:ext cx="16192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35ADBD6-642F-49D1-905E-CEA763E909D1}"/>
              </a:ext>
            </a:extLst>
          </p:cNvPr>
          <p:cNvSpPr>
            <a:spLocks noGrp="1"/>
          </p:cNvSpPr>
          <p:nvPr/>
        </p:nvSpPr>
        <p:spPr>
          <a:xfrm>
            <a:off x="9934575" y="3028950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340B6C7-80AC-46F4-AD41-B10AB716BB40}"/>
              </a:ext>
            </a:extLst>
          </p:cNvPr>
          <p:cNvSpPr>
            <a:spLocks noGrp="1"/>
          </p:cNvSpPr>
          <p:nvPr/>
        </p:nvSpPr>
        <p:spPr>
          <a:xfrm>
            <a:off x="9934575" y="3219450"/>
            <a:ext cx="1276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Loader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9598EA1-674F-460F-B23C-C9C993010F61}"/>
              </a:ext>
            </a:extLst>
          </p:cNvPr>
          <p:cNvSpPr>
            <a:spLocks noGrp="1"/>
          </p:cNvSpPr>
          <p:nvPr/>
        </p:nvSpPr>
        <p:spPr>
          <a:xfrm>
            <a:off x="9934575" y="3676650"/>
            <a:ext cx="1276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PDF / notes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85783D33-55E8-4798-B672-41F5DF9162C9}"/>
              </a:ext>
            </a:extLst>
          </p:cNvPr>
          <p:cNvSpPr>
            <a:spLocks noGrp="1"/>
          </p:cNvSpPr>
          <p:nvPr/>
        </p:nvSpPr>
        <p:spPr>
          <a:xfrm>
            <a:off x="11727656" y="2857500"/>
            <a:ext cx="16192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C52782B-194B-4497-AF1E-0F730FA7511F}"/>
              </a:ext>
            </a:extLst>
          </p:cNvPr>
          <p:cNvSpPr>
            <a:spLocks noGrp="1"/>
          </p:cNvSpPr>
          <p:nvPr/>
        </p:nvSpPr>
        <p:spPr>
          <a:xfrm>
            <a:off x="11899106" y="3028950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7A92805-10C1-4653-A68B-55142D53CF8A}"/>
              </a:ext>
            </a:extLst>
          </p:cNvPr>
          <p:cNvSpPr>
            <a:spLocks noGrp="1"/>
          </p:cNvSpPr>
          <p:nvPr/>
        </p:nvSpPr>
        <p:spPr>
          <a:xfrm>
            <a:off x="11899106" y="3219450"/>
            <a:ext cx="1276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Parser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0127F0C-6127-439F-8676-9C74F4D0A60F}"/>
              </a:ext>
            </a:extLst>
          </p:cNvPr>
          <p:cNvSpPr>
            <a:spLocks noGrp="1"/>
          </p:cNvSpPr>
          <p:nvPr/>
        </p:nvSpPr>
        <p:spPr>
          <a:xfrm>
            <a:off x="11899106" y="3676650"/>
            <a:ext cx="1276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clean text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86D3C963-E823-4809-91A1-F118DE3F2FC7}"/>
              </a:ext>
            </a:extLst>
          </p:cNvPr>
          <p:cNvSpPr>
            <a:spLocks noGrp="1"/>
          </p:cNvSpPr>
          <p:nvPr/>
        </p:nvSpPr>
        <p:spPr>
          <a:xfrm>
            <a:off x="13620750" y="2857500"/>
            <a:ext cx="16192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6586DE6-BC13-4D3F-B9A1-0AD279E15044}"/>
              </a:ext>
            </a:extLst>
          </p:cNvPr>
          <p:cNvSpPr>
            <a:spLocks noGrp="1"/>
          </p:cNvSpPr>
          <p:nvPr/>
        </p:nvSpPr>
        <p:spPr>
          <a:xfrm>
            <a:off x="13792200" y="3028950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F1BE038-6AA1-4F33-982F-746F2FA9381D}"/>
              </a:ext>
            </a:extLst>
          </p:cNvPr>
          <p:cNvSpPr>
            <a:spLocks noGrp="1"/>
          </p:cNvSpPr>
          <p:nvPr/>
        </p:nvSpPr>
        <p:spPr>
          <a:xfrm>
            <a:off x="13792200" y="3219450"/>
            <a:ext cx="1276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Chunker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4B05B70-C5B5-407C-8057-30218013D957}"/>
              </a:ext>
            </a:extLst>
          </p:cNvPr>
          <p:cNvSpPr>
            <a:spLocks noGrp="1"/>
          </p:cNvSpPr>
          <p:nvPr/>
        </p:nvSpPr>
        <p:spPr>
          <a:xfrm>
            <a:off x="13792200" y="3676650"/>
            <a:ext cx="1276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learning units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1CC9C0E1-6C0A-42E5-8737-B717C7C9A061}"/>
              </a:ext>
            </a:extLst>
          </p:cNvPr>
          <p:cNvSpPr>
            <a:spLocks noGrp="1"/>
          </p:cNvSpPr>
          <p:nvPr/>
        </p:nvSpPr>
        <p:spPr>
          <a:xfrm>
            <a:off x="15573375" y="2857500"/>
            <a:ext cx="1168854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9ABD156-C1F3-4AA4-8FEC-DA6FBFF4BA0C}"/>
              </a:ext>
            </a:extLst>
          </p:cNvPr>
          <p:cNvSpPr>
            <a:spLocks noGrp="1"/>
          </p:cNvSpPr>
          <p:nvPr/>
        </p:nvSpPr>
        <p:spPr>
          <a:xfrm>
            <a:off x="15744825" y="3028950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496395B-AC62-4835-A87C-5B86A5F2C6AD}"/>
              </a:ext>
            </a:extLst>
          </p:cNvPr>
          <p:cNvSpPr>
            <a:spLocks noGrp="1"/>
          </p:cNvSpPr>
          <p:nvPr/>
        </p:nvSpPr>
        <p:spPr>
          <a:xfrm>
            <a:off x="15744825" y="3219450"/>
            <a:ext cx="781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444" lnSpcReduction="10000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 dirty="0">
                <a:solidFill>
                  <a:srgbClr val="EEF1FB"/>
                </a:solidFill>
                <a:latin typeface="Inter"/>
                <a:ea typeface="Inter"/>
                <a:cs typeface="Inter"/>
              </a:rPr>
              <a:t>pgvector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0016D066-0BD3-49F8-BFE3-FC7B90184ABE}"/>
              </a:ext>
            </a:extLst>
          </p:cNvPr>
          <p:cNvSpPr>
            <a:spLocks noGrp="1"/>
          </p:cNvSpPr>
          <p:nvPr/>
        </p:nvSpPr>
        <p:spPr>
          <a:xfrm>
            <a:off x="15744825" y="3676650"/>
            <a:ext cx="704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index</a:t>
            </a:r>
          </a:p>
        </p:txBody>
      </p:sp>
      <p:cxnSp>
        <p:nvCxnSpPr>
          <p:cNvPr id="379" name="Straight Arrow Connector 298"/>
          <p:cNvCxnSpPr>
            <a:stCxn id="162" idx="3"/>
            <a:endCxn id="166" idx="1"/>
          </p:cNvCxnSpPr>
          <p:nvPr/>
        </p:nvCxnSpPr>
        <p:spPr>
          <a:xfrm>
            <a:off x="11382375" y="3381375"/>
            <a:ext cx="345281" cy="0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380" name="Straight Arrow Connector 299"/>
          <p:cNvCxnSpPr>
            <a:stCxn id="166" idx="3"/>
            <a:endCxn id="170" idx="1"/>
          </p:cNvCxnSpPr>
          <p:nvPr/>
        </p:nvCxnSpPr>
        <p:spPr>
          <a:xfrm>
            <a:off x="13346906" y="3381375"/>
            <a:ext cx="273844" cy="0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381" name="Straight Arrow Connector 300"/>
          <p:cNvCxnSpPr>
            <a:cxnSpLocks/>
            <a:stCxn id="170" idx="3"/>
            <a:endCxn id="174" idx="1"/>
          </p:cNvCxnSpPr>
          <p:nvPr/>
        </p:nvCxnSpPr>
        <p:spPr>
          <a:xfrm>
            <a:off x="15240000" y="3381375"/>
            <a:ext cx="333375" cy="0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DF120FC-F48C-4C70-9B73-465D41BF09F6}"/>
              </a:ext>
            </a:extLst>
          </p:cNvPr>
          <p:cNvSpPr>
            <a:spLocks noGrp="1"/>
          </p:cNvSpPr>
          <p:nvPr/>
        </p:nvSpPr>
        <p:spPr>
          <a:xfrm>
            <a:off x="9763125" y="44767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QUESTION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457DD229-750C-432E-9C2B-B97854739B68}"/>
              </a:ext>
            </a:extLst>
          </p:cNvPr>
          <p:cNvSpPr>
            <a:spLocks noGrp="1"/>
          </p:cNvSpPr>
          <p:nvPr/>
        </p:nvSpPr>
        <p:spPr>
          <a:xfrm>
            <a:off x="9763125" y="5000625"/>
            <a:ext cx="1762125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D9A5D02-07D7-4BF5-AA28-2EB6DC371634}"/>
              </a:ext>
            </a:extLst>
          </p:cNvPr>
          <p:cNvSpPr>
            <a:spLocks noGrp="1"/>
          </p:cNvSpPr>
          <p:nvPr/>
        </p:nvSpPr>
        <p:spPr>
          <a:xfrm>
            <a:off x="9934575" y="5172075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3A277938-3EF4-4E34-9113-BD7CB421CAEE}"/>
              </a:ext>
            </a:extLst>
          </p:cNvPr>
          <p:cNvSpPr>
            <a:spLocks noGrp="1"/>
          </p:cNvSpPr>
          <p:nvPr/>
        </p:nvSpPr>
        <p:spPr>
          <a:xfrm>
            <a:off x="9934575" y="5362575"/>
            <a:ext cx="1419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Retriever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6E54BAA-852E-465E-A2E5-4634B4C200F4}"/>
              </a:ext>
            </a:extLst>
          </p:cNvPr>
          <p:cNvSpPr>
            <a:spLocks noGrp="1"/>
          </p:cNvSpPr>
          <p:nvPr/>
        </p:nvSpPr>
        <p:spPr>
          <a:xfrm>
            <a:off x="9934575" y="5819775"/>
            <a:ext cx="14192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relevant chunks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6EE797CA-320F-46C1-92A4-829B89440811}"/>
              </a:ext>
            </a:extLst>
          </p:cNvPr>
          <p:cNvSpPr>
            <a:spLocks noGrp="1"/>
          </p:cNvSpPr>
          <p:nvPr/>
        </p:nvSpPr>
        <p:spPr>
          <a:xfrm>
            <a:off x="12001500" y="5000625"/>
            <a:ext cx="2000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BD1E902-2763-4D0E-BA73-DB8897235C25}"/>
              </a:ext>
            </a:extLst>
          </p:cNvPr>
          <p:cNvSpPr>
            <a:spLocks noGrp="1"/>
          </p:cNvSpPr>
          <p:nvPr/>
        </p:nvSpPr>
        <p:spPr>
          <a:xfrm>
            <a:off x="12172950" y="5172075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B3171A4-910B-4CB3-BE78-36D24EC525A1}"/>
              </a:ext>
            </a:extLst>
          </p:cNvPr>
          <p:cNvSpPr>
            <a:spLocks noGrp="1"/>
          </p:cNvSpPr>
          <p:nvPr/>
        </p:nvSpPr>
        <p:spPr>
          <a:xfrm>
            <a:off x="12172950" y="5362575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394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Context builder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0340F35-1479-4C2F-963C-DDD6571A4878}"/>
              </a:ext>
            </a:extLst>
          </p:cNvPr>
          <p:cNvSpPr>
            <a:spLocks noGrp="1"/>
          </p:cNvSpPr>
          <p:nvPr/>
        </p:nvSpPr>
        <p:spPr>
          <a:xfrm>
            <a:off x="12172950" y="5819775"/>
            <a:ext cx="1657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authorized only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F10F5CD9-7491-479F-B6B4-798F90306217}"/>
              </a:ext>
            </a:extLst>
          </p:cNvPr>
          <p:cNvSpPr>
            <a:spLocks noGrp="1"/>
          </p:cNvSpPr>
          <p:nvPr/>
        </p:nvSpPr>
        <p:spPr>
          <a:xfrm>
            <a:off x="14430375" y="5000625"/>
            <a:ext cx="2000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1D8F5C7-5030-4205-B29F-9D88A26B5BB1}"/>
              </a:ext>
            </a:extLst>
          </p:cNvPr>
          <p:cNvSpPr>
            <a:spLocks noGrp="1"/>
          </p:cNvSpPr>
          <p:nvPr/>
        </p:nvSpPr>
        <p:spPr>
          <a:xfrm>
            <a:off x="14601825" y="5172075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EA760FF-E47E-48F9-9ADD-DCE9B34A767D}"/>
              </a:ext>
            </a:extLst>
          </p:cNvPr>
          <p:cNvSpPr>
            <a:spLocks noGrp="1"/>
          </p:cNvSpPr>
          <p:nvPr/>
        </p:nvSpPr>
        <p:spPr>
          <a:xfrm>
            <a:off x="14601825" y="5362575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787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Prompt manager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7113AD8-05D9-46BF-8978-D8E38641E5E2}"/>
              </a:ext>
            </a:extLst>
          </p:cNvPr>
          <p:cNvSpPr>
            <a:spLocks noGrp="1"/>
          </p:cNvSpPr>
          <p:nvPr/>
        </p:nvSpPr>
        <p:spPr>
          <a:xfrm>
            <a:off x="14601825" y="5819775"/>
            <a:ext cx="1657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mode + guardrails</a:t>
            </a:r>
          </a:p>
        </p:txBody>
      </p:sp>
      <p:cxnSp>
        <p:nvCxnSpPr>
          <p:cNvPr id="395" name="Straight Arrow Connector 314"/>
          <p:cNvCxnSpPr>
            <a:stCxn id="182" idx="3"/>
            <a:endCxn id="186" idx="1"/>
          </p:cNvCxnSpPr>
          <p:nvPr/>
        </p:nvCxnSpPr>
        <p:spPr>
          <a:xfrm>
            <a:off x="11525250" y="5548313"/>
            <a:ext cx="476250" cy="0"/>
          </a:xfrm>
          <a:prstGeom prst="straightConnector1">
            <a:avLst/>
          </a:prstGeom>
          <a:ln w="28575">
            <a:solidFill>
              <a:srgbClr val="7F8CFF"/>
            </a:solidFill>
            <a:prstDash val="solid"/>
            <a:tailEnd type="arrow" w="med" len="med"/>
          </a:ln>
        </p:spPr>
      </p:cxnSp>
      <p:cxnSp>
        <p:nvCxnSpPr>
          <p:cNvPr id="396" name="Straight Arrow Connector 315"/>
          <p:cNvCxnSpPr>
            <a:stCxn id="186" idx="3"/>
            <a:endCxn id="190" idx="1"/>
          </p:cNvCxnSpPr>
          <p:nvPr/>
        </p:nvCxnSpPr>
        <p:spPr>
          <a:xfrm>
            <a:off x="14001750" y="5548313"/>
            <a:ext cx="428625" cy="0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EC32115-C085-4AFD-A897-A2E6E7C8DB40}"/>
              </a:ext>
            </a:extLst>
          </p:cNvPr>
          <p:cNvSpPr>
            <a:spLocks noGrp="1"/>
          </p:cNvSpPr>
          <p:nvPr/>
        </p:nvSpPr>
        <p:spPr>
          <a:xfrm>
            <a:off x="9810750" y="6858000"/>
            <a:ext cx="666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C9D0E8"/>
                </a:solidFill>
                <a:latin typeface="Inter"/>
                <a:ea typeface="Inter"/>
                <a:cs typeface="Inter"/>
              </a:rPr>
              <a:t>Each class has one job — easier to test, replace, and scale.</a:t>
            </a:r>
          </a:p>
        </p:txBody>
      </p:sp>
    </p:spTree>
    <p:extLst>
      <p:ext uri="{BB962C8B-B14F-4D97-AF65-F5344CB8AC3E}">
        <p14:creationId xmlns:p14="http://schemas.microsoft.com/office/powerpoint/2010/main" val="1913038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>
            <a:extLst>
              <a:ext uri="{FF2B5EF4-FFF2-40B4-BE49-F238E27FC236}">
                <a16:creationId xmlns:a16="http://schemas.microsoft.com/office/drawing/2014/main" id="{45FB0139-AE00-4527-B21D-8BD42E30909E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12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SYSTEM ARCHITECTURE</a:t>
            </a:r>
          </a:p>
        </p:txBody>
      </p:sp>
      <p:sp>
        <p:nvSpPr>
          <p:cNvPr id="168" name="Google Shape;168;p15">
            <a:extLst>
              <a:ext uri="{FF2B5EF4-FFF2-40B4-BE49-F238E27FC236}">
                <a16:creationId xmlns:a16="http://schemas.microsoft.com/office/drawing/2014/main" id="{5C681937-FD49-47D6-B9A5-631BF48ADD2B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1476375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000"/>
              <a:buFont typeface="Space Grotesk"/>
              <a:buNone/>
            </a:pPr>
            <a:r>
              <a:rPr sz="60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Deployable Today. Ready to Scale.</a:t>
            </a:r>
          </a:p>
        </p:txBody>
      </p:sp>
      <p:sp>
        <p:nvSpPr>
          <p:cNvPr id="169" name="Google Shape;169;p15">
            <a:extLst>
              <a:ext uri="{FF2B5EF4-FFF2-40B4-BE49-F238E27FC236}">
                <a16:creationId xmlns:a16="http://schemas.microsoft.com/office/drawing/2014/main" id="{5916AD9F-3D86-490F-A421-8C132656A699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14287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550"/>
              <a:buFont typeface="Inter"/>
              <a:buNone/>
            </a:pPr>
            <a:r>
              <a:rPr sz="25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Containerized services on one virtual machine — simple to operate now, cleanly separated for future growth.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5D5A478-2CDB-4F34-A767-3D2861D545EB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15621000" cy="4762500"/>
          </a:xfrm>
          <a:prstGeom prst="roundRect">
            <a:avLst>
              <a:gd name="adj" fmla="val 3200"/>
            </a:avLst>
          </a:prstGeom>
          <a:solidFill>
            <a:srgbClr val="10152E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9D34D4D-1AE8-4C4D-A709-230B778B0777}"/>
              </a:ext>
            </a:extLst>
          </p:cNvPr>
          <p:cNvSpPr>
            <a:spLocks noGrp="1"/>
          </p:cNvSpPr>
          <p:nvPr/>
        </p:nvSpPr>
        <p:spPr>
          <a:xfrm>
            <a:off x="1714500" y="4524375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ONE VIRTUAL MACHINE · DOCKER COMPOSE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EB93555A-07BC-4BEE-B73D-8517A3422394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8CFC0BF-0EA7-4229-841C-D15BE11CEB00}"/>
              </a:ext>
            </a:extLst>
          </p:cNvPr>
          <p:cNvSpPr>
            <a:spLocks noGrp="1"/>
          </p:cNvSpPr>
          <p:nvPr/>
        </p:nvSpPr>
        <p:spPr>
          <a:xfrm>
            <a:off x="1981200" y="5410200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FEB04FE-8471-42EB-9AAF-4C45D2B73DE9}"/>
              </a:ext>
            </a:extLst>
          </p:cNvPr>
          <p:cNvSpPr>
            <a:spLocks noGrp="1"/>
          </p:cNvSpPr>
          <p:nvPr/>
        </p:nvSpPr>
        <p:spPr>
          <a:xfrm>
            <a:off x="1981200" y="560070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Nginx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B8EF2BA-99E7-4C61-ACD1-A1FD07232BBF}"/>
              </a:ext>
            </a:extLst>
          </p:cNvPr>
          <p:cNvSpPr>
            <a:spLocks noGrp="1"/>
          </p:cNvSpPr>
          <p:nvPr/>
        </p:nvSpPr>
        <p:spPr>
          <a:xfrm>
            <a:off x="1981200" y="605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71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HTTPS · reverse proxy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AF6BA8D5-D8BD-4E77-9CC6-2469B9612873}"/>
              </a:ext>
            </a:extLst>
          </p:cNvPr>
          <p:cNvSpPr>
            <a:spLocks noGrp="1"/>
          </p:cNvSpPr>
          <p:nvPr/>
        </p:nvSpPr>
        <p:spPr>
          <a:xfrm>
            <a:off x="4524375" y="52387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28791BC-2676-4313-89DE-F9962C7719B1}"/>
              </a:ext>
            </a:extLst>
          </p:cNvPr>
          <p:cNvSpPr>
            <a:spLocks noGrp="1"/>
          </p:cNvSpPr>
          <p:nvPr/>
        </p:nvSpPr>
        <p:spPr>
          <a:xfrm>
            <a:off x="4695825" y="5410200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5A2E5FD-39CC-48DA-993A-F2CB9D9090D9}"/>
              </a:ext>
            </a:extLst>
          </p:cNvPr>
          <p:cNvSpPr>
            <a:spLocks noGrp="1"/>
          </p:cNvSpPr>
          <p:nvPr/>
        </p:nvSpPr>
        <p:spPr>
          <a:xfrm>
            <a:off x="4695825" y="560070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React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FF04D7-3EF9-4A6C-A81F-EEBC035C096D}"/>
              </a:ext>
            </a:extLst>
          </p:cNvPr>
          <p:cNvSpPr>
            <a:spLocks noGrp="1"/>
          </p:cNvSpPr>
          <p:nvPr/>
        </p:nvSpPr>
        <p:spPr>
          <a:xfrm>
            <a:off x="4695825" y="605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29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student + admin portals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7190816F-E75C-4CA3-8D05-04AF3ACE70BA}"/>
              </a:ext>
            </a:extLst>
          </p:cNvPr>
          <p:cNvSpPr>
            <a:spLocks noGrp="1"/>
          </p:cNvSpPr>
          <p:nvPr/>
        </p:nvSpPr>
        <p:spPr>
          <a:xfrm>
            <a:off x="7239000" y="52387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156F1C0-17D7-4B2B-A3E6-0AF20EFF21B6}"/>
              </a:ext>
            </a:extLst>
          </p:cNvPr>
          <p:cNvSpPr>
            <a:spLocks noGrp="1"/>
          </p:cNvSpPr>
          <p:nvPr/>
        </p:nvSpPr>
        <p:spPr>
          <a:xfrm>
            <a:off x="7410450" y="5410200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65AE88C-AFF7-4115-AC1A-527629D57631}"/>
              </a:ext>
            </a:extLst>
          </p:cNvPr>
          <p:cNvSpPr>
            <a:spLocks noGrp="1"/>
          </p:cNvSpPr>
          <p:nvPr/>
        </p:nvSpPr>
        <p:spPr>
          <a:xfrm>
            <a:off x="7410450" y="560070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FastAPI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69EFD1-8075-4787-A35B-363756882D5C}"/>
              </a:ext>
            </a:extLst>
          </p:cNvPr>
          <p:cNvSpPr>
            <a:spLocks noGrp="1"/>
          </p:cNvSpPr>
          <p:nvPr/>
        </p:nvSpPr>
        <p:spPr>
          <a:xfrm>
            <a:off x="7410450" y="605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REST + WebSocket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9B7E233-FC67-43DF-BF46-44A470851EBF}"/>
              </a:ext>
            </a:extLst>
          </p:cNvPr>
          <p:cNvSpPr>
            <a:spLocks noGrp="1"/>
          </p:cNvSpPr>
          <p:nvPr/>
        </p:nvSpPr>
        <p:spPr>
          <a:xfrm>
            <a:off x="9953625" y="52387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1B2144"/>
          </a:solidFill>
          <a:ln w="28575">
            <a:solidFill>
              <a:srgbClr val="FF6F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78AB7F8-1DAC-4834-BC94-918FA1F1CC9B}"/>
              </a:ext>
            </a:extLst>
          </p:cNvPr>
          <p:cNvSpPr>
            <a:spLocks noGrp="1"/>
          </p:cNvSpPr>
          <p:nvPr/>
        </p:nvSpPr>
        <p:spPr>
          <a:xfrm>
            <a:off x="10125075" y="5410200"/>
            <a:ext cx="533400" cy="47625"/>
          </a:xfrm>
          <a:prstGeom prst="rect">
            <a:avLst/>
          </a:prstGeom>
          <a:solidFill>
            <a:srgbClr val="FF6FAE"/>
          </a:solidFill>
          <a:ln w="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BC89950-70D0-4AC7-86BA-A1E6D614C543}"/>
              </a:ext>
            </a:extLst>
          </p:cNvPr>
          <p:cNvSpPr>
            <a:spLocks noGrp="1"/>
          </p:cNvSpPr>
          <p:nvPr/>
        </p:nvSpPr>
        <p:spPr>
          <a:xfrm>
            <a:off x="10125075" y="560070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Worker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FA4633E-0BFE-4DC0-B716-47EA2E40EE28}"/>
              </a:ext>
            </a:extLst>
          </p:cNvPr>
          <p:cNvSpPr>
            <a:spLocks noGrp="1"/>
          </p:cNvSpPr>
          <p:nvPr/>
        </p:nvSpPr>
        <p:spPr>
          <a:xfrm>
            <a:off x="10125075" y="605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671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embedding · quiz · notify</a:t>
            </a:r>
          </a:p>
        </p:txBody>
      </p:sp>
      <p:cxnSp>
        <p:nvCxnSpPr>
          <p:cNvPr id="385" name="Straight Arrow Connector 306"/>
          <p:cNvCxnSpPr>
            <a:stCxn id="172" idx="3"/>
            <a:endCxn id="176" idx="1"/>
          </p:cNvCxnSpPr>
          <p:nvPr/>
        </p:nvCxnSpPr>
        <p:spPr>
          <a:xfrm>
            <a:off x="3905250" y="5857875"/>
            <a:ext cx="619125" cy="0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  <p:cxnSp>
        <p:nvCxnSpPr>
          <p:cNvPr id="386" name="Straight Arrow Connector 307"/>
          <p:cNvCxnSpPr>
            <a:stCxn id="176" idx="3"/>
            <a:endCxn id="180" idx="1"/>
          </p:cNvCxnSpPr>
          <p:nvPr/>
        </p:nvCxnSpPr>
        <p:spPr>
          <a:xfrm>
            <a:off x="6619875" y="5857875"/>
            <a:ext cx="619125" cy="0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387" name="Straight Arrow Connector 308"/>
          <p:cNvCxnSpPr>
            <a:stCxn id="180" idx="3"/>
            <a:endCxn id="184" idx="1"/>
          </p:cNvCxnSpPr>
          <p:nvPr/>
        </p:nvCxnSpPr>
        <p:spPr>
          <a:xfrm>
            <a:off x="9334500" y="5857875"/>
            <a:ext cx="619125" cy="0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1AD9D216-E47C-4322-BA80-56FDF43A2962}"/>
              </a:ext>
            </a:extLst>
          </p:cNvPr>
          <p:cNvSpPr>
            <a:spLocks noGrp="1"/>
          </p:cNvSpPr>
          <p:nvPr/>
        </p:nvSpPr>
        <p:spPr>
          <a:xfrm>
            <a:off x="7239000" y="7239000"/>
            <a:ext cx="3143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F8BAD6FB-73A6-4CA6-9161-72C7B7CC532C}"/>
              </a:ext>
            </a:extLst>
          </p:cNvPr>
          <p:cNvSpPr>
            <a:spLocks noGrp="1"/>
          </p:cNvSpPr>
          <p:nvPr/>
        </p:nvSpPr>
        <p:spPr>
          <a:xfrm>
            <a:off x="7410450" y="7410450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E668FAC-E7BB-481E-BB87-34EC1E38F33C}"/>
              </a:ext>
            </a:extLst>
          </p:cNvPr>
          <p:cNvSpPr>
            <a:spLocks noGrp="1"/>
          </p:cNvSpPr>
          <p:nvPr/>
        </p:nvSpPr>
        <p:spPr>
          <a:xfrm>
            <a:off x="7410450" y="760095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513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 dirty="0">
                <a:solidFill>
                  <a:srgbClr val="EEF1FB"/>
                </a:solidFill>
                <a:latin typeface="Inter"/>
                <a:ea typeface="Inter"/>
                <a:cs typeface="Inter"/>
              </a:rPr>
              <a:t>PostgreSQL + pgvector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BC18476-CE18-4A50-B1F8-DBCD51461B9C}"/>
              </a:ext>
            </a:extLst>
          </p:cNvPr>
          <p:cNvSpPr>
            <a:spLocks noGrp="1"/>
          </p:cNvSpPr>
          <p:nvPr/>
        </p:nvSpPr>
        <p:spPr>
          <a:xfrm>
            <a:off x="7410450" y="8058150"/>
            <a:ext cx="2800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state + semantic index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6E6B23AE-CDD0-4E7B-8B12-47A55ABB5EFF}"/>
              </a:ext>
            </a:extLst>
          </p:cNvPr>
          <p:cNvSpPr>
            <a:spLocks noGrp="1"/>
          </p:cNvSpPr>
          <p:nvPr/>
        </p:nvSpPr>
        <p:spPr>
          <a:xfrm>
            <a:off x="10858500" y="7239000"/>
            <a:ext cx="209550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9E6B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3B5B693-2E5D-4222-ACD1-B1B7227F9452}"/>
              </a:ext>
            </a:extLst>
          </p:cNvPr>
          <p:cNvSpPr>
            <a:spLocks noGrp="1"/>
          </p:cNvSpPr>
          <p:nvPr/>
        </p:nvSpPr>
        <p:spPr>
          <a:xfrm>
            <a:off x="11029950" y="7410450"/>
            <a:ext cx="533400" cy="47625"/>
          </a:xfrm>
          <a:prstGeom prst="rect">
            <a:avLst/>
          </a:prstGeom>
          <a:solidFill>
            <a:srgbClr val="9E6BFF"/>
          </a:solidFill>
          <a:ln w="0">
            <a:solidFill>
              <a:srgbClr val="9E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B531987-D0F9-487C-8293-4575BAB7E135}"/>
              </a:ext>
            </a:extLst>
          </p:cNvPr>
          <p:cNvSpPr>
            <a:spLocks noGrp="1"/>
          </p:cNvSpPr>
          <p:nvPr/>
        </p:nvSpPr>
        <p:spPr>
          <a:xfrm>
            <a:off x="11029950" y="760095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Redis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1E659DA-2395-4023-849F-14AC5E6146D5}"/>
              </a:ext>
            </a:extLst>
          </p:cNvPr>
          <p:cNvSpPr>
            <a:spLocks noGrp="1"/>
          </p:cNvSpPr>
          <p:nvPr/>
        </p:nvSpPr>
        <p:spPr>
          <a:xfrm>
            <a:off x="11029950" y="8058150"/>
            <a:ext cx="17526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cache + queue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769B35F0-DBA7-467F-AFF2-B63BD9EFC102}"/>
              </a:ext>
            </a:extLst>
          </p:cNvPr>
          <p:cNvSpPr>
            <a:spLocks noGrp="1"/>
          </p:cNvSpPr>
          <p:nvPr/>
        </p:nvSpPr>
        <p:spPr>
          <a:xfrm>
            <a:off x="13430250" y="7239000"/>
            <a:ext cx="2381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18EC191-D172-4F0F-A01A-92198EC2952B}"/>
              </a:ext>
            </a:extLst>
          </p:cNvPr>
          <p:cNvSpPr>
            <a:spLocks noGrp="1"/>
          </p:cNvSpPr>
          <p:nvPr/>
        </p:nvSpPr>
        <p:spPr>
          <a:xfrm>
            <a:off x="13601700" y="7410450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8AA63F1-9C14-4705-9602-6777F021A6E8}"/>
              </a:ext>
            </a:extLst>
          </p:cNvPr>
          <p:cNvSpPr>
            <a:spLocks noGrp="1"/>
          </p:cNvSpPr>
          <p:nvPr/>
        </p:nvSpPr>
        <p:spPr>
          <a:xfrm>
            <a:off x="13601700" y="76009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Llama 3.1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5A86DE9D-FBCD-4FB8-8F73-A6EC6A265218}"/>
              </a:ext>
            </a:extLst>
          </p:cNvPr>
          <p:cNvSpPr>
            <a:spLocks noGrp="1"/>
          </p:cNvSpPr>
          <p:nvPr/>
        </p:nvSpPr>
        <p:spPr>
          <a:xfrm>
            <a:off x="13601700" y="8058150"/>
            <a:ext cx="2038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local model service</a:t>
            </a:r>
          </a:p>
        </p:txBody>
      </p:sp>
      <p:cxnSp>
        <p:nvCxnSpPr>
          <p:cNvPr id="400" name="Straight Arrow Connector 321"/>
          <p:cNvCxnSpPr>
            <a:stCxn id="180" idx="2"/>
            <a:endCxn id="191" idx="0"/>
          </p:cNvCxnSpPr>
          <p:nvPr/>
        </p:nvCxnSpPr>
        <p:spPr>
          <a:xfrm>
            <a:off x="8286750" y="6477000"/>
            <a:ext cx="523875" cy="762000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cxnSp>
        <p:nvCxnSpPr>
          <p:cNvPr id="401" name="Straight Arrow Connector 322"/>
          <p:cNvCxnSpPr>
            <a:stCxn id="184" idx="2"/>
            <a:endCxn id="195" idx="0"/>
          </p:cNvCxnSpPr>
          <p:nvPr/>
        </p:nvCxnSpPr>
        <p:spPr>
          <a:xfrm>
            <a:off x="11001375" y="6477000"/>
            <a:ext cx="904875" cy="762000"/>
          </a:xfrm>
          <a:prstGeom prst="straightConnector1">
            <a:avLst/>
          </a:prstGeom>
          <a:ln w="28575">
            <a:solidFill>
              <a:srgbClr val="9E6BFF"/>
            </a:solidFill>
            <a:prstDash val="solid"/>
            <a:tailEnd type="arrow" w="med" len="med"/>
          </a:ln>
        </p:spPr>
      </p:cxnSp>
      <p:cxnSp>
        <p:nvCxnSpPr>
          <p:cNvPr id="402" name="Straight Arrow Connector 323"/>
          <p:cNvCxnSpPr>
            <a:stCxn id="184" idx="2"/>
            <a:endCxn id="199" idx="0"/>
          </p:cNvCxnSpPr>
          <p:nvPr/>
        </p:nvCxnSpPr>
        <p:spPr>
          <a:xfrm>
            <a:off x="11001375" y="6477000"/>
            <a:ext cx="3619500" cy="762000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883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>
            <a:extLst>
              <a:ext uri="{FF2B5EF4-FFF2-40B4-BE49-F238E27FC236}">
                <a16:creationId xmlns:a16="http://schemas.microsoft.com/office/drawing/2014/main" id="{0EB96889-47BA-4266-A028-26F758098DC4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13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SECURITY &amp; COMPLIANCE</a:t>
            </a:r>
          </a:p>
        </p:txBody>
      </p:sp>
      <p:sp>
        <p:nvSpPr>
          <p:cNvPr id="181" name="Google Shape;181;p16">
            <a:extLst>
              <a:ext uri="{FF2B5EF4-FFF2-40B4-BE49-F238E27FC236}">
                <a16:creationId xmlns:a16="http://schemas.microsoft.com/office/drawing/2014/main" id="{DC5DD0F8-FE06-4586-A517-687D0D1878C6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114300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150"/>
              <a:buFont typeface="Space Grotesk"/>
              <a:buNone/>
            </a:pPr>
            <a:r>
              <a:rPr sz="615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Built for Academic Integrity</a:t>
            </a:r>
          </a:p>
        </p:txBody>
      </p:sp>
      <p:pic>
        <p:nvPicPr>
          <p:cNvPr id="196" name="Google Shape;182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095750"/>
            <a:ext cx="4953000" cy="4000500"/>
          </a:xfrm>
          <a:prstGeom prst="rect">
            <a:avLst/>
          </a:prstGeom>
          <a:ln>
            <a:noFill/>
          </a:ln>
        </p:spPr>
      </p:pic>
      <p:sp>
        <p:nvSpPr>
          <p:cNvPr id="183" name="Google Shape;183;p16">
            <a:extLst>
              <a:ext uri="{FF2B5EF4-FFF2-40B4-BE49-F238E27FC236}">
                <a16:creationId xmlns:a16="http://schemas.microsoft.com/office/drawing/2014/main" id="{FAA7EC8B-081C-4F85-B52C-CC267550B2C3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2F80ED"/>
                </a:solidFill>
                <a:latin typeface="Space Grotesk"/>
                <a:ea typeface="Space Grotesk"/>
                <a:cs typeface="Space Grotesk"/>
              </a:rPr>
              <a:t>Safety Hooks</a:t>
            </a:r>
          </a:p>
        </p:txBody>
      </p:sp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30BEA09E-E0DE-463C-9DF6-A0ADA2EB7BCE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4191000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400"/>
              <a:buFont typeface="Inter"/>
              <a:buNone/>
            </a:pPr>
            <a:r>
              <a:rPr sz="24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NudeNet screening scans every image upload to keep channels safe.</a:t>
            </a:r>
          </a:p>
        </p:txBody>
      </p:sp>
      <p:pic>
        <p:nvPicPr>
          <p:cNvPr id="199" name="Google Shape;185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0" y="4095750"/>
            <a:ext cx="4953000" cy="4000500"/>
          </a:xfrm>
          <a:prstGeom prst="rect">
            <a:avLst/>
          </a:prstGeom>
          <a:ln>
            <a:noFill/>
          </a:ln>
        </p:spPr>
      </p:pic>
      <p:sp>
        <p:nvSpPr>
          <p:cNvPr id="186" name="Google Shape;186;p16">
            <a:extLst>
              <a:ext uri="{FF2B5EF4-FFF2-40B4-BE49-F238E27FC236}">
                <a16:creationId xmlns:a16="http://schemas.microsoft.com/office/drawing/2014/main" id="{25B75B8C-410F-4E5C-8958-9A81634C955B}"/>
              </a:ext>
            </a:extLst>
          </p:cNvPr>
          <p:cNvSpPr>
            <a:spLocks noGrp="1"/>
          </p:cNvSpPr>
          <p:nvPr/>
        </p:nvSpPr>
        <p:spPr>
          <a:xfrm>
            <a:off x="7048500" y="4572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</a:rPr>
              <a:t>Stateless Auth</a:t>
            </a:r>
          </a:p>
        </p:txBody>
      </p:sp>
      <p:sp>
        <p:nvSpPr>
          <p:cNvPr id="187" name="Google Shape;187;p16">
            <a:extLst>
              <a:ext uri="{FF2B5EF4-FFF2-40B4-BE49-F238E27FC236}">
                <a16:creationId xmlns:a16="http://schemas.microsoft.com/office/drawing/2014/main" id="{ADC54B8E-88D1-4B9A-B250-D805E4CE1E8C}"/>
              </a:ext>
            </a:extLst>
          </p:cNvPr>
          <p:cNvSpPr>
            <a:spLocks noGrp="1"/>
          </p:cNvSpPr>
          <p:nvPr/>
        </p:nvSpPr>
        <p:spPr>
          <a:xfrm>
            <a:off x="7048500" y="5334000"/>
            <a:ext cx="4191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400"/>
              <a:buFont typeface="Inter"/>
              <a:buNone/>
            </a:pPr>
            <a:r>
              <a:rPr sz="24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JWT session authentication for secure, scalable identity.</a:t>
            </a:r>
          </a:p>
        </p:txBody>
      </p:sp>
      <p:pic>
        <p:nvPicPr>
          <p:cNvPr id="202" name="Google Shape;188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01500" y="4095750"/>
            <a:ext cx="4953000" cy="4000500"/>
          </a:xfrm>
          <a:prstGeom prst="rect">
            <a:avLst/>
          </a:prstGeom>
          <a:ln>
            <a:noFill/>
          </a:ln>
        </p:spPr>
      </p:pic>
      <p:sp>
        <p:nvSpPr>
          <p:cNvPr id="189" name="Google Shape;189;p16">
            <a:extLst>
              <a:ext uri="{FF2B5EF4-FFF2-40B4-BE49-F238E27FC236}">
                <a16:creationId xmlns:a16="http://schemas.microsoft.com/office/drawing/2014/main" id="{6CF987B5-3F34-499E-A548-F19E6A32FB6B}"/>
              </a:ext>
            </a:extLst>
          </p:cNvPr>
          <p:cNvSpPr>
            <a:spLocks noGrp="1"/>
          </p:cNvSpPr>
          <p:nvPr/>
        </p:nvSpPr>
        <p:spPr>
          <a:xfrm>
            <a:off x="12382500" y="4572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sz="3000" b="1" i="0" u="non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Context Isolation</a:t>
            </a:r>
          </a:p>
        </p:txBody>
      </p:sp>
      <p:sp>
        <p:nvSpPr>
          <p:cNvPr id="190" name="Google Shape;190;p16">
            <a:extLst>
              <a:ext uri="{FF2B5EF4-FFF2-40B4-BE49-F238E27FC236}">
                <a16:creationId xmlns:a16="http://schemas.microsoft.com/office/drawing/2014/main" id="{B55E730C-2179-4567-B3F8-54C3897D5AF6}"/>
              </a:ext>
            </a:extLst>
          </p:cNvPr>
          <p:cNvSpPr>
            <a:spLocks noGrp="1"/>
          </p:cNvSpPr>
          <p:nvPr/>
        </p:nvSpPr>
        <p:spPr>
          <a:xfrm>
            <a:off x="12382500" y="5334000"/>
            <a:ext cx="4191000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0F2FB"/>
              </a:buClr>
              <a:buSzPts val="2400"/>
              <a:buFont typeface="Inter"/>
              <a:buNone/>
            </a:pPr>
            <a:r>
              <a:rPr sz="2400" b="0" i="0" u="none" cap="none">
                <a:solidFill>
                  <a:srgbClr val="F0F2FB"/>
                </a:solidFill>
                <a:latin typeface="Inter"/>
                <a:ea typeface="Inter"/>
                <a:cs typeface="Inter"/>
              </a:rPr>
              <a:t>Strict RAG isolation prevents data bleed between private groups.</a:t>
            </a:r>
          </a:p>
        </p:txBody>
      </p:sp>
    </p:spTree>
    <p:extLst>
      <p:ext uri="{BB962C8B-B14F-4D97-AF65-F5344CB8AC3E}">
        <p14:creationId xmlns:p14="http://schemas.microsoft.com/office/powerpoint/2010/main" val="208589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>
            <a:extLst>
              <a:ext uri="{FF2B5EF4-FFF2-40B4-BE49-F238E27FC236}">
                <a16:creationId xmlns:a16="http://schemas.microsoft.com/office/drawing/2014/main" id="{1913E7E2-E9AB-4C1F-A823-2CB0C654A9D5}"/>
              </a:ext>
            </a:extLst>
          </p:cNvPr>
          <p:cNvSpPr>
            <a:spLocks noGrp="1"/>
          </p:cNvSpPr>
          <p:nvPr/>
        </p:nvSpPr>
        <p:spPr>
          <a:xfrm>
            <a:off x="1333500" y="10889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14</a:t>
            </a:r>
            <a:r>
              <a:rPr sz="1950" b="1" i="0" u="none" cap="none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DATA BACKBONE</a:t>
            </a:r>
          </a:p>
        </p:txBody>
      </p:sp>
      <p:sp>
        <p:nvSpPr>
          <p:cNvPr id="197" name="Google Shape;197;p17">
            <a:extLst>
              <a:ext uri="{FF2B5EF4-FFF2-40B4-BE49-F238E27FC236}">
                <a16:creationId xmlns:a16="http://schemas.microsoft.com/office/drawing/2014/main" id="{2AB9229D-34BC-474F-BFA0-E205A5907143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9525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5850"/>
              <a:buFont typeface="Space Grotesk"/>
              <a:buNone/>
            </a:pPr>
            <a:r>
              <a:rPr sz="585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Scalable State Management</a:t>
            </a:r>
          </a:p>
        </p:txBody>
      </p:sp>
      <p:sp>
        <p:nvSpPr>
          <p:cNvPr id="198" name="Google Shape;198;p17">
            <a:extLst>
              <a:ext uri="{FF2B5EF4-FFF2-40B4-BE49-F238E27FC236}">
                <a16:creationId xmlns:a16="http://schemas.microsoft.com/office/drawing/2014/main" id="{96F6C8D3-E1FE-4CFB-BFCB-C7B03B5F13E6}"/>
              </a:ext>
            </a:extLst>
          </p:cNvPr>
          <p:cNvSpPr>
            <a:spLocks noGrp="1"/>
          </p:cNvSpPr>
          <p:nvPr/>
        </p:nvSpPr>
        <p:spPr>
          <a:xfrm>
            <a:off x="1333500" y="3619500"/>
            <a:ext cx="5905500" cy="192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700"/>
              <a:buFont typeface="Inter"/>
              <a:buNone/>
            </a:pPr>
            <a:r>
              <a:rPr sz="270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A robust PostgreSQL relational database handling complex user memberships, attachments, and chat states.</a:t>
            </a:r>
          </a:p>
        </p:txBody>
      </p:sp>
      <p:sp>
        <p:nvSpPr>
          <p:cNvPr id="199" name="Google Shape;199;p17">
            <a:extLst>
              <a:ext uri="{FF2B5EF4-FFF2-40B4-BE49-F238E27FC236}">
                <a16:creationId xmlns:a16="http://schemas.microsoft.com/office/drawing/2014/main" id="{C52102A2-33E3-4A78-94CA-2BC9D7D35F46}"/>
              </a:ext>
            </a:extLst>
          </p:cNvPr>
          <p:cNvSpPr>
            <a:spLocks noGrp="1"/>
          </p:cNvSpPr>
          <p:nvPr/>
        </p:nvSpPr>
        <p:spPr>
          <a:xfrm>
            <a:off x="1333500" y="6286500"/>
            <a:ext cx="5905500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Users &amp; memberships</a:t>
            </a:r>
          </a:p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Channels &amp; permissions</a:t>
            </a:r>
          </a:p>
          <a:p>
            <a:pPr marL="342900" marR="0" lvl="0" indent="-3429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5E9F5"/>
              </a:buClr>
              <a:buSzPts val="2550"/>
              <a:buFont typeface="Inter"/>
              <a:buChar char="•"/>
            </a:pPr>
            <a:r>
              <a:rPr sz="2550" b="0" i="0" u="none" cap="none">
                <a:solidFill>
                  <a:srgbClr val="E5E9F5"/>
                </a:solidFill>
                <a:latin typeface="Inter"/>
                <a:ea typeface="Inter"/>
                <a:cs typeface="Inter"/>
              </a:rPr>
              <a:t>Attachments &amp; chat state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9B042B3B-7A7C-4E8C-9963-90867A2FEF2A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8953500" cy="5476875"/>
          </a:xfrm>
          <a:prstGeom prst="roundRect">
            <a:avLst>
              <a:gd name="adj" fmla="val 2783"/>
            </a:avLst>
          </a:prstGeom>
          <a:solidFill>
            <a:srgbClr val="10152E"/>
          </a:solidFill>
          <a:ln w="19050">
            <a:solidFill>
              <a:srgbClr val="343C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CF8FDAE-37DA-4C4D-99AC-EA148CE917BD}"/>
              </a:ext>
            </a:extLst>
          </p:cNvPr>
          <p:cNvSpPr>
            <a:spLocks noGrp="1"/>
          </p:cNvSpPr>
          <p:nvPr/>
        </p:nvSpPr>
        <p:spPr>
          <a:xfrm>
            <a:off x="8429625" y="3714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STATE RELATIONSHIPS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18569023-42F1-4535-BF16-6A5ECD78FC99}"/>
              </a:ext>
            </a:extLst>
          </p:cNvPr>
          <p:cNvSpPr>
            <a:spLocks noGrp="1"/>
          </p:cNvSpPr>
          <p:nvPr/>
        </p:nvSpPr>
        <p:spPr>
          <a:xfrm>
            <a:off x="8572500" y="4572000"/>
            <a:ext cx="1714500" cy="1000125"/>
          </a:xfrm>
          <a:prstGeom prst="roundRect">
            <a:avLst>
              <a:gd name="adj" fmla="val 11429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B08FFC0-6423-4966-9585-3961B493FDBB}"/>
              </a:ext>
            </a:extLst>
          </p:cNvPr>
          <p:cNvSpPr>
            <a:spLocks noGrp="1"/>
          </p:cNvSpPr>
          <p:nvPr/>
        </p:nvSpPr>
        <p:spPr>
          <a:xfrm>
            <a:off x="8743950" y="4743450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3F19CCC6-21AD-4750-9362-5A9D4EF9DF7F}"/>
              </a:ext>
            </a:extLst>
          </p:cNvPr>
          <p:cNvSpPr>
            <a:spLocks noGrp="1"/>
          </p:cNvSpPr>
          <p:nvPr/>
        </p:nvSpPr>
        <p:spPr>
          <a:xfrm>
            <a:off x="8743950" y="4933950"/>
            <a:ext cx="1371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User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DC5467E1-9252-41A2-BC1E-E5FE93846517}"/>
              </a:ext>
            </a:extLst>
          </p:cNvPr>
          <p:cNvSpPr>
            <a:spLocks noGrp="1"/>
          </p:cNvSpPr>
          <p:nvPr/>
        </p:nvSpPr>
        <p:spPr>
          <a:xfrm>
            <a:off x="8743950" y="5391150"/>
            <a:ext cx="1371600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3820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E0C1A33D-0B7B-41BF-92BA-BD10D906EEFC}"/>
              </a:ext>
            </a:extLst>
          </p:cNvPr>
          <p:cNvSpPr>
            <a:spLocks noGrp="1"/>
          </p:cNvSpPr>
          <p:nvPr/>
        </p:nvSpPr>
        <p:spPr>
          <a:xfrm>
            <a:off x="11334750" y="4572000"/>
            <a:ext cx="2095500" cy="1000125"/>
          </a:xfrm>
          <a:prstGeom prst="roundRect">
            <a:avLst>
              <a:gd name="adj" fmla="val 11429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21A09D-CAD7-4246-9006-C650C065B33E}"/>
              </a:ext>
            </a:extLst>
          </p:cNvPr>
          <p:cNvSpPr>
            <a:spLocks noGrp="1"/>
          </p:cNvSpPr>
          <p:nvPr/>
        </p:nvSpPr>
        <p:spPr>
          <a:xfrm>
            <a:off x="11506200" y="4743450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E46B91E-CEE0-4355-B09A-75BCE0F2E0E9}"/>
              </a:ext>
            </a:extLst>
          </p:cNvPr>
          <p:cNvSpPr>
            <a:spLocks noGrp="1"/>
          </p:cNvSpPr>
          <p:nvPr/>
        </p:nvSpPr>
        <p:spPr>
          <a:xfrm>
            <a:off x="11506200" y="4933950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Membership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D3820CD-0590-4861-9E94-0190FDCCD237}"/>
              </a:ext>
            </a:extLst>
          </p:cNvPr>
          <p:cNvSpPr>
            <a:spLocks noGrp="1"/>
          </p:cNvSpPr>
          <p:nvPr/>
        </p:nvSpPr>
        <p:spPr>
          <a:xfrm>
            <a:off x="11506200" y="5391150"/>
            <a:ext cx="1752600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3820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role + permission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78AA3FFF-3B99-404A-937C-AD859CFE1FA1}"/>
              </a:ext>
            </a:extLst>
          </p:cNvPr>
          <p:cNvSpPr>
            <a:spLocks noGrp="1"/>
          </p:cNvSpPr>
          <p:nvPr/>
        </p:nvSpPr>
        <p:spPr>
          <a:xfrm>
            <a:off x="14382750" y="4572000"/>
            <a:ext cx="1809750" cy="1000125"/>
          </a:xfrm>
          <a:prstGeom prst="roundRect">
            <a:avLst>
              <a:gd name="adj" fmla="val 1142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E74F9D71-CEB6-47B3-BAD3-F21A3F7D34EC}"/>
              </a:ext>
            </a:extLst>
          </p:cNvPr>
          <p:cNvSpPr>
            <a:spLocks noGrp="1"/>
          </p:cNvSpPr>
          <p:nvPr/>
        </p:nvSpPr>
        <p:spPr>
          <a:xfrm>
            <a:off x="14554200" y="4743450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11B81948-6E82-48AB-9ECA-8AFF3B33E754}"/>
              </a:ext>
            </a:extLst>
          </p:cNvPr>
          <p:cNvSpPr>
            <a:spLocks noGrp="1"/>
          </p:cNvSpPr>
          <p:nvPr/>
        </p:nvSpPr>
        <p:spPr>
          <a:xfrm>
            <a:off x="14554200" y="4933950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Channel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DD185416-4641-4244-8DAB-A10F0629B868}"/>
              </a:ext>
            </a:extLst>
          </p:cNvPr>
          <p:cNvSpPr>
            <a:spLocks noGrp="1"/>
          </p:cNvSpPr>
          <p:nvPr/>
        </p:nvSpPr>
        <p:spPr>
          <a:xfrm>
            <a:off x="14554200" y="5391150"/>
            <a:ext cx="1466850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3820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public / private</a:t>
            </a: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29560682-38CA-47BB-8A85-1D163C0911C1}"/>
              </a:ext>
            </a:extLst>
          </p:cNvPr>
          <p:cNvSpPr>
            <a:spLocks noGrp="1"/>
          </p:cNvSpPr>
          <p:nvPr/>
        </p:nvSpPr>
        <p:spPr>
          <a:xfrm>
            <a:off x="9429750" y="6667500"/>
            <a:ext cx="1809750" cy="1000125"/>
          </a:xfrm>
          <a:prstGeom prst="roundRect">
            <a:avLst>
              <a:gd name="adj" fmla="val 11429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A44C0BB-7497-406A-9038-7E82CEF34406}"/>
              </a:ext>
            </a:extLst>
          </p:cNvPr>
          <p:cNvSpPr>
            <a:spLocks noGrp="1"/>
          </p:cNvSpPr>
          <p:nvPr/>
        </p:nvSpPr>
        <p:spPr>
          <a:xfrm>
            <a:off x="9601200" y="6838950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C113D88-F553-4F3C-87B0-390F3343BA1F}"/>
              </a:ext>
            </a:extLst>
          </p:cNvPr>
          <p:cNvSpPr>
            <a:spLocks noGrp="1"/>
          </p:cNvSpPr>
          <p:nvPr/>
        </p:nvSpPr>
        <p:spPr>
          <a:xfrm>
            <a:off x="9601200" y="7029450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Message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A11F718-9DE9-40DF-BBC0-9D0B9F69F0BD}"/>
              </a:ext>
            </a:extLst>
          </p:cNvPr>
          <p:cNvSpPr>
            <a:spLocks noGrp="1"/>
          </p:cNvSpPr>
          <p:nvPr/>
        </p:nvSpPr>
        <p:spPr>
          <a:xfrm>
            <a:off x="9601200" y="7486650"/>
            <a:ext cx="1466850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3820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chat state</a:t>
            </a:r>
          </a:p>
        </p:txBody>
      </p: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2A4AD678-1556-40DE-B2CF-320177D1A9C3}"/>
              </a:ext>
            </a:extLst>
          </p:cNvPr>
          <p:cNvSpPr>
            <a:spLocks noGrp="1"/>
          </p:cNvSpPr>
          <p:nvPr/>
        </p:nvSpPr>
        <p:spPr>
          <a:xfrm>
            <a:off x="12287250" y="6667500"/>
            <a:ext cx="2000250" cy="1000125"/>
          </a:xfrm>
          <a:prstGeom prst="roundRect">
            <a:avLst>
              <a:gd name="adj" fmla="val 11429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E51CA31-C29C-4505-B2D4-3BC0066F0F61}"/>
              </a:ext>
            </a:extLst>
          </p:cNvPr>
          <p:cNvSpPr>
            <a:spLocks noGrp="1"/>
          </p:cNvSpPr>
          <p:nvPr/>
        </p:nvSpPr>
        <p:spPr>
          <a:xfrm>
            <a:off x="12458700" y="6838950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ED0C6D34-6E79-4AF6-93D6-63CBCD0D1EE8}"/>
              </a:ext>
            </a:extLst>
          </p:cNvPr>
          <p:cNvSpPr>
            <a:spLocks noGrp="1"/>
          </p:cNvSpPr>
          <p:nvPr/>
        </p:nvSpPr>
        <p:spPr>
          <a:xfrm>
            <a:off x="12458700" y="7029450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Attachment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3E4C82A-A127-4731-9103-0307DF8ACDC2}"/>
              </a:ext>
            </a:extLst>
          </p:cNvPr>
          <p:cNvSpPr>
            <a:spLocks noGrp="1"/>
          </p:cNvSpPr>
          <p:nvPr/>
        </p:nvSpPr>
        <p:spPr>
          <a:xfrm>
            <a:off x="12458700" y="7486650"/>
            <a:ext cx="1657350" cy="6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3820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file + ownership</a:t>
            </a:r>
          </a:p>
        </p:txBody>
      </p:sp>
      <p:cxnSp>
        <p:nvCxnSpPr>
          <p:cNvPr id="375" name="Straight Arrow Connector 314"/>
          <p:cNvCxnSpPr>
            <a:stCxn id="202" idx="3"/>
            <a:endCxn id="206" idx="1"/>
          </p:cNvCxnSpPr>
          <p:nvPr/>
        </p:nvCxnSpPr>
        <p:spPr>
          <a:xfrm>
            <a:off x="10287000" y="5072063"/>
            <a:ext cx="1047750" cy="0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376" name="Straight Arrow Connector 315"/>
          <p:cNvCxnSpPr>
            <a:stCxn id="206" idx="3"/>
            <a:endCxn id="210" idx="1"/>
          </p:cNvCxnSpPr>
          <p:nvPr/>
        </p:nvCxnSpPr>
        <p:spPr>
          <a:xfrm>
            <a:off x="13430250" y="5072063"/>
            <a:ext cx="952500" cy="0"/>
          </a:xfrm>
          <a:prstGeom prst="straightConnector1">
            <a:avLst/>
          </a:prstGeom>
          <a:ln w="28575">
            <a:solidFill>
              <a:srgbClr val="7F8CFF"/>
            </a:solidFill>
            <a:prstDash val="solid"/>
            <a:tailEnd type="arrow" w="med" len="med"/>
          </a:ln>
        </p:spPr>
      </p:cxnSp>
      <p:cxnSp>
        <p:nvCxnSpPr>
          <p:cNvPr id="377" name="Straight Arrow Connector 316"/>
          <p:cNvCxnSpPr>
            <a:stCxn id="210" idx="2"/>
            <a:endCxn id="214" idx="0"/>
          </p:cNvCxnSpPr>
          <p:nvPr/>
        </p:nvCxnSpPr>
        <p:spPr>
          <a:xfrm flipH="1">
            <a:off x="10334625" y="5572125"/>
            <a:ext cx="4953000" cy="1095375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378" name="Straight Arrow Connector 317"/>
          <p:cNvCxnSpPr>
            <a:stCxn id="214" idx="3"/>
            <a:endCxn id="218" idx="1"/>
          </p:cNvCxnSpPr>
          <p:nvPr/>
        </p:nvCxnSpPr>
        <p:spPr>
          <a:xfrm>
            <a:off x="11239500" y="7167563"/>
            <a:ext cx="1047750" cy="0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6222471-8AAC-4915-B478-C280F8BB5FB8}"/>
              </a:ext>
            </a:extLst>
          </p:cNvPr>
          <p:cNvSpPr>
            <a:spLocks noGrp="1"/>
          </p:cNvSpPr>
          <p:nvPr/>
        </p:nvSpPr>
        <p:spPr>
          <a:xfrm>
            <a:off x="8858250" y="8096250"/>
            <a:ext cx="723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C9D0E8"/>
                </a:solidFill>
                <a:latin typeface="Inter"/>
                <a:ea typeface="Inter"/>
                <a:cs typeface="Inter"/>
              </a:rPr>
              <a:t>One source of truth for permissions, collaboration, and AI context.</a:t>
            </a:r>
          </a:p>
        </p:txBody>
      </p:sp>
    </p:spTree>
    <p:extLst>
      <p:ext uri="{BB962C8B-B14F-4D97-AF65-F5344CB8AC3E}">
        <p14:creationId xmlns:p14="http://schemas.microsoft.com/office/powerpoint/2010/main" val="126900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3A4CA3D-989A-416A-BF80-C34AD3A0F948}"/>
              </a:ext>
            </a:extLst>
          </p:cNvPr>
          <p:cNvSpPr>
            <a:spLocks noGrp="1"/>
          </p:cNvSpPr>
          <p:nvPr/>
        </p:nvSpPr>
        <p:spPr>
          <a:xfrm>
            <a:off x="1333500" y="11430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15 — ARCHITECTURE IN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6ABF48-68D7-4B49-8857-79DAB45C2AB3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13811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5400" b="1">
                <a:solidFill>
                  <a:srgbClr val="EEF1FB"/>
                </a:solidFill>
                <a:latin typeface="Space Grotesk"/>
                <a:ea typeface="Space Grotesk"/>
                <a:cs typeface="Space Grotesk"/>
              </a:defRPr>
            </a:pPr>
            <a:r>
              <a:rPr sz="5400" b="1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One Request. Clear Responsibilities.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D25D81-FE78-41C2-9B47-15D975726F51}"/>
              </a:ext>
            </a:extLst>
          </p:cNvPr>
          <p:cNvSpPr>
            <a:spLocks noGrp="1"/>
          </p:cNvSpPr>
          <p:nvPr/>
        </p:nvSpPr>
        <p:spPr>
          <a:xfrm>
            <a:off x="1333500" y="2952750"/>
            <a:ext cx="1428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0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C9D0E8"/>
                </a:solidFill>
                <a:latin typeface="Inter"/>
                <a:ea typeface="Inter"/>
                <a:cs typeface="Inter"/>
              </a:rPr>
              <a:t>From a student action to a grounded AI response — every step is isolated, testable, and observable.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CC1934-36A9-4DE8-9188-EEE136406117}"/>
              </a:ext>
            </a:extLst>
          </p:cNvPr>
          <p:cNvSpPr>
            <a:spLocks noGrp="1"/>
          </p:cNvSpPr>
          <p:nvPr/>
        </p:nvSpPr>
        <p:spPr>
          <a:xfrm>
            <a:off x="1238250" y="4333875"/>
            <a:ext cx="2095500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6D7B0-F3E0-4A0C-B86B-ED416C4CB533}"/>
              </a:ext>
            </a:extLst>
          </p:cNvPr>
          <p:cNvSpPr>
            <a:spLocks noGrp="1"/>
          </p:cNvSpPr>
          <p:nvPr/>
        </p:nvSpPr>
        <p:spPr>
          <a:xfrm>
            <a:off x="1409700" y="4505325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A3B8C-3267-4587-B4CF-FC088FC92E37}"/>
              </a:ext>
            </a:extLst>
          </p:cNvPr>
          <p:cNvSpPr>
            <a:spLocks noGrp="1"/>
          </p:cNvSpPr>
          <p:nvPr/>
        </p:nvSpPr>
        <p:spPr>
          <a:xfrm>
            <a:off x="1409700" y="4695825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Student UI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B0736-F1BA-48AA-9675-B488ED6E8E64}"/>
              </a:ext>
            </a:extLst>
          </p:cNvPr>
          <p:cNvSpPr>
            <a:spLocks noGrp="1"/>
          </p:cNvSpPr>
          <p:nvPr/>
        </p:nvSpPr>
        <p:spPr>
          <a:xfrm>
            <a:off x="1409700" y="5153025"/>
            <a:ext cx="175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upload or question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CD15CC-A26B-49AA-9E0D-EFCEAF2CA064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190750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13A253-E3DB-405F-B3B3-7E90E9C5D684}"/>
              </a:ext>
            </a:extLst>
          </p:cNvPr>
          <p:cNvSpPr>
            <a:spLocks noGrp="1"/>
          </p:cNvSpPr>
          <p:nvPr/>
        </p:nvSpPr>
        <p:spPr>
          <a:xfrm>
            <a:off x="4076700" y="4505325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91593-EC60-4FDA-812B-9198CB62F89A}"/>
              </a:ext>
            </a:extLst>
          </p:cNvPr>
          <p:cNvSpPr>
            <a:spLocks noGrp="1"/>
          </p:cNvSpPr>
          <p:nvPr/>
        </p:nvSpPr>
        <p:spPr>
          <a:xfrm>
            <a:off x="4076700" y="4695825"/>
            <a:ext cx="1847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FastAPI router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7D4D4-8139-44CB-B1D4-AE5F94A038D6}"/>
              </a:ext>
            </a:extLst>
          </p:cNvPr>
          <p:cNvSpPr>
            <a:spLocks noGrp="1"/>
          </p:cNvSpPr>
          <p:nvPr/>
        </p:nvSpPr>
        <p:spPr>
          <a:xfrm>
            <a:off x="4076700" y="5153025"/>
            <a:ext cx="1847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validate + authorize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7ABE5F-75FA-4FEB-AC39-A0B93D9083ED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2333625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440EFF-FA09-4100-B2DB-954DC699C546}"/>
              </a:ext>
            </a:extLst>
          </p:cNvPr>
          <p:cNvSpPr>
            <a:spLocks noGrp="1"/>
          </p:cNvSpPr>
          <p:nvPr/>
        </p:nvSpPr>
        <p:spPr>
          <a:xfrm>
            <a:off x="6838950" y="4505325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21FED2-0FBE-4041-920A-1E08E1B4DF21}"/>
              </a:ext>
            </a:extLst>
          </p:cNvPr>
          <p:cNvSpPr>
            <a:spLocks noGrp="1"/>
          </p:cNvSpPr>
          <p:nvPr/>
        </p:nvSpPr>
        <p:spPr>
          <a:xfrm>
            <a:off x="6838950" y="469582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Domain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46E2F3-8E76-4237-A543-DDB9DFC7AD73}"/>
              </a:ext>
            </a:extLst>
          </p:cNvPr>
          <p:cNvSpPr>
            <a:spLocks noGrp="1"/>
          </p:cNvSpPr>
          <p:nvPr/>
        </p:nvSpPr>
        <p:spPr>
          <a:xfrm>
            <a:off x="6838950" y="5153025"/>
            <a:ext cx="19907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business rules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7E4FF69-C70F-429C-B942-8A5A90C38D09}"/>
              </a:ext>
            </a:extLst>
          </p:cNvPr>
          <p:cNvSpPr>
            <a:spLocks noGrp="1"/>
          </p:cNvSpPr>
          <p:nvPr/>
        </p:nvSpPr>
        <p:spPr>
          <a:xfrm>
            <a:off x="9572625" y="4333875"/>
            <a:ext cx="2333625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FF6F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E6932-A253-40DE-BD9A-21BB0D1DDFA2}"/>
              </a:ext>
            </a:extLst>
          </p:cNvPr>
          <p:cNvSpPr>
            <a:spLocks noGrp="1"/>
          </p:cNvSpPr>
          <p:nvPr/>
        </p:nvSpPr>
        <p:spPr>
          <a:xfrm>
            <a:off x="9744075" y="4505325"/>
            <a:ext cx="533400" cy="47625"/>
          </a:xfrm>
          <a:prstGeom prst="rect">
            <a:avLst/>
          </a:prstGeom>
          <a:solidFill>
            <a:srgbClr val="FF6FAE"/>
          </a:solidFill>
          <a:ln w="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C4FD3-9D6E-4AC5-82C9-5AAC2A83D9FC}"/>
              </a:ext>
            </a:extLst>
          </p:cNvPr>
          <p:cNvSpPr>
            <a:spLocks noGrp="1"/>
          </p:cNvSpPr>
          <p:nvPr/>
        </p:nvSpPr>
        <p:spPr>
          <a:xfrm>
            <a:off x="9744075" y="469582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Worker / RAG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20349-E92E-4868-89B4-9F0DC11EAB0D}"/>
              </a:ext>
            </a:extLst>
          </p:cNvPr>
          <p:cNvSpPr>
            <a:spLocks noGrp="1"/>
          </p:cNvSpPr>
          <p:nvPr/>
        </p:nvSpPr>
        <p:spPr>
          <a:xfrm>
            <a:off x="9744075" y="5153025"/>
            <a:ext cx="19907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background + retrieval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D7A688-FCDA-400E-AC48-E6AF201EF277}"/>
              </a:ext>
            </a:extLst>
          </p:cNvPr>
          <p:cNvSpPr>
            <a:spLocks noGrp="1"/>
          </p:cNvSpPr>
          <p:nvPr/>
        </p:nvSpPr>
        <p:spPr>
          <a:xfrm>
            <a:off x="12477750" y="4333875"/>
            <a:ext cx="2333625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C21C7-5AB3-4CEC-BE46-93D487D293C5}"/>
              </a:ext>
            </a:extLst>
          </p:cNvPr>
          <p:cNvSpPr>
            <a:spLocks noGrp="1"/>
          </p:cNvSpPr>
          <p:nvPr/>
        </p:nvSpPr>
        <p:spPr>
          <a:xfrm>
            <a:off x="12649200" y="4505325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465690-0866-4514-B50F-05FE4D33E9F1}"/>
              </a:ext>
            </a:extLst>
          </p:cNvPr>
          <p:cNvSpPr>
            <a:spLocks noGrp="1"/>
          </p:cNvSpPr>
          <p:nvPr/>
        </p:nvSpPr>
        <p:spPr>
          <a:xfrm>
            <a:off x="12649200" y="469582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Data +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CAF3B0-C9A0-4C5B-A0C5-DB0C04FF3C55}"/>
              </a:ext>
            </a:extLst>
          </p:cNvPr>
          <p:cNvSpPr>
            <a:spLocks noGrp="1"/>
          </p:cNvSpPr>
          <p:nvPr/>
        </p:nvSpPr>
        <p:spPr>
          <a:xfrm>
            <a:off x="12649200" y="5153025"/>
            <a:ext cx="19907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PostgreSQL · Llama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5F52F7E-E2D4-4B6A-B92E-AE26947F3D80}"/>
              </a:ext>
            </a:extLst>
          </p:cNvPr>
          <p:cNvSpPr>
            <a:spLocks noGrp="1"/>
          </p:cNvSpPr>
          <p:nvPr/>
        </p:nvSpPr>
        <p:spPr>
          <a:xfrm>
            <a:off x="15382875" y="4333875"/>
            <a:ext cx="2095500" cy="1285875"/>
          </a:xfrm>
          <a:prstGeom prst="roundRect">
            <a:avLst>
              <a:gd name="adj" fmla="val 8889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B34B76-5B8E-4249-82AF-07B45B0DE5DC}"/>
              </a:ext>
            </a:extLst>
          </p:cNvPr>
          <p:cNvSpPr>
            <a:spLocks noGrp="1"/>
          </p:cNvSpPr>
          <p:nvPr/>
        </p:nvSpPr>
        <p:spPr>
          <a:xfrm>
            <a:off x="15554325" y="4505325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4D83FB-BD3D-4D6F-A6E5-FA8BEB37C837}"/>
              </a:ext>
            </a:extLst>
          </p:cNvPr>
          <p:cNvSpPr>
            <a:spLocks noGrp="1"/>
          </p:cNvSpPr>
          <p:nvPr/>
        </p:nvSpPr>
        <p:spPr>
          <a:xfrm>
            <a:off x="15554325" y="4695825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9857" lnSpcReduction="10000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Grounded response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4BF70C-1E69-4937-8F5C-A9FABB07EDF5}"/>
              </a:ext>
            </a:extLst>
          </p:cNvPr>
          <p:cNvSpPr>
            <a:spLocks noGrp="1"/>
          </p:cNvSpPr>
          <p:nvPr/>
        </p:nvSpPr>
        <p:spPr>
          <a:xfrm>
            <a:off x="15554325" y="5153025"/>
            <a:ext cx="175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streamed to user</a:t>
            </a:r>
          </a:p>
        </p:txBody>
      </p:sp>
      <p:cxnSp>
        <p:nvCxnSpPr>
          <p:cNvPr id="202" name="Straight Arrow Connector 137"/>
          <p:cNvCxnSpPr>
            <a:stCxn id="4" idx="3"/>
            <a:endCxn id="8" idx="1"/>
          </p:cNvCxnSpPr>
          <p:nvPr/>
        </p:nvCxnSpPr>
        <p:spPr>
          <a:xfrm>
            <a:off x="3333750" y="4976813"/>
            <a:ext cx="571500" cy="0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203" name="Straight Arrow Connector 138"/>
          <p:cNvCxnSpPr>
            <a:stCxn id="8" idx="3"/>
            <a:endCxn id="12" idx="1"/>
          </p:cNvCxnSpPr>
          <p:nvPr/>
        </p:nvCxnSpPr>
        <p:spPr>
          <a:xfrm>
            <a:off x="6096000" y="4976813"/>
            <a:ext cx="571500" cy="0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204" name="Straight Arrow Connector 139"/>
          <p:cNvCxnSpPr>
            <a:stCxn id="12" idx="3"/>
            <a:endCxn id="16" idx="1"/>
          </p:cNvCxnSpPr>
          <p:nvPr/>
        </p:nvCxnSpPr>
        <p:spPr>
          <a:xfrm>
            <a:off x="9001125" y="4976813"/>
            <a:ext cx="571500" cy="0"/>
          </a:xfrm>
          <a:prstGeom prst="straightConnector1">
            <a:avLst/>
          </a:prstGeom>
          <a:ln w="28575">
            <a:solidFill>
              <a:srgbClr val="7F8CFF"/>
            </a:solidFill>
            <a:prstDash val="solid"/>
            <a:tailEnd type="arrow" w="med" len="med"/>
          </a:ln>
        </p:spPr>
      </p:cxnSp>
      <p:cxnSp>
        <p:nvCxnSpPr>
          <p:cNvPr id="205" name="Straight Arrow Connector 140"/>
          <p:cNvCxnSpPr>
            <a:stCxn id="16" idx="3"/>
            <a:endCxn id="20" idx="1"/>
          </p:cNvCxnSpPr>
          <p:nvPr/>
        </p:nvCxnSpPr>
        <p:spPr>
          <a:xfrm>
            <a:off x="11906250" y="4976813"/>
            <a:ext cx="571500" cy="0"/>
          </a:xfrm>
          <a:prstGeom prst="straightConnector1">
            <a:avLst/>
          </a:prstGeom>
          <a:ln w="28575">
            <a:solidFill>
              <a:srgbClr val="FF6FAE"/>
            </a:solidFill>
            <a:prstDash val="solid"/>
            <a:tailEnd type="arrow" w="med" len="med"/>
          </a:ln>
        </p:spPr>
      </p:cxnSp>
      <p:cxnSp>
        <p:nvCxnSpPr>
          <p:cNvPr id="206" name="Straight Arrow Connector 141"/>
          <p:cNvCxnSpPr>
            <a:stCxn id="20" idx="3"/>
            <a:endCxn id="24" idx="1"/>
          </p:cNvCxnSpPr>
          <p:nvPr/>
        </p:nvCxnSpPr>
        <p:spPr>
          <a:xfrm>
            <a:off x="14811375" y="4976813"/>
            <a:ext cx="571500" cy="0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AE89200-25E9-411C-8894-696EE41E09F2}"/>
              </a:ext>
            </a:extLst>
          </p:cNvPr>
          <p:cNvSpPr>
            <a:spLocks noGrp="1"/>
          </p:cNvSpPr>
          <p:nvPr/>
        </p:nvSpPr>
        <p:spPr>
          <a:xfrm>
            <a:off x="1333500" y="6762750"/>
            <a:ext cx="4762500" cy="1952625"/>
          </a:xfrm>
          <a:prstGeom prst="roundRect">
            <a:avLst>
              <a:gd name="adj" fmla="val 5854"/>
            </a:avLst>
          </a:prstGeom>
          <a:solidFill>
            <a:srgbClr val="151A36"/>
          </a:solidFill>
          <a:ln w="1905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F71799-9838-40E4-AAB1-C28FE6E6300E}"/>
              </a:ext>
            </a:extLst>
          </p:cNvPr>
          <p:cNvSpPr>
            <a:spLocks noGrp="1"/>
          </p:cNvSpPr>
          <p:nvPr/>
        </p:nvSpPr>
        <p:spPr>
          <a:xfrm>
            <a:off x="1600200" y="7029450"/>
            <a:ext cx="5715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C67B90-BC1E-4C32-B037-81F3CC697499}"/>
              </a:ext>
            </a:extLst>
          </p:cNvPr>
          <p:cNvSpPr>
            <a:spLocks noGrp="1"/>
          </p:cNvSpPr>
          <p:nvPr/>
        </p:nvSpPr>
        <p:spPr>
          <a:xfrm>
            <a:off x="1600200" y="72866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Clear ownership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F330DF-2B72-423D-BBB4-3960F0A49899}"/>
              </a:ext>
            </a:extLst>
          </p:cNvPr>
          <p:cNvSpPr>
            <a:spLocks noGrp="1"/>
          </p:cNvSpPr>
          <p:nvPr/>
        </p:nvSpPr>
        <p:spPr>
          <a:xfrm>
            <a:off x="1600200" y="7762875"/>
            <a:ext cx="4095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C9D0E8"/>
                </a:solidFill>
                <a:latin typeface="Inter"/>
                <a:ea typeface="Inter"/>
                <a:cs typeface="Inter"/>
              </a:rPr>
              <a:t>Routers, domains, workers and AI components each have one responsibility.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5CC97E2-DE7B-4170-8FAB-16F530C44A7A}"/>
              </a:ext>
            </a:extLst>
          </p:cNvPr>
          <p:cNvSpPr>
            <a:spLocks noGrp="1"/>
          </p:cNvSpPr>
          <p:nvPr/>
        </p:nvSpPr>
        <p:spPr>
          <a:xfrm>
            <a:off x="6667500" y="6762750"/>
            <a:ext cx="4762500" cy="1952625"/>
          </a:xfrm>
          <a:prstGeom prst="roundRect">
            <a:avLst>
              <a:gd name="adj" fmla="val 5854"/>
            </a:avLst>
          </a:prstGeom>
          <a:solidFill>
            <a:srgbClr val="151A36"/>
          </a:solidFill>
          <a:ln w="1905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71AA0B-9C85-4DEB-A0A2-A3298049CEF1}"/>
              </a:ext>
            </a:extLst>
          </p:cNvPr>
          <p:cNvSpPr>
            <a:spLocks noGrp="1"/>
          </p:cNvSpPr>
          <p:nvPr/>
        </p:nvSpPr>
        <p:spPr>
          <a:xfrm>
            <a:off x="6934200" y="7029450"/>
            <a:ext cx="571500" cy="47625"/>
          </a:xfrm>
          <a:prstGeom prst="rect">
            <a:avLst/>
          </a:prstGeom>
          <a:solidFill>
            <a:srgbClr val="FF6FAE"/>
          </a:solidFill>
          <a:ln w="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A51968-2B19-474A-9B7B-B46CB7F6233E}"/>
              </a:ext>
            </a:extLst>
          </p:cNvPr>
          <p:cNvSpPr>
            <a:spLocks noGrp="1"/>
          </p:cNvSpPr>
          <p:nvPr/>
        </p:nvSpPr>
        <p:spPr>
          <a:xfrm>
            <a:off x="6934200" y="72866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Safe background 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EF1DC-6BD9-44EA-AD2D-D342E81784AE}"/>
              </a:ext>
            </a:extLst>
          </p:cNvPr>
          <p:cNvSpPr>
            <a:spLocks noGrp="1"/>
          </p:cNvSpPr>
          <p:nvPr/>
        </p:nvSpPr>
        <p:spPr>
          <a:xfrm>
            <a:off x="6934200" y="7762875"/>
            <a:ext cx="4095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C9D0E8"/>
                </a:solidFill>
                <a:latin typeface="Inter"/>
                <a:ea typeface="Inter"/>
                <a:cs typeface="Inter"/>
              </a:rPr>
              <a:t>Long-running embedding and generation never block live collaboration.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6D22253-AB12-46F6-A5BD-67A439FE7FF0}"/>
              </a:ext>
            </a:extLst>
          </p:cNvPr>
          <p:cNvSpPr>
            <a:spLocks noGrp="1"/>
          </p:cNvSpPr>
          <p:nvPr/>
        </p:nvSpPr>
        <p:spPr>
          <a:xfrm>
            <a:off x="12001500" y="6762750"/>
            <a:ext cx="4762500" cy="1952625"/>
          </a:xfrm>
          <a:prstGeom prst="roundRect">
            <a:avLst>
              <a:gd name="adj" fmla="val 5854"/>
            </a:avLst>
          </a:prstGeom>
          <a:solidFill>
            <a:srgbClr val="151A36"/>
          </a:solidFill>
          <a:ln w="1905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22CF1A-8A2D-4D23-94FF-CA6E5F3AFAAF}"/>
              </a:ext>
            </a:extLst>
          </p:cNvPr>
          <p:cNvSpPr>
            <a:spLocks noGrp="1"/>
          </p:cNvSpPr>
          <p:nvPr/>
        </p:nvSpPr>
        <p:spPr>
          <a:xfrm>
            <a:off x="12268200" y="7029450"/>
            <a:ext cx="5715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17DE54-3CD8-4A6F-8AF9-5EBABA53B22B}"/>
              </a:ext>
            </a:extLst>
          </p:cNvPr>
          <p:cNvSpPr>
            <a:spLocks noGrp="1"/>
          </p:cNvSpPr>
          <p:nvPr/>
        </p:nvSpPr>
        <p:spPr>
          <a:xfrm>
            <a:off x="12268200" y="72866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Local, auditable data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F84D2E-8FBC-4EF7-BCE0-F9085839539E}"/>
              </a:ext>
            </a:extLst>
          </p:cNvPr>
          <p:cNvSpPr>
            <a:spLocks noGrp="1"/>
          </p:cNvSpPr>
          <p:nvPr/>
        </p:nvSpPr>
        <p:spPr>
          <a:xfrm>
            <a:off x="12268200" y="7762875"/>
            <a:ext cx="4095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C9D0E8"/>
                </a:solidFill>
                <a:latin typeface="Inter"/>
                <a:ea typeface="Inter"/>
                <a:cs typeface="Inter"/>
              </a:rPr>
              <a:t>Permissions and context stay inside the project’s controlled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8836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>
            <a:extLst>
              <a:ext uri="{FF2B5EF4-FFF2-40B4-BE49-F238E27FC236}">
                <a16:creationId xmlns:a16="http://schemas.microsoft.com/office/drawing/2014/main" id="{9388ECDC-2039-48F1-8301-7D5922784ECC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1</a:t>
            </a:r>
            <a:r>
              <a:rPr lang="en-US" sz="1950" b="1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6</a:t>
            </a:r>
            <a:r>
              <a:rPr sz="195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THE RELATIONAL BACKBONE</a:t>
            </a:r>
          </a:p>
        </p:txBody>
      </p:sp>
      <p:sp>
        <p:nvSpPr>
          <p:cNvPr id="208" name="Google Shape;208;p18">
            <a:extLst>
              <a:ext uri="{FF2B5EF4-FFF2-40B4-BE49-F238E27FC236}">
                <a16:creationId xmlns:a16="http://schemas.microsoft.com/office/drawing/2014/main" id="{E8E2F753-2BA8-4377-8E86-3D9C7046C9FC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5700"/>
              <a:buFont typeface="Space Grotesk"/>
              <a:buNone/>
            </a:pPr>
            <a:r>
              <a:rPr sz="57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Complex Data Lifecycles</a:t>
            </a:r>
          </a:p>
        </p:txBody>
      </p:sp>
      <p:sp>
        <p:nvSpPr>
          <p:cNvPr id="209" name="Google Shape;209;p18">
            <a:extLst>
              <a:ext uri="{FF2B5EF4-FFF2-40B4-BE49-F238E27FC236}">
                <a16:creationId xmlns:a16="http://schemas.microsoft.com/office/drawing/2014/main" id="{51278D2C-9F15-414E-91F5-237EB6DEAD51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An advanced PostgreSQL schema mapping user permissions, channel memberships, and persistent state management.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5B346677-60B4-4F57-9595-BD1ADCF837F0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solidFill>
            <a:srgbClr val="10152E"/>
          </a:solidFill>
          <a:ln w="19050">
            <a:solidFill>
              <a:srgbClr val="343C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D38197-57F6-4647-BC49-F5C5A06D3B18}"/>
              </a:ext>
            </a:extLst>
          </p:cNvPr>
          <p:cNvSpPr>
            <a:spLocks noGrp="1"/>
          </p:cNvSpPr>
          <p:nvPr/>
        </p:nvSpPr>
        <p:spPr>
          <a:xfrm>
            <a:off x="9763125" y="23336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LIFECYCLE, NOT JUST TABLES</a:t>
            </a:r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F9D26522-287D-45E8-9C9C-9ECAB029F639}"/>
              </a:ext>
            </a:extLst>
          </p:cNvPr>
          <p:cNvSpPr>
            <a:spLocks noGrp="1"/>
          </p:cNvSpPr>
          <p:nvPr/>
        </p:nvSpPr>
        <p:spPr>
          <a:xfrm>
            <a:off x="9810750" y="30003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E6BCA640-2ECA-44CE-88C2-0563F8FBBBE8}"/>
              </a:ext>
            </a:extLst>
          </p:cNvPr>
          <p:cNvSpPr>
            <a:spLocks noGrp="1"/>
          </p:cNvSpPr>
          <p:nvPr/>
        </p:nvSpPr>
        <p:spPr>
          <a:xfrm>
            <a:off x="9982200" y="3171825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37EAD03-E120-4586-A36C-CFB7B9042C1C}"/>
              </a:ext>
            </a:extLst>
          </p:cNvPr>
          <p:cNvSpPr>
            <a:spLocks noGrp="1"/>
          </p:cNvSpPr>
          <p:nvPr/>
        </p:nvSpPr>
        <p:spPr>
          <a:xfrm>
            <a:off x="9982200" y="336232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User joins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2AF9851-7208-4999-96C3-60B7D9044243}"/>
              </a:ext>
            </a:extLst>
          </p:cNvPr>
          <p:cNvSpPr>
            <a:spLocks noGrp="1"/>
          </p:cNvSpPr>
          <p:nvPr/>
        </p:nvSpPr>
        <p:spPr>
          <a:xfrm>
            <a:off x="9982200" y="3819525"/>
            <a:ext cx="1466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B1B03389-97CD-43A4-AD35-3E2556220054}"/>
              </a:ext>
            </a:extLst>
          </p:cNvPr>
          <p:cNvSpPr>
            <a:spLocks noGrp="1"/>
          </p:cNvSpPr>
          <p:nvPr/>
        </p:nvSpPr>
        <p:spPr>
          <a:xfrm>
            <a:off x="12215812" y="3001667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3B5A4EE-6742-4D9C-AC81-B87C6EAE23F9}"/>
              </a:ext>
            </a:extLst>
          </p:cNvPr>
          <p:cNvSpPr>
            <a:spLocks noGrp="1"/>
          </p:cNvSpPr>
          <p:nvPr/>
        </p:nvSpPr>
        <p:spPr>
          <a:xfrm>
            <a:off x="12496800" y="3196929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B076D04-9BAB-4EB6-8A70-A36A6AEC34F2}"/>
              </a:ext>
            </a:extLst>
          </p:cNvPr>
          <p:cNvSpPr>
            <a:spLocks noGrp="1"/>
          </p:cNvSpPr>
          <p:nvPr/>
        </p:nvSpPr>
        <p:spPr>
          <a:xfrm>
            <a:off x="12496800" y="3311229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 dirty="0">
                <a:solidFill>
                  <a:srgbClr val="EEF1FB"/>
                </a:solidFill>
                <a:latin typeface="Inter"/>
                <a:ea typeface="Inter"/>
                <a:cs typeface="Inter"/>
              </a:rPr>
              <a:t>Membership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0506D432-FBE8-4136-B742-96DEDEC8B4AE}"/>
              </a:ext>
            </a:extLst>
          </p:cNvPr>
          <p:cNvSpPr>
            <a:spLocks noGrp="1"/>
          </p:cNvSpPr>
          <p:nvPr/>
        </p:nvSpPr>
        <p:spPr>
          <a:xfrm>
            <a:off x="12492213" y="3786659"/>
            <a:ext cx="1752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 dirty="0">
                <a:solidFill>
                  <a:srgbClr val="8D96B8"/>
                </a:solidFill>
                <a:latin typeface="Inter"/>
                <a:ea typeface="Inter"/>
                <a:cs typeface="Inter"/>
              </a:rPr>
              <a:t>role</a:t>
            </a: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7D787F32-B3A4-49F3-A498-54D27E4AF60F}"/>
              </a:ext>
            </a:extLst>
          </p:cNvPr>
          <p:cNvSpPr>
            <a:spLocks noGrp="1"/>
          </p:cNvSpPr>
          <p:nvPr/>
        </p:nvSpPr>
        <p:spPr>
          <a:xfrm>
            <a:off x="14906625" y="30003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F3ED27E-4AD4-4585-AD04-4D3C886ADE90}"/>
              </a:ext>
            </a:extLst>
          </p:cNvPr>
          <p:cNvSpPr>
            <a:spLocks noGrp="1"/>
          </p:cNvSpPr>
          <p:nvPr/>
        </p:nvSpPr>
        <p:spPr>
          <a:xfrm>
            <a:off x="15078075" y="3171825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E5741009-23AE-4FCD-8651-4AC989668830}"/>
              </a:ext>
            </a:extLst>
          </p:cNvPr>
          <p:cNvSpPr>
            <a:spLocks noGrp="1"/>
          </p:cNvSpPr>
          <p:nvPr/>
        </p:nvSpPr>
        <p:spPr>
          <a:xfrm>
            <a:off x="15078075" y="336232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Collaborate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45E0BB2-D998-40FB-B04A-D00E05E822A0}"/>
              </a:ext>
            </a:extLst>
          </p:cNvPr>
          <p:cNvSpPr>
            <a:spLocks noGrp="1"/>
          </p:cNvSpPr>
          <p:nvPr/>
        </p:nvSpPr>
        <p:spPr>
          <a:xfrm>
            <a:off x="15078075" y="3819525"/>
            <a:ext cx="1466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lang="en-US" sz="1425" dirty="0">
                <a:solidFill>
                  <a:srgbClr val="8D96B8"/>
                </a:solidFill>
                <a:latin typeface="Inter"/>
                <a:ea typeface="Inter"/>
                <a:cs typeface="Inter"/>
              </a:rPr>
              <a:t>group + </a:t>
            </a:r>
            <a:r>
              <a:rPr sz="1425" b="0" dirty="0">
                <a:solidFill>
                  <a:srgbClr val="8D96B8"/>
                </a:solidFill>
                <a:latin typeface="Inter"/>
                <a:ea typeface="Inter"/>
                <a:cs typeface="Inter"/>
              </a:rPr>
              <a:t>channel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51ADA9F9-1601-47A2-9CA9-FA39DD5CDB78}"/>
              </a:ext>
            </a:extLst>
          </p:cNvPr>
          <p:cNvSpPr>
            <a:spLocks noGrp="1"/>
          </p:cNvSpPr>
          <p:nvPr/>
        </p:nvSpPr>
        <p:spPr>
          <a:xfrm>
            <a:off x="9810750" y="5334000"/>
            <a:ext cx="2000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DBE50A4A-994F-4982-B886-A74EBA8E8170}"/>
              </a:ext>
            </a:extLst>
          </p:cNvPr>
          <p:cNvSpPr>
            <a:spLocks noGrp="1"/>
          </p:cNvSpPr>
          <p:nvPr/>
        </p:nvSpPr>
        <p:spPr>
          <a:xfrm>
            <a:off x="9982200" y="5505450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EE539A7-1298-4800-BFAE-27748E3B7488}"/>
              </a:ext>
            </a:extLst>
          </p:cNvPr>
          <p:cNvSpPr>
            <a:spLocks noGrp="1"/>
          </p:cNvSpPr>
          <p:nvPr/>
        </p:nvSpPr>
        <p:spPr>
          <a:xfrm>
            <a:off x="9982200" y="5695950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Persist state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C316D04-ACD4-4F97-975A-95F715BC42A9}"/>
              </a:ext>
            </a:extLst>
          </p:cNvPr>
          <p:cNvSpPr>
            <a:spLocks noGrp="1"/>
          </p:cNvSpPr>
          <p:nvPr/>
        </p:nvSpPr>
        <p:spPr>
          <a:xfrm>
            <a:off x="9982200" y="6153150"/>
            <a:ext cx="1657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message + file</a:t>
            </a:r>
          </a:p>
        </p:txBody>
      </p:sp>
      <p:sp>
        <p:nvSpPr>
          <p:cNvPr id="228" name="Rounded Rectangle 227">
            <a:extLst>
              <a:ext uri="{FF2B5EF4-FFF2-40B4-BE49-F238E27FC236}">
                <a16:creationId xmlns:a16="http://schemas.microsoft.com/office/drawing/2014/main" id="{7BCB2AB0-ACD1-4A25-ADF0-331FFA628808}"/>
              </a:ext>
            </a:extLst>
          </p:cNvPr>
          <p:cNvSpPr>
            <a:spLocks noGrp="1"/>
          </p:cNvSpPr>
          <p:nvPr/>
        </p:nvSpPr>
        <p:spPr>
          <a:xfrm>
            <a:off x="12492213" y="5336272"/>
            <a:ext cx="21907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4EDA085-9A36-4A4D-A41F-576E07804D60}"/>
              </a:ext>
            </a:extLst>
          </p:cNvPr>
          <p:cNvSpPr>
            <a:spLocks noGrp="1"/>
          </p:cNvSpPr>
          <p:nvPr/>
        </p:nvSpPr>
        <p:spPr>
          <a:xfrm>
            <a:off x="12663663" y="5507722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DE8F3D2-0EF4-4B47-96FF-77EBBBB40C1E}"/>
              </a:ext>
            </a:extLst>
          </p:cNvPr>
          <p:cNvSpPr>
            <a:spLocks noGrp="1"/>
          </p:cNvSpPr>
          <p:nvPr/>
        </p:nvSpPr>
        <p:spPr>
          <a:xfrm>
            <a:off x="12663663" y="5698222"/>
            <a:ext cx="1847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Process safely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7895E2B-65EE-498D-90E7-FF961D76B125}"/>
              </a:ext>
            </a:extLst>
          </p:cNvPr>
          <p:cNvSpPr>
            <a:spLocks noGrp="1"/>
          </p:cNvSpPr>
          <p:nvPr/>
        </p:nvSpPr>
        <p:spPr>
          <a:xfrm>
            <a:off x="12663663" y="6155422"/>
            <a:ext cx="1847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worker + RAG</a:t>
            </a: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AC81261E-ADF1-4367-B45B-3686658C21DA}"/>
              </a:ext>
            </a:extLst>
          </p:cNvPr>
          <p:cNvSpPr>
            <a:spLocks noGrp="1"/>
          </p:cNvSpPr>
          <p:nvPr/>
        </p:nvSpPr>
        <p:spPr>
          <a:xfrm>
            <a:off x="15240000" y="5334000"/>
            <a:ext cx="152400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6F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98FCE63-B722-48E2-91D3-3EDA0865357D}"/>
              </a:ext>
            </a:extLst>
          </p:cNvPr>
          <p:cNvSpPr>
            <a:spLocks noGrp="1"/>
          </p:cNvSpPr>
          <p:nvPr/>
        </p:nvSpPr>
        <p:spPr>
          <a:xfrm>
            <a:off x="15411450" y="5505450"/>
            <a:ext cx="533400" cy="47625"/>
          </a:xfrm>
          <a:prstGeom prst="rect">
            <a:avLst/>
          </a:prstGeom>
          <a:solidFill>
            <a:srgbClr val="FF6FAE"/>
          </a:solidFill>
          <a:ln w="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FBFD2011-AB94-44A2-98D0-D797641C0A41}"/>
              </a:ext>
            </a:extLst>
          </p:cNvPr>
          <p:cNvSpPr>
            <a:spLocks noGrp="1"/>
          </p:cNvSpPr>
          <p:nvPr/>
        </p:nvSpPr>
        <p:spPr>
          <a:xfrm>
            <a:off x="15411450" y="5695950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024" lnSpcReduction="10000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Audit + notify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0D2950C5-D43F-4C10-A666-C8868CDF4C28}"/>
              </a:ext>
            </a:extLst>
          </p:cNvPr>
          <p:cNvSpPr>
            <a:spLocks noGrp="1"/>
          </p:cNvSpPr>
          <p:nvPr/>
        </p:nvSpPr>
        <p:spPr>
          <a:xfrm>
            <a:off x="15411450" y="6153150"/>
            <a:ext cx="11811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history</a:t>
            </a:r>
          </a:p>
        </p:txBody>
      </p:sp>
      <p:cxnSp>
        <p:nvCxnSpPr>
          <p:cNvPr id="407" name="Straight Arrow Connector 338"/>
          <p:cNvCxnSpPr>
            <a:stCxn id="212" idx="3"/>
            <a:endCxn id="216" idx="1"/>
          </p:cNvCxnSpPr>
          <p:nvPr/>
        </p:nvCxnSpPr>
        <p:spPr>
          <a:xfrm>
            <a:off x="11620500" y="3524250"/>
            <a:ext cx="595312" cy="1292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408" name="Straight Arrow Connector 339"/>
          <p:cNvCxnSpPr>
            <a:stCxn id="216" idx="3"/>
            <a:endCxn id="220" idx="1"/>
          </p:cNvCxnSpPr>
          <p:nvPr/>
        </p:nvCxnSpPr>
        <p:spPr>
          <a:xfrm flipV="1">
            <a:off x="14311312" y="3524250"/>
            <a:ext cx="595313" cy="1292"/>
          </a:xfrm>
          <a:prstGeom prst="straightConnector1">
            <a:avLst/>
          </a:prstGeom>
          <a:ln w="28575">
            <a:solidFill>
              <a:srgbClr val="7F8CFF"/>
            </a:solidFill>
            <a:prstDash val="solid"/>
            <a:tailEnd type="arrow" w="med" len="med"/>
          </a:ln>
        </p:spPr>
      </p:cxnSp>
      <p:cxnSp>
        <p:nvCxnSpPr>
          <p:cNvPr id="409" name="Straight Arrow Connector 340"/>
          <p:cNvCxnSpPr>
            <a:stCxn id="220" idx="2"/>
            <a:endCxn id="224" idx="0"/>
          </p:cNvCxnSpPr>
          <p:nvPr/>
        </p:nvCxnSpPr>
        <p:spPr>
          <a:xfrm flipH="1">
            <a:off x="10810875" y="4048125"/>
            <a:ext cx="5000625" cy="1285875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410" name="Straight Arrow Connector 341"/>
          <p:cNvCxnSpPr>
            <a:stCxn id="224" idx="3"/>
            <a:endCxn id="228" idx="1"/>
          </p:cNvCxnSpPr>
          <p:nvPr/>
        </p:nvCxnSpPr>
        <p:spPr>
          <a:xfrm>
            <a:off x="11811000" y="5881688"/>
            <a:ext cx="681213" cy="2272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cxnSp>
        <p:nvCxnSpPr>
          <p:cNvPr id="411" name="Straight Arrow Connector 342"/>
          <p:cNvCxnSpPr>
            <a:stCxn id="228" idx="3"/>
            <a:endCxn id="232" idx="1"/>
          </p:cNvCxnSpPr>
          <p:nvPr/>
        </p:nvCxnSpPr>
        <p:spPr>
          <a:xfrm flipV="1">
            <a:off x="14682963" y="5881688"/>
            <a:ext cx="557037" cy="2272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C8FBCB3-456C-4C72-AD3F-541500593E8D}"/>
              </a:ext>
            </a:extLst>
          </p:cNvPr>
          <p:cNvSpPr>
            <a:spLocks noGrp="1"/>
          </p:cNvSpPr>
          <p:nvPr/>
        </p:nvSpPr>
        <p:spPr>
          <a:xfrm>
            <a:off x="9810750" y="714375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C9D0E8"/>
                </a:solidFill>
                <a:latin typeface="Inter"/>
                <a:ea typeface="Inter"/>
                <a:cs typeface="Inter"/>
              </a:rPr>
              <a:t>Permissions follow the data from creation to AI processing.</a:t>
            </a:r>
          </a:p>
        </p:txBody>
      </p:sp>
    </p:spTree>
    <p:extLst>
      <p:ext uri="{BB962C8B-B14F-4D97-AF65-F5344CB8AC3E}">
        <p14:creationId xmlns:p14="http://schemas.microsoft.com/office/powerpoint/2010/main" val="10437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>
            <a:extLst>
              <a:ext uri="{FF2B5EF4-FFF2-40B4-BE49-F238E27FC236}">
                <a16:creationId xmlns:a16="http://schemas.microsoft.com/office/drawing/2014/main" id="{9388ECDC-2039-48F1-8301-7D5922784ECC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1</a:t>
            </a:r>
            <a:r>
              <a:rPr lang="en-US" sz="1950" b="1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7</a:t>
            </a:r>
            <a:r>
              <a:rPr sz="1950" b="1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SAFE ATTACHMENT PIPELINE</a:t>
            </a:r>
          </a:p>
        </p:txBody>
      </p:sp>
      <p:sp>
        <p:nvSpPr>
          <p:cNvPr id="208" name="Google Shape;208;p18">
            <a:extLst>
              <a:ext uri="{FF2B5EF4-FFF2-40B4-BE49-F238E27FC236}">
                <a16:creationId xmlns:a16="http://schemas.microsoft.com/office/drawing/2014/main" id="{E8E2F753-2BA8-4377-8E86-3D9C7046C9FC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7620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5700"/>
              <a:buFont typeface="Space Grotesk"/>
              <a:buNone/>
            </a:pPr>
            <a:r>
              <a:rPr sz="57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Every Upload Has a Lifecycle</a:t>
            </a:r>
          </a:p>
        </p:txBody>
      </p:sp>
      <p:sp>
        <p:nvSpPr>
          <p:cNvPr id="209" name="Google Shape;209;p18">
            <a:extLst>
              <a:ext uri="{FF2B5EF4-FFF2-40B4-BE49-F238E27FC236}">
                <a16:creationId xmlns:a16="http://schemas.microsoft.com/office/drawing/2014/main" id="{51278D2C-9F15-414E-91F5-237EB6DEAD51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7048500" cy="20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850"/>
              <a:buFont typeface="Inter"/>
              <a:buNone/>
            </a:pPr>
            <a:r>
              <a:rPr sz="28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Files remain quarantined until validation and safety checks are complete — only approved content reaches channels and the AI knowledge base.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5B346677-60B4-4F57-9595-BD1ADCF837F0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7620000" cy="6096000"/>
          </a:xfrm>
          <a:prstGeom prst="roundRect">
            <a:avLst>
              <a:gd name="adj" fmla="val 2500"/>
            </a:avLst>
          </a:prstGeom>
          <a:solidFill>
            <a:srgbClr val="10152E"/>
          </a:solidFill>
          <a:ln w="19050">
            <a:solidFill>
              <a:srgbClr val="343C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D38197-57F6-4647-BC49-F5C5A06D3B18}"/>
              </a:ext>
            </a:extLst>
          </p:cNvPr>
          <p:cNvSpPr>
            <a:spLocks noGrp="1"/>
          </p:cNvSpPr>
          <p:nvPr/>
        </p:nvSpPr>
        <p:spPr>
          <a:xfrm>
            <a:off x="9763125" y="23336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883"/>
          </a:bodyPr>
          <a:lstStyle/>
          <a:p>
            <a:pPr algn="l">
              <a:buNone/>
              <a:defRPr sz="1575" b="1">
                <a:solidFill>
                  <a:srgbClr val="7F8C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7F8CFF"/>
                </a:solidFill>
                <a:latin typeface="Inter"/>
                <a:ea typeface="Inter"/>
                <a:cs typeface="Inter"/>
              </a:rPr>
              <a:t>CONTROLLED FROM UPLOAD TO RETRIEVAL</a:t>
            </a:r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F9D26522-287D-45E8-9C9C-9ECAB029F639}"/>
              </a:ext>
            </a:extLst>
          </p:cNvPr>
          <p:cNvSpPr>
            <a:spLocks noGrp="1"/>
          </p:cNvSpPr>
          <p:nvPr/>
        </p:nvSpPr>
        <p:spPr>
          <a:xfrm>
            <a:off x="9810750" y="30003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4E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E6BCA640-2ECA-44CE-88C2-0563F8FBBBE8}"/>
              </a:ext>
            </a:extLst>
          </p:cNvPr>
          <p:cNvSpPr>
            <a:spLocks noGrp="1"/>
          </p:cNvSpPr>
          <p:nvPr/>
        </p:nvSpPr>
        <p:spPr>
          <a:xfrm>
            <a:off x="9982200" y="3171825"/>
            <a:ext cx="533400" cy="47625"/>
          </a:xfrm>
          <a:prstGeom prst="rect">
            <a:avLst/>
          </a:prstGeom>
          <a:solidFill>
            <a:srgbClr val="4E8CFF"/>
          </a:solidFill>
          <a:ln w="0">
            <a:solidFill>
              <a:srgbClr val="4E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37EAD03-E120-4586-A36C-CFB7B9042C1C}"/>
              </a:ext>
            </a:extLst>
          </p:cNvPr>
          <p:cNvSpPr>
            <a:spLocks noGrp="1"/>
          </p:cNvSpPr>
          <p:nvPr/>
        </p:nvSpPr>
        <p:spPr>
          <a:xfrm>
            <a:off x="9982200" y="336232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2AF9851-7208-4999-96C3-60B7D9044243}"/>
              </a:ext>
            </a:extLst>
          </p:cNvPr>
          <p:cNvSpPr>
            <a:spLocks noGrp="1"/>
          </p:cNvSpPr>
          <p:nvPr/>
        </p:nvSpPr>
        <p:spPr>
          <a:xfrm>
            <a:off x="9982200" y="3819525"/>
            <a:ext cx="1466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received</a:t>
            </a: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B1B03389-97CD-43A4-AD35-3E2556220054}"/>
              </a:ext>
            </a:extLst>
          </p:cNvPr>
          <p:cNvSpPr>
            <a:spLocks noGrp="1"/>
          </p:cNvSpPr>
          <p:nvPr/>
        </p:nvSpPr>
        <p:spPr>
          <a:xfrm>
            <a:off x="12215812" y="3000375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7F8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3B5A4EE-6742-4D9C-AC81-B87C6EAE23F9}"/>
              </a:ext>
            </a:extLst>
          </p:cNvPr>
          <p:cNvSpPr>
            <a:spLocks noGrp="1"/>
          </p:cNvSpPr>
          <p:nvPr/>
        </p:nvSpPr>
        <p:spPr>
          <a:xfrm>
            <a:off x="12387262" y="3171825"/>
            <a:ext cx="533400" cy="47625"/>
          </a:xfrm>
          <a:prstGeom prst="rect">
            <a:avLst/>
          </a:prstGeom>
          <a:solidFill>
            <a:srgbClr val="7F8CFF"/>
          </a:solidFill>
          <a:ln w="0">
            <a:solidFill>
              <a:srgbClr val="7F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B076D04-9BAB-4EB6-8A70-A36A6AEC34F2}"/>
              </a:ext>
            </a:extLst>
          </p:cNvPr>
          <p:cNvSpPr>
            <a:spLocks noGrp="1"/>
          </p:cNvSpPr>
          <p:nvPr/>
        </p:nvSpPr>
        <p:spPr>
          <a:xfrm>
            <a:off x="12387262" y="3362325"/>
            <a:ext cx="1752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Quarantine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0506D432-FBE8-4136-B742-96DEDEC8B4AE}"/>
              </a:ext>
            </a:extLst>
          </p:cNvPr>
          <p:cNvSpPr>
            <a:spLocks noGrp="1"/>
          </p:cNvSpPr>
          <p:nvPr/>
        </p:nvSpPr>
        <p:spPr>
          <a:xfrm>
            <a:off x="12387262" y="3819525"/>
            <a:ext cx="1752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isolated</a:t>
            </a: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7D787F32-B3A4-49F3-A498-54D27E4AF60F}"/>
              </a:ext>
            </a:extLst>
          </p:cNvPr>
          <p:cNvSpPr>
            <a:spLocks noGrp="1"/>
          </p:cNvSpPr>
          <p:nvPr/>
        </p:nvSpPr>
        <p:spPr>
          <a:xfrm>
            <a:off x="14906625" y="30003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1B2144"/>
          </a:solidFill>
          <a:ln w="28575">
            <a:solidFill>
              <a:srgbClr val="3DD6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F3ED27E-4AD4-4585-AD04-4D3C886ADE90}"/>
              </a:ext>
            </a:extLst>
          </p:cNvPr>
          <p:cNvSpPr>
            <a:spLocks noGrp="1"/>
          </p:cNvSpPr>
          <p:nvPr/>
        </p:nvSpPr>
        <p:spPr>
          <a:xfrm>
            <a:off x="15078075" y="3171825"/>
            <a:ext cx="533400" cy="47625"/>
          </a:xfrm>
          <a:prstGeom prst="rect">
            <a:avLst/>
          </a:prstGeom>
          <a:solidFill>
            <a:srgbClr val="3DD6C6"/>
          </a:solidFill>
          <a:ln w="0">
            <a:solidFill>
              <a:srgbClr val="3DD6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E5741009-23AE-4FCD-8651-4AC989668830}"/>
              </a:ext>
            </a:extLst>
          </p:cNvPr>
          <p:cNvSpPr>
            <a:spLocks noGrp="1"/>
          </p:cNvSpPr>
          <p:nvPr/>
        </p:nvSpPr>
        <p:spPr>
          <a:xfrm>
            <a:off x="15078075" y="3362325"/>
            <a:ext cx="1466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Safety scan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45E0BB2-D998-40FB-B04A-D00E05E822A0}"/>
              </a:ext>
            </a:extLst>
          </p:cNvPr>
          <p:cNvSpPr>
            <a:spLocks noGrp="1"/>
          </p:cNvSpPr>
          <p:nvPr/>
        </p:nvSpPr>
        <p:spPr>
          <a:xfrm>
            <a:off x="15078075" y="3819525"/>
            <a:ext cx="1466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132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validate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51ADA9F9-1601-47A2-9CA9-FA39DD5CDB78}"/>
              </a:ext>
            </a:extLst>
          </p:cNvPr>
          <p:cNvSpPr>
            <a:spLocks noGrp="1"/>
          </p:cNvSpPr>
          <p:nvPr/>
        </p:nvSpPr>
        <p:spPr>
          <a:xfrm>
            <a:off x="9810750" y="5334000"/>
            <a:ext cx="20002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53D28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DBE50A4A-994F-4982-B886-A74EBA8E8170}"/>
              </a:ext>
            </a:extLst>
          </p:cNvPr>
          <p:cNvSpPr>
            <a:spLocks noGrp="1"/>
          </p:cNvSpPr>
          <p:nvPr/>
        </p:nvSpPr>
        <p:spPr>
          <a:xfrm>
            <a:off x="9982200" y="5505450"/>
            <a:ext cx="533400" cy="47625"/>
          </a:xfrm>
          <a:prstGeom prst="rect">
            <a:avLst/>
          </a:prstGeom>
          <a:solidFill>
            <a:srgbClr val="53D28C"/>
          </a:solidFill>
          <a:ln w="0">
            <a:solidFill>
              <a:srgbClr val="53D2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EE539A7-1298-4800-BFAE-27748E3B7488}"/>
              </a:ext>
            </a:extLst>
          </p:cNvPr>
          <p:cNvSpPr>
            <a:spLocks noGrp="1"/>
          </p:cNvSpPr>
          <p:nvPr/>
        </p:nvSpPr>
        <p:spPr>
          <a:xfrm>
            <a:off x="9982200" y="5695950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Approve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C316D04-ACD4-4F97-975A-95F715BC42A9}"/>
              </a:ext>
            </a:extLst>
          </p:cNvPr>
          <p:cNvSpPr>
            <a:spLocks noGrp="1"/>
          </p:cNvSpPr>
          <p:nvPr/>
        </p:nvSpPr>
        <p:spPr>
          <a:xfrm>
            <a:off x="9982200" y="6153150"/>
            <a:ext cx="1657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persist</a:t>
            </a:r>
          </a:p>
        </p:txBody>
      </p:sp>
      <p:sp>
        <p:nvSpPr>
          <p:cNvPr id="228" name="Rounded Rectangle 227">
            <a:extLst>
              <a:ext uri="{FF2B5EF4-FFF2-40B4-BE49-F238E27FC236}">
                <a16:creationId xmlns:a16="http://schemas.microsoft.com/office/drawing/2014/main" id="{7BCB2AB0-ACD1-4A25-ADF0-331FFA628808}"/>
              </a:ext>
            </a:extLst>
          </p:cNvPr>
          <p:cNvSpPr>
            <a:spLocks noGrp="1"/>
          </p:cNvSpPr>
          <p:nvPr/>
        </p:nvSpPr>
        <p:spPr>
          <a:xfrm>
            <a:off x="12549188" y="5334000"/>
            <a:ext cx="219075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B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4EDA085-9A36-4A4D-A41F-576E07804D60}"/>
              </a:ext>
            </a:extLst>
          </p:cNvPr>
          <p:cNvSpPr>
            <a:spLocks noGrp="1"/>
          </p:cNvSpPr>
          <p:nvPr/>
        </p:nvSpPr>
        <p:spPr>
          <a:xfrm>
            <a:off x="12720638" y="5505450"/>
            <a:ext cx="533400" cy="47625"/>
          </a:xfrm>
          <a:prstGeom prst="rect">
            <a:avLst/>
          </a:prstGeom>
          <a:solidFill>
            <a:srgbClr val="FFB357"/>
          </a:solidFill>
          <a:ln w="0">
            <a:solidFill>
              <a:srgbClr val="FFB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DE8F3D2-0EF4-4B47-96FF-77EBBBB40C1E}"/>
              </a:ext>
            </a:extLst>
          </p:cNvPr>
          <p:cNvSpPr>
            <a:spLocks noGrp="1"/>
          </p:cNvSpPr>
          <p:nvPr/>
        </p:nvSpPr>
        <p:spPr>
          <a:xfrm>
            <a:off x="12720638" y="5695950"/>
            <a:ext cx="1847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1"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Chunk + embed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7895E2B-65EE-498D-90E7-FF961D76B125}"/>
              </a:ext>
            </a:extLst>
          </p:cNvPr>
          <p:cNvSpPr>
            <a:spLocks noGrp="1"/>
          </p:cNvSpPr>
          <p:nvPr/>
        </p:nvSpPr>
        <p:spPr>
          <a:xfrm>
            <a:off x="12720638" y="6153150"/>
            <a:ext cx="1847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 dirty="0">
                <a:solidFill>
                  <a:srgbClr val="8D96B8"/>
                </a:solidFill>
                <a:latin typeface="Inter"/>
                <a:ea typeface="Inter"/>
                <a:cs typeface="Inter"/>
              </a:rPr>
              <a:t>worker + pgvector</a:t>
            </a: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AC81261E-ADF1-4367-B45B-3686658C21DA}"/>
              </a:ext>
            </a:extLst>
          </p:cNvPr>
          <p:cNvSpPr>
            <a:spLocks noGrp="1"/>
          </p:cNvSpPr>
          <p:nvPr/>
        </p:nvSpPr>
        <p:spPr>
          <a:xfrm>
            <a:off x="15240000" y="5334000"/>
            <a:ext cx="1524000" cy="1095375"/>
          </a:xfrm>
          <a:prstGeom prst="roundRect">
            <a:avLst>
              <a:gd name="adj" fmla="val 10435"/>
            </a:avLst>
          </a:prstGeom>
          <a:solidFill>
            <a:srgbClr val="1B2144"/>
          </a:solidFill>
          <a:ln w="28575">
            <a:solidFill>
              <a:srgbClr val="FF6F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98FCE63-B722-48E2-91D3-3EDA0865357D}"/>
              </a:ext>
            </a:extLst>
          </p:cNvPr>
          <p:cNvSpPr>
            <a:spLocks noGrp="1"/>
          </p:cNvSpPr>
          <p:nvPr/>
        </p:nvSpPr>
        <p:spPr>
          <a:xfrm>
            <a:off x="15411450" y="5505450"/>
            <a:ext cx="533400" cy="47625"/>
          </a:xfrm>
          <a:prstGeom prst="rect">
            <a:avLst/>
          </a:prstGeom>
          <a:solidFill>
            <a:srgbClr val="FF6FAE"/>
          </a:solidFill>
          <a:ln w="0">
            <a:solidFill>
              <a:srgbClr val="FF6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FBFD2011-AB94-44A2-98D0-D797641C0A41}"/>
              </a:ext>
            </a:extLst>
          </p:cNvPr>
          <p:cNvSpPr>
            <a:spLocks noGrp="1"/>
          </p:cNvSpPr>
          <p:nvPr/>
        </p:nvSpPr>
        <p:spPr>
          <a:xfrm>
            <a:off x="15411450" y="5695950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EEF1F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EEF1FB"/>
                </a:solidFill>
                <a:latin typeface="Inter"/>
                <a:ea typeface="Inter"/>
                <a:cs typeface="Inter"/>
              </a:rPr>
              <a:t>Indexed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0D2950C5-D43F-4C10-A666-C8868CDF4C28}"/>
              </a:ext>
            </a:extLst>
          </p:cNvPr>
          <p:cNvSpPr>
            <a:spLocks noGrp="1"/>
          </p:cNvSpPr>
          <p:nvPr/>
        </p:nvSpPr>
        <p:spPr>
          <a:xfrm>
            <a:off x="15411450" y="6153150"/>
            <a:ext cx="11811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61" lnSpcReduction="20000"/>
          </a:bodyPr>
          <a:lstStyle/>
          <a:p>
            <a:pPr algn="l">
              <a:buNone/>
              <a:defRPr sz="1425" b="0">
                <a:solidFill>
                  <a:srgbClr val="8D96B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8D96B8"/>
                </a:solidFill>
                <a:latin typeface="Inter"/>
                <a:ea typeface="Inter"/>
                <a:cs typeface="Inter"/>
              </a:rPr>
              <a:t>authorized</a:t>
            </a:r>
          </a:p>
        </p:txBody>
      </p:sp>
      <p:cxnSp>
        <p:nvCxnSpPr>
          <p:cNvPr id="407" name="Straight Arrow Connector 338"/>
          <p:cNvCxnSpPr>
            <a:stCxn id="212" idx="3"/>
            <a:endCxn id="216" idx="1"/>
          </p:cNvCxnSpPr>
          <p:nvPr/>
        </p:nvCxnSpPr>
        <p:spPr>
          <a:xfrm>
            <a:off x="11620500" y="3524250"/>
            <a:ext cx="595312" cy="0"/>
          </a:xfrm>
          <a:prstGeom prst="straightConnector1">
            <a:avLst/>
          </a:prstGeom>
          <a:ln w="28575">
            <a:solidFill>
              <a:srgbClr val="4E8CFF"/>
            </a:solidFill>
            <a:prstDash val="solid"/>
            <a:tailEnd type="arrow" w="med" len="med"/>
          </a:ln>
        </p:spPr>
      </p:cxnSp>
      <p:cxnSp>
        <p:nvCxnSpPr>
          <p:cNvPr id="408" name="Straight Arrow Connector 339"/>
          <p:cNvCxnSpPr>
            <a:stCxn id="216" idx="3"/>
            <a:endCxn id="220" idx="1"/>
          </p:cNvCxnSpPr>
          <p:nvPr/>
        </p:nvCxnSpPr>
        <p:spPr>
          <a:xfrm>
            <a:off x="14311312" y="3524250"/>
            <a:ext cx="595313" cy="0"/>
          </a:xfrm>
          <a:prstGeom prst="straightConnector1">
            <a:avLst/>
          </a:prstGeom>
          <a:ln w="28575">
            <a:solidFill>
              <a:srgbClr val="7F8CFF"/>
            </a:solidFill>
            <a:prstDash val="solid"/>
            <a:tailEnd type="arrow" w="med" len="med"/>
          </a:ln>
        </p:spPr>
      </p:cxnSp>
      <p:cxnSp>
        <p:nvCxnSpPr>
          <p:cNvPr id="409" name="Straight Arrow Connector 340"/>
          <p:cNvCxnSpPr>
            <a:stCxn id="220" idx="2"/>
            <a:endCxn id="224" idx="0"/>
          </p:cNvCxnSpPr>
          <p:nvPr/>
        </p:nvCxnSpPr>
        <p:spPr>
          <a:xfrm flipH="1">
            <a:off x="10810875" y="4048125"/>
            <a:ext cx="5000625" cy="1285875"/>
          </a:xfrm>
          <a:prstGeom prst="straightConnector1">
            <a:avLst/>
          </a:prstGeom>
          <a:ln w="28575">
            <a:solidFill>
              <a:srgbClr val="3DD6C6"/>
            </a:solidFill>
            <a:prstDash val="solid"/>
            <a:tailEnd type="arrow" w="med" len="med"/>
          </a:ln>
        </p:spPr>
      </p:cxnSp>
      <p:cxnSp>
        <p:nvCxnSpPr>
          <p:cNvPr id="410" name="Straight Arrow Connector 341"/>
          <p:cNvCxnSpPr>
            <a:stCxn id="224" idx="3"/>
            <a:endCxn id="228" idx="1"/>
          </p:cNvCxnSpPr>
          <p:nvPr/>
        </p:nvCxnSpPr>
        <p:spPr>
          <a:xfrm>
            <a:off x="11811000" y="5881688"/>
            <a:ext cx="738188" cy="0"/>
          </a:xfrm>
          <a:prstGeom prst="straightConnector1">
            <a:avLst/>
          </a:prstGeom>
          <a:ln w="28575">
            <a:solidFill>
              <a:srgbClr val="53D28C"/>
            </a:solidFill>
            <a:prstDash val="solid"/>
            <a:tailEnd type="arrow" w="med" len="med"/>
          </a:ln>
        </p:spPr>
      </p:cxnSp>
      <p:cxnSp>
        <p:nvCxnSpPr>
          <p:cNvPr id="411" name="Straight Arrow Connector 342"/>
          <p:cNvCxnSpPr>
            <a:stCxn id="228" idx="3"/>
            <a:endCxn id="232" idx="1"/>
          </p:cNvCxnSpPr>
          <p:nvPr/>
        </p:nvCxnSpPr>
        <p:spPr>
          <a:xfrm>
            <a:off x="14739938" y="5881688"/>
            <a:ext cx="500062" cy="0"/>
          </a:xfrm>
          <a:prstGeom prst="straightConnector1">
            <a:avLst/>
          </a:prstGeom>
          <a:ln w="28575">
            <a:solidFill>
              <a:srgbClr val="FFB357"/>
            </a:solidFill>
            <a:prstDash val="solid"/>
            <a:tailEnd type="arrow" w="med" len="med"/>
          </a:ln>
        </p:spPr>
      </p:cxn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C8FBCB3-456C-4C72-AD3F-541500593E8D}"/>
              </a:ext>
            </a:extLst>
          </p:cNvPr>
          <p:cNvSpPr>
            <a:spLocks noGrp="1"/>
          </p:cNvSpPr>
          <p:nvPr/>
        </p:nvSpPr>
        <p:spPr>
          <a:xfrm>
            <a:off x="9810750" y="714375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80"/>
          </a:bodyPr>
          <a:lstStyle/>
          <a:p>
            <a:pPr algn="ctr">
              <a:buNone/>
              <a:defRPr sz="1725" b="1">
                <a:solidFill>
                  <a:srgbClr val="C9D0E8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C9D0E8"/>
                </a:solidFill>
                <a:latin typeface="Inter"/>
                <a:ea typeface="Inter"/>
                <a:cs typeface="Inter"/>
              </a:rPr>
              <a:t>Unsafe or unapproved content never enters shared channels or AI context.</a:t>
            </a:r>
          </a:p>
        </p:txBody>
      </p:sp>
    </p:spTree>
    <p:extLst>
      <p:ext uri="{BB962C8B-B14F-4D97-AF65-F5344CB8AC3E}">
        <p14:creationId xmlns:p14="http://schemas.microsoft.com/office/powerpoint/2010/main" val="104377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>
            <a:extLst>
              <a:ext uri="{FF2B5EF4-FFF2-40B4-BE49-F238E27FC236}">
                <a16:creationId xmlns:a16="http://schemas.microsoft.com/office/drawing/2014/main" id="{980D7FE6-920A-4474-9449-83C003375425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1950"/>
              <a:buFont typeface="Inter"/>
              <a:buNone/>
            </a:pPr>
            <a:r>
              <a:rPr sz="195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1</a:t>
            </a:r>
            <a:r>
              <a:rPr lang="en-US" sz="195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8</a:t>
            </a:r>
            <a:r>
              <a:rPr sz="195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PROJECT EXECUTION</a:t>
            </a:r>
          </a:p>
        </p:txBody>
      </p:sp>
      <p:sp>
        <p:nvSpPr>
          <p:cNvPr id="218" name="Google Shape;218;p19">
            <a:extLst>
              <a:ext uri="{FF2B5EF4-FFF2-40B4-BE49-F238E27FC236}">
                <a16:creationId xmlns:a16="http://schemas.microsoft.com/office/drawing/2014/main" id="{7A4E165E-2DA3-4562-B92F-AAEADFF735B4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11430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6600"/>
              <a:buFont typeface="Space Grotesk"/>
              <a:buNone/>
            </a:pPr>
            <a:r>
              <a:rPr sz="66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5 Sprints to Success</a:t>
            </a:r>
          </a:p>
        </p:txBody>
      </p:sp>
      <p:sp>
        <p:nvSpPr>
          <p:cNvPr id="219" name="Google Shape;219;p19">
            <a:extLst>
              <a:ext uri="{FF2B5EF4-FFF2-40B4-BE49-F238E27FC236}">
                <a16:creationId xmlns:a16="http://schemas.microsoft.com/office/drawing/2014/main" id="{6DE9D421-7A95-4A49-8FED-2DB9B1191368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14287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3CADD"/>
              </a:buClr>
              <a:buSzPts val="2550"/>
              <a:buFont typeface="Inter"/>
              <a:buNone/>
            </a:pPr>
            <a:r>
              <a:rPr sz="2550" b="0" i="0" u="none" cap="none">
                <a:solidFill>
                  <a:srgbClr val="C3CADD"/>
                </a:solidFill>
                <a:latin typeface="Inter"/>
                <a:ea typeface="Inter"/>
                <a:cs typeface="Inter"/>
              </a:rPr>
              <a:t>Strict Agile methodology — from research to high-fidelity prototype in one trimester.</a:t>
            </a:r>
          </a:p>
        </p:txBody>
      </p:sp>
      <p:pic>
        <p:nvPicPr>
          <p:cNvPr id="248" name="Google Shape;220;p1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463" y="5045225"/>
            <a:ext cx="3241714" cy="2609575"/>
          </a:xfrm>
          <a:prstGeom prst="rect">
            <a:avLst/>
          </a:prstGeom>
          <a:ln>
            <a:noFill/>
          </a:ln>
        </p:spPr>
      </p:pic>
      <p:pic>
        <p:nvPicPr>
          <p:cNvPr id="249" name="Google Shape;221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9303" y="5045225"/>
            <a:ext cx="3241714" cy="2609575"/>
          </a:xfrm>
          <a:prstGeom prst="rect">
            <a:avLst/>
          </a:prstGeom>
          <a:ln>
            <a:noFill/>
          </a:ln>
        </p:spPr>
      </p:pic>
      <p:pic>
        <p:nvPicPr>
          <p:cNvPr id="250" name="Google Shape;222;p1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3143" y="5045225"/>
            <a:ext cx="3241714" cy="2609575"/>
          </a:xfrm>
          <a:prstGeom prst="rect">
            <a:avLst/>
          </a:prstGeom>
          <a:ln>
            <a:noFill/>
          </a:ln>
        </p:spPr>
      </p:pic>
      <p:pic>
        <p:nvPicPr>
          <p:cNvPr id="251" name="Google Shape;223;p19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36983" y="5045225"/>
            <a:ext cx="3241714" cy="2609575"/>
          </a:xfrm>
          <a:prstGeom prst="rect">
            <a:avLst/>
          </a:prstGeom>
          <a:ln>
            <a:noFill/>
          </a:ln>
        </p:spPr>
      </p:pic>
      <p:pic>
        <p:nvPicPr>
          <p:cNvPr id="252" name="Google Shape;224;p19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50823" y="5045225"/>
            <a:ext cx="3241714" cy="2609575"/>
          </a:xfrm>
          <a:prstGeom prst="rect">
            <a:avLst/>
          </a:prstGeom>
          <a:ln>
            <a:noFill/>
          </a:ln>
        </p:spPr>
      </p:pic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06427111-B4E9-4CCE-A52B-2DB6FCE9B3F2}"/>
              </a:ext>
            </a:extLst>
          </p:cNvPr>
          <p:cNvSpPr>
            <a:spLocks noGrp="1"/>
          </p:cNvSpPr>
          <p:nvPr/>
        </p:nvSpPr>
        <p:spPr>
          <a:xfrm>
            <a:off x="709806" y="6323809"/>
            <a:ext cx="3213300" cy="52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9">
            <a:extLst>
              <a:ext uri="{FF2B5EF4-FFF2-40B4-BE49-F238E27FC236}">
                <a16:creationId xmlns:a16="http://schemas.microsoft.com/office/drawing/2014/main" id="{83FE26A7-F076-4D1B-BE75-4AF507283F27}"/>
              </a:ext>
            </a:extLst>
          </p:cNvPr>
          <p:cNvSpPr>
            <a:spLocks noGrp="1"/>
          </p:cNvSpPr>
          <p:nvPr/>
        </p:nvSpPr>
        <p:spPr>
          <a:xfrm>
            <a:off x="910620" y="5377154"/>
            <a:ext cx="2952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75" b="0" i="0" u="non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</a:rPr>
              <a:t>Sprint 1</a:t>
            </a:r>
          </a:p>
        </p:txBody>
      </p:sp>
      <p:sp>
        <p:nvSpPr>
          <p:cNvPr id="227" name="Google Shape;227;p19">
            <a:extLst>
              <a:ext uri="{FF2B5EF4-FFF2-40B4-BE49-F238E27FC236}">
                <a16:creationId xmlns:a16="http://schemas.microsoft.com/office/drawing/2014/main" id="{0F182AE7-3A5A-45F3-AACB-637D3D7C831A}"/>
              </a:ext>
            </a:extLst>
          </p:cNvPr>
          <p:cNvSpPr>
            <a:spLocks noGrp="1"/>
          </p:cNvSpPr>
          <p:nvPr/>
        </p:nvSpPr>
        <p:spPr>
          <a:xfrm>
            <a:off x="910620" y="5866314"/>
            <a:ext cx="2811600" cy="1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75" b="0" i="0" u="non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Literature review, campus student surveys, persona creation &amp; requirements scoping.</a:t>
            </a:r>
          </a:p>
        </p:txBody>
      </p:sp>
      <p:sp>
        <p:nvSpPr>
          <p:cNvPr id="228" name="Google Shape;228;p19">
            <a:extLst>
              <a:ext uri="{FF2B5EF4-FFF2-40B4-BE49-F238E27FC236}">
                <a16:creationId xmlns:a16="http://schemas.microsoft.com/office/drawing/2014/main" id="{6A7896C4-CF63-4DD5-80A1-CDE318C27C43}"/>
              </a:ext>
            </a:extLst>
          </p:cNvPr>
          <p:cNvSpPr>
            <a:spLocks noGrp="1"/>
          </p:cNvSpPr>
          <p:nvPr/>
        </p:nvSpPr>
        <p:spPr>
          <a:xfrm>
            <a:off x="4123647" y="6323809"/>
            <a:ext cx="3213300" cy="52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">
            <a:extLst>
              <a:ext uri="{FF2B5EF4-FFF2-40B4-BE49-F238E27FC236}">
                <a16:creationId xmlns:a16="http://schemas.microsoft.com/office/drawing/2014/main" id="{B04C7ADB-0FC6-4DE7-AB36-E0DA4CD31B3C}"/>
              </a:ext>
            </a:extLst>
          </p:cNvPr>
          <p:cNvSpPr>
            <a:spLocks noGrp="1"/>
          </p:cNvSpPr>
          <p:nvPr/>
        </p:nvSpPr>
        <p:spPr>
          <a:xfrm>
            <a:off x="4324461" y="5377154"/>
            <a:ext cx="2952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75" b="0" i="0" u="non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</a:rPr>
              <a:t>Sprint 2</a:t>
            </a:r>
          </a:p>
        </p:txBody>
      </p:sp>
      <p:sp>
        <p:nvSpPr>
          <p:cNvPr id="230" name="Google Shape;230;p19">
            <a:extLst>
              <a:ext uri="{FF2B5EF4-FFF2-40B4-BE49-F238E27FC236}">
                <a16:creationId xmlns:a16="http://schemas.microsoft.com/office/drawing/2014/main" id="{07EB7C4B-0730-4B74-BCAC-0B01823FFCBA}"/>
              </a:ext>
            </a:extLst>
          </p:cNvPr>
          <p:cNvSpPr>
            <a:spLocks noGrp="1"/>
          </p:cNvSpPr>
          <p:nvPr/>
        </p:nvSpPr>
        <p:spPr>
          <a:xfrm>
            <a:off x="4324461" y="5866314"/>
            <a:ext cx="2811600" cy="1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75" b="0" i="0" u="non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Database schema design, FastAPI backend setup &amp; local Llama 3.1 VM provisioning.</a:t>
            </a:r>
          </a:p>
        </p:txBody>
      </p:sp>
      <p:sp>
        <p:nvSpPr>
          <p:cNvPr id="231" name="Google Shape;231;p19">
            <a:extLst>
              <a:ext uri="{FF2B5EF4-FFF2-40B4-BE49-F238E27FC236}">
                <a16:creationId xmlns:a16="http://schemas.microsoft.com/office/drawing/2014/main" id="{C69BD49A-AC9D-4165-B518-EEB5D91AA6E6}"/>
              </a:ext>
            </a:extLst>
          </p:cNvPr>
          <p:cNvSpPr>
            <a:spLocks noGrp="1"/>
          </p:cNvSpPr>
          <p:nvPr/>
        </p:nvSpPr>
        <p:spPr>
          <a:xfrm>
            <a:off x="7537487" y="6323809"/>
            <a:ext cx="3213300" cy="52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9">
            <a:extLst>
              <a:ext uri="{FF2B5EF4-FFF2-40B4-BE49-F238E27FC236}">
                <a16:creationId xmlns:a16="http://schemas.microsoft.com/office/drawing/2014/main" id="{52F6B2F4-98B4-441D-ABC7-B11A18C53CE4}"/>
              </a:ext>
            </a:extLst>
          </p:cNvPr>
          <p:cNvSpPr>
            <a:spLocks noGrp="1"/>
          </p:cNvSpPr>
          <p:nvPr/>
        </p:nvSpPr>
        <p:spPr>
          <a:xfrm>
            <a:off x="7738301" y="5377154"/>
            <a:ext cx="2952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</a:rPr>
              <a:t>Sprint 3</a:t>
            </a:r>
          </a:p>
        </p:txBody>
      </p:sp>
      <p:sp>
        <p:nvSpPr>
          <p:cNvPr id="233" name="Google Shape;233;p19">
            <a:extLst>
              <a:ext uri="{FF2B5EF4-FFF2-40B4-BE49-F238E27FC236}">
                <a16:creationId xmlns:a16="http://schemas.microsoft.com/office/drawing/2014/main" id="{04BE1732-7E18-4654-998E-EF7E84236FC1}"/>
              </a:ext>
            </a:extLst>
          </p:cNvPr>
          <p:cNvSpPr>
            <a:spLocks noGrp="1"/>
          </p:cNvSpPr>
          <p:nvPr/>
        </p:nvSpPr>
        <p:spPr>
          <a:xfrm>
            <a:off x="7738301" y="5866314"/>
            <a:ext cx="28116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pgvector RAG pipeline build, Nomic embedding integration &amp; core microservices API routes.</a:t>
            </a:r>
          </a:p>
        </p:txBody>
      </p:sp>
      <p:sp>
        <p:nvSpPr>
          <p:cNvPr id="234" name="Google Shape;234;p19">
            <a:extLst>
              <a:ext uri="{FF2B5EF4-FFF2-40B4-BE49-F238E27FC236}">
                <a16:creationId xmlns:a16="http://schemas.microsoft.com/office/drawing/2014/main" id="{7D5F2236-320F-41D8-9764-92243B9049E3}"/>
              </a:ext>
            </a:extLst>
          </p:cNvPr>
          <p:cNvSpPr>
            <a:spLocks noGrp="1"/>
          </p:cNvSpPr>
          <p:nvPr/>
        </p:nvSpPr>
        <p:spPr>
          <a:xfrm>
            <a:off x="10951327" y="6323809"/>
            <a:ext cx="3213300" cy="52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">
            <a:extLst>
              <a:ext uri="{FF2B5EF4-FFF2-40B4-BE49-F238E27FC236}">
                <a16:creationId xmlns:a16="http://schemas.microsoft.com/office/drawing/2014/main" id="{9E5C517A-3234-4522-B2A7-F2464BD74180}"/>
              </a:ext>
            </a:extLst>
          </p:cNvPr>
          <p:cNvSpPr>
            <a:spLocks noGrp="1"/>
          </p:cNvSpPr>
          <p:nvPr/>
        </p:nvSpPr>
        <p:spPr>
          <a:xfrm>
            <a:off x="11152141" y="5377154"/>
            <a:ext cx="2952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</a:rPr>
              <a:t>Sprint 4</a:t>
            </a:r>
          </a:p>
        </p:txBody>
      </p:sp>
      <p:sp>
        <p:nvSpPr>
          <p:cNvPr id="236" name="Google Shape;236;p19">
            <a:extLst>
              <a:ext uri="{FF2B5EF4-FFF2-40B4-BE49-F238E27FC236}">
                <a16:creationId xmlns:a16="http://schemas.microsoft.com/office/drawing/2014/main" id="{3BFC6EAC-174A-4372-A396-4E1D78F4D565}"/>
              </a:ext>
            </a:extLst>
          </p:cNvPr>
          <p:cNvSpPr>
            <a:spLocks noGrp="1"/>
          </p:cNvSpPr>
          <p:nvPr/>
        </p:nvSpPr>
        <p:spPr>
          <a:xfrm>
            <a:off x="11152141" y="5866314"/>
            <a:ext cx="28116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React frontend development, workspace UI, WebSocket setup &amp; NudeNet safety integration.</a:t>
            </a:r>
          </a:p>
        </p:txBody>
      </p:sp>
      <p:sp>
        <p:nvSpPr>
          <p:cNvPr id="237" name="Google Shape;237;p19">
            <a:extLst>
              <a:ext uri="{FF2B5EF4-FFF2-40B4-BE49-F238E27FC236}">
                <a16:creationId xmlns:a16="http://schemas.microsoft.com/office/drawing/2014/main" id="{10CFFD46-156A-484A-8AB5-7BD39D89A792}"/>
              </a:ext>
            </a:extLst>
          </p:cNvPr>
          <p:cNvSpPr>
            <a:spLocks noGrp="1"/>
          </p:cNvSpPr>
          <p:nvPr/>
        </p:nvSpPr>
        <p:spPr>
          <a:xfrm>
            <a:off x="14365167" y="6323809"/>
            <a:ext cx="3213300" cy="52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9">
            <a:extLst>
              <a:ext uri="{FF2B5EF4-FFF2-40B4-BE49-F238E27FC236}">
                <a16:creationId xmlns:a16="http://schemas.microsoft.com/office/drawing/2014/main" id="{D5F5B23F-D0E8-4CAC-881C-0F61D5E77FE3}"/>
              </a:ext>
            </a:extLst>
          </p:cNvPr>
          <p:cNvSpPr>
            <a:spLocks noGrp="1"/>
          </p:cNvSpPr>
          <p:nvPr/>
        </p:nvSpPr>
        <p:spPr>
          <a:xfrm>
            <a:off x="14565981" y="5377154"/>
            <a:ext cx="2952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</a:rPr>
              <a:t>Sprint 5</a:t>
            </a:r>
          </a:p>
        </p:txBody>
      </p:sp>
      <p:sp>
        <p:nvSpPr>
          <p:cNvPr id="239" name="Google Shape;239;p19">
            <a:extLst>
              <a:ext uri="{FF2B5EF4-FFF2-40B4-BE49-F238E27FC236}">
                <a16:creationId xmlns:a16="http://schemas.microsoft.com/office/drawing/2014/main" id="{1602E9DE-543D-4D21-9300-D6B4CD1934D2}"/>
              </a:ext>
            </a:extLst>
          </p:cNvPr>
          <p:cNvSpPr>
            <a:spLocks noGrp="1"/>
          </p:cNvSpPr>
          <p:nvPr/>
        </p:nvSpPr>
        <p:spPr>
          <a:xfrm>
            <a:off x="14565981" y="5866314"/>
            <a:ext cx="28116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End-to-end integration, focus group user acceptance testing &amp; high-fidelity release.</a:t>
            </a:r>
          </a:p>
        </p:txBody>
      </p:sp>
    </p:spTree>
    <p:extLst>
      <p:ext uri="{BB962C8B-B14F-4D97-AF65-F5344CB8AC3E}">
        <p14:creationId xmlns:p14="http://schemas.microsoft.com/office/powerpoint/2010/main" val="709291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A1B"/>
            </a:gs>
            <a:gs pos="54000">
              <a:srgbClr val="10183A"/>
            </a:gs>
            <a:gs pos="100000">
              <a:srgbClr val="2A115B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45;p20"/>
          <p:cNvPicPr>
            <a:picLocks noChangeAspect="1"/>
          </p:cNvPicPr>
          <p:nvPr/>
        </p:nvPicPr>
        <p:blipFill rotWithShape="1">
          <a:blip r:embed="rId3">
            <a:alphaModFix amt="22000"/>
          </a:blip>
          <a:srcRect/>
          <a:stretch/>
        </p:blipFill>
        <p:spPr>
          <a:xfrm rot="900000">
            <a:off x="952500" y="4762500"/>
            <a:ext cx="4762500" cy="4762500"/>
          </a:xfrm>
          <a:prstGeom prst="rect">
            <a:avLst/>
          </a:prstGeom>
          <a:ln>
            <a:noFill/>
          </a:ln>
        </p:spPr>
      </p:pic>
      <p:sp>
        <p:nvSpPr>
          <p:cNvPr id="246" name="Google Shape;246;p20">
            <a:extLst>
              <a:ext uri="{FF2B5EF4-FFF2-40B4-BE49-F238E27FC236}">
                <a16:creationId xmlns:a16="http://schemas.microsoft.com/office/drawing/2014/main" id="{08A693A9-147B-42D7-964D-D641421CF475}"/>
              </a:ext>
            </a:extLst>
          </p:cNvPr>
          <p:cNvSpPr>
            <a:spLocks noGrp="1"/>
          </p:cNvSpPr>
          <p:nvPr/>
        </p:nvSpPr>
        <p:spPr>
          <a:xfrm>
            <a:off x="2056750" y="2460350"/>
            <a:ext cx="431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F8CFF"/>
              </a:buClr>
              <a:buSzPts val="2100"/>
              <a:buFont typeface="Inter"/>
              <a:buNone/>
            </a:pPr>
            <a:r>
              <a:rPr sz="210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1</a:t>
            </a:r>
            <a:r>
              <a:rPr lang="en-US" sz="210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9</a:t>
            </a:r>
            <a:r>
              <a:rPr sz="2100" b="1" i="0" u="none" cap="none" dirty="0">
                <a:solidFill>
                  <a:srgbClr val="7F8CFF"/>
                </a:solidFill>
                <a:latin typeface="Inter"/>
                <a:ea typeface="Inter"/>
                <a:cs typeface="Inter"/>
              </a:rPr>
              <a:t> — CONCLUSION</a:t>
            </a:r>
          </a:p>
        </p:txBody>
      </p:sp>
      <p:sp>
        <p:nvSpPr>
          <p:cNvPr id="247" name="Google Shape;247;p20">
            <a:extLst>
              <a:ext uri="{FF2B5EF4-FFF2-40B4-BE49-F238E27FC236}">
                <a16:creationId xmlns:a16="http://schemas.microsoft.com/office/drawing/2014/main" id="{8B86415D-52CB-4F06-AAB4-E34516103359}"/>
              </a:ext>
            </a:extLst>
          </p:cNvPr>
          <p:cNvSpPr>
            <a:spLocks noGrp="1"/>
          </p:cNvSpPr>
          <p:nvPr/>
        </p:nvSpPr>
        <p:spPr>
          <a:xfrm>
            <a:off x="2476500" y="3238500"/>
            <a:ext cx="133350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EF1FB"/>
              </a:buClr>
              <a:buSzPts val="7500"/>
              <a:buFont typeface="Space Grotesk"/>
              <a:buNone/>
            </a:pPr>
            <a:r>
              <a:rPr sz="7500" b="1" i="0" u="none" cap="none">
                <a:solidFill>
                  <a:srgbClr val="EEF1FB"/>
                </a:solidFill>
                <a:latin typeface="Space Grotesk"/>
                <a:ea typeface="Space Grotesk"/>
                <a:cs typeface="Space Grotesk"/>
              </a:rPr>
              <a:t>The Future of Collaborative Education</a:t>
            </a:r>
          </a:p>
        </p:txBody>
      </p:sp>
      <p:sp>
        <p:nvSpPr>
          <p:cNvPr id="248" name="Google Shape;248;p20">
            <a:extLst>
              <a:ext uri="{FF2B5EF4-FFF2-40B4-BE49-F238E27FC236}">
                <a16:creationId xmlns:a16="http://schemas.microsoft.com/office/drawing/2014/main" id="{30921E49-14A5-4724-AB38-A6C9A8CCE584}"/>
              </a:ext>
            </a:extLst>
          </p:cNvPr>
          <p:cNvSpPr>
            <a:spLocks noGrp="1"/>
          </p:cNvSpPr>
          <p:nvPr/>
        </p:nvSpPr>
        <p:spPr>
          <a:xfrm>
            <a:off x="3905250" y="6762750"/>
            <a:ext cx="1047750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0E2"/>
              </a:buClr>
              <a:buSzPts val="3300"/>
              <a:buFont typeface="Inter"/>
              <a:buNone/>
            </a:pPr>
            <a:r>
              <a:rPr sz="3300" b="0" i="0" u="none" cap="none">
                <a:solidFill>
                  <a:srgbClr val="C9D0E2"/>
                </a:solidFill>
                <a:latin typeface="Inter"/>
                <a:ea typeface="Inter"/>
                <a:cs typeface="Inter"/>
              </a:rPr>
              <a:t>SPC proves AI doesn't have to replace peer learning — it can facilitate it.</a:t>
            </a:r>
          </a:p>
        </p:txBody>
      </p:sp>
    </p:spTree>
    <p:extLst>
      <p:ext uri="{BB962C8B-B14F-4D97-AF65-F5344CB8AC3E}">
        <p14:creationId xmlns:p14="http://schemas.microsoft.com/office/powerpoint/2010/main" val="48030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1147</Words>
  <Application>Microsoft Macintosh PowerPoint</Application>
  <DocSecurity>0</DocSecurity>
  <PresentationFormat>Custom</PresentationFormat>
  <Paragraphs>227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Inter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Hein Myat Thu</cp:lastModifiedBy>
  <cp:revision>3</cp:revision>
  <dcterms:created xsi:type="dcterms:W3CDTF">2026-08-01T04:50:20Z</dcterms:created>
  <dcterms:modified xsi:type="dcterms:W3CDTF">2026-08-01T12:10:06Z</dcterms:modified>
</cp:coreProperties>
</file>