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96"/>
  </p:normalViewPr>
  <p:slideViewPr>
    <p:cSldViewPr snapToGrid="0">
      <p:cViewPr>
        <p:scale>
          <a:sx n="112" d="100"/>
          <a:sy n="112" d="100"/>
        </p:scale>
        <p:origin x="768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design/yv61anR1lrOJj3LLwpNlQM/Smart-Peer-Companion-&#8211;-Backend-Architecture?node-id=62-3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BDE224BE-090D-4195-A41D-D0B5110421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A7A7"/>
          </a:solidFill>
          <a:ln w="0">
            <a:solidFill>
              <a:srgbClr val="00A7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18C985-1B6C-48BA-90FB-3F417B603BB6}"/>
              </a:ext>
            </a:extLst>
          </p:cNvPr>
          <p:cNvSpPr>
            <a:spLocks noGrp="1"/>
          </p:cNvSpPr>
          <p:nvPr/>
        </p:nvSpPr>
        <p:spPr>
          <a:xfrm>
            <a:off x="685800" y="6477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00A7A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A7A7"/>
                </a:solidFill>
                <a:latin typeface="Aptos"/>
                <a:ea typeface="Aptos"/>
                <a:cs typeface="Aptos"/>
              </a:rPr>
              <a:t>SMART PEER COMPANION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7BBFC7-F76F-4A63-8FA8-265B19578EB5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54292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4350" b="1">
                <a:solidFill>
                  <a:srgbClr val="0B2540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0B2540"/>
                </a:solidFill>
                <a:latin typeface="Aptos"/>
                <a:ea typeface="Aptos"/>
                <a:cs typeface="Aptos"/>
              </a:rPr>
              <a:t>Individual</a:t>
            </a:r>
          </a:p>
          <a:p>
            <a:pPr algn="l">
              <a:buNone/>
              <a:defRPr sz="4350" b="1">
                <a:solidFill>
                  <a:srgbClr val="0B2540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0B2540"/>
                </a:solidFill>
                <a:latin typeface="Aptos"/>
                <a:ea typeface="Aptos"/>
                <a:cs typeface="Aptos"/>
              </a:rPr>
              <a:t>Contribution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23EED5-FEA4-4B64-B66B-7A33BA053C03}"/>
              </a:ext>
            </a:extLst>
          </p:cNvPr>
          <p:cNvSpPr>
            <a:spLocks noGrp="1"/>
          </p:cNvSpPr>
          <p:nvPr/>
        </p:nvSpPr>
        <p:spPr>
          <a:xfrm>
            <a:off x="704850" y="3238500"/>
            <a:ext cx="5143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From research to backend foundations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A65411-3C3E-4100-AEA2-40211F30DE89}"/>
              </a:ext>
            </a:extLst>
          </p:cNvPr>
          <p:cNvSpPr>
            <a:spLocks noGrp="1"/>
          </p:cNvSpPr>
          <p:nvPr/>
        </p:nvSpPr>
        <p:spPr>
          <a:xfrm>
            <a:off x="704850" y="57531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12365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A"/>
                </a:solidFill>
                <a:latin typeface="Aptos"/>
                <a:ea typeface="Aptos"/>
                <a:cs typeface="Aptos"/>
              </a:rPr>
              <a:t>Hein Myat Thu  ·  Backend Architecture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2514C75-1872-4C42-90A9-8AB1BE0FDA26}"/>
              </a:ext>
            </a:extLst>
          </p:cNvPr>
          <p:cNvSpPr>
            <a:spLocks noGrp="1"/>
          </p:cNvSpPr>
          <p:nvPr/>
        </p:nvSpPr>
        <p:spPr>
          <a:xfrm>
            <a:off x="7048500" y="990600"/>
            <a:ext cx="4000500" cy="4572000"/>
          </a:xfrm>
          <a:prstGeom prst="roundRect">
            <a:avLst>
              <a:gd name="adj" fmla="val 5714"/>
            </a:avLst>
          </a:prstGeom>
          <a:solidFill>
            <a:srgbClr val="0B2540"/>
          </a:solidFill>
          <a:ln w="0">
            <a:solidFill>
              <a:srgbClr val="0B254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9C03521-108E-4114-AA35-B70E3942BD75}"/>
              </a:ext>
            </a:extLst>
          </p:cNvPr>
          <p:cNvSpPr>
            <a:spLocks noGrp="1"/>
          </p:cNvSpPr>
          <p:nvPr/>
        </p:nvSpPr>
        <p:spPr>
          <a:xfrm>
            <a:off x="7477125" y="1466850"/>
            <a:ext cx="1123950" cy="685800"/>
          </a:xfrm>
          <a:prstGeom prst="roundRect">
            <a:avLst>
              <a:gd name="adj" fmla="val 16667"/>
            </a:avLst>
          </a:prstGeom>
          <a:solidFill>
            <a:srgbClr val="00A7A7"/>
          </a:solidFill>
          <a:ln w="0">
            <a:solidFill>
              <a:srgbClr val="00A7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0BBDD0-D7B2-40E2-8145-ACF02A7C927D}"/>
              </a:ext>
            </a:extLst>
          </p:cNvPr>
          <p:cNvSpPr>
            <a:spLocks noGrp="1"/>
          </p:cNvSpPr>
          <p:nvPr/>
        </p:nvSpPr>
        <p:spPr>
          <a:xfrm>
            <a:off x="7591425" y="1562100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A0E78A-8093-40B5-A77D-AAE8F6488CBE}"/>
              </a:ext>
            </a:extLst>
          </p:cNvPr>
          <p:cNvSpPr>
            <a:spLocks noGrp="1"/>
          </p:cNvSpPr>
          <p:nvPr/>
        </p:nvSpPr>
        <p:spPr>
          <a:xfrm>
            <a:off x="7591425" y="1809750"/>
            <a:ext cx="904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RESEARCH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198D4D6-70D9-450B-93AD-962129417568}"/>
              </a:ext>
            </a:extLst>
          </p:cNvPr>
          <p:cNvSpPr>
            <a:spLocks noGrp="1"/>
          </p:cNvSpPr>
          <p:nvPr/>
        </p:nvSpPr>
        <p:spPr>
          <a:xfrm>
            <a:off x="9001125" y="2333625"/>
            <a:ext cx="1123950" cy="685800"/>
          </a:xfrm>
          <a:prstGeom prst="roundRect">
            <a:avLst>
              <a:gd name="adj" fmla="val 16667"/>
            </a:avLst>
          </a:prstGeom>
          <a:solidFill>
            <a:srgbClr val="F2A93B"/>
          </a:solidFill>
          <a:ln w="0">
            <a:solidFill>
              <a:srgbClr val="F2A9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D8F63D-3AEC-4840-8EA8-2F52250A3420}"/>
              </a:ext>
            </a:extLst>
          </p:cNvPr>
          <p:cNvSpPr>
            <a:spLocks noGrp="1"/>
          </p:cNvSpPr>
          <p:nvPr/>
        </p:nvSpPr>
        <p:spPr>
          <a:xfrm>
            <a:off x="9115425" y="2428875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71E2DB-99A7-4124-9330-E7CAF14AD29A}"/>
              </a:ext>
            </a:extLst>
          </p:cNvPr>
          <p:cNvSpPr>
            <a:spLocks noGrp="1"/>
          </p:cNvSpPr>
          <p:nvPr/>
        </p:nvSpPr>
        <p:spPr>
          <a:xfrm>
            <a:off x="9115425" y="2676525"/>
            <a:ext cx="904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UML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1FEB50A-DA8A-4678-8373-64CF80AEA2C5}"/>
              </a:ext>
            </a:extLst>
          </p:cNvPr>
          <p:cNvSpPr>
            <a:spLocks noGrp="1"/>
          </p:cNvSpPr>
          <p:nvPr/>
        </p:nvSpPr>
        <p:spPr>
          <a:xfrm>
            <a:off x="7600950" y="3343275"/>
            <a:ext cx="1123950" cy="685800"/>
          </a:xfrm>
          <a:prstGeom prst="roundRect">
            <a:avLst>
              <a:gd name="adj" fmla="val 16667"/>
            </a:avLst>
          </a:prstGeom>
          <a:solidFill>
            <a:srgbClr val="4F7CAC"/>
          </a:solidFill>
          <a:ln w="0">
            <a:solidFill>
              <a:srgbClr val="4F7CA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EE240B-7689-4652-ABB2-120262E273D8}"/>
              </a:ext>
            </a:extLst>
          </p:cNvPr>
          <p:cNvSpPr>
            <a:spLocks noGrp="1"/>
          </p:cNvSpPr>
          <p:nvPr/>
        </p:nvSpPr>
        <p:spPr>
          <a:xfrm>
            <a:off x="7715250" y="3438525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ACBF22-1181-4AB9-A26D-A55F0E44C5CE}"/>
              </a:ext>
            </a:extLst>
          </p:cNvPr>
          <p:cNvSpPr>
            <a:spLocks noGrp="1"/>
          </p:cNvSpPr>
          <p:nvPr/>
        </p:nvSpPr>
        <p:spPr>
          <a:xfrm>
            <a:off x="7715250" y="3686175"/>
            <a:ext cx="904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3CB205F-95EC-493A-8664-45B8D8C9407A}"/>
              </a:ext>
            </a:extLst>
          </p:cNvPr>
          <p:cNvSpPr>
            <a:spLocks noGrp="1"/>
          </p:cNvSpPr>
          <p:nvPr/>
        </p:nvSpPr>
        <p:spPr>
          <a:xfrm>
            <a:off x="9067800" y="4429125"/>
            <a:ext cx="1123950" cy="685800"/>
          </a:xfrm>
          <a:prstGeom prst="roundRect">
            <a:avLst>
              <a:gd name="adj" fmla="val 16667"/>
            </a:avLst>
          </a:prstGeom>
          <a:solidFill>
            <a:srgbClr val="2D9C74"/>
          </a:solidFill>
          <a:ln w="0">
            <a:solidFill>
              <a:srgbClr val="2D9C7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5B61C7-F4E6-4EC1-A2EA-64C8B0BBBA18}"/>
              </a:ext>
            </a:extLst>
          </p:cNvPr>
          <p:cNvSpPr>
            <a:spLocks noGrp="1"/>
          </p:cNvSpPr>
          <p:nvPr/>
        </p:nvSpPr>
        <p:spPr>
          <a:xfrm>
            <a:off x="9182100" y="4524375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3E6A16-4974-4E74-89AE-AF6967185351}"/>
              </a:ext>
            </a:extLst>
          </p:cNvPr>
          <p:cNvSpPr>
            <a:spLocks noGrp="1"/>
          </p:cNvSpPr>
          <p:nvPr/>
        </p:nvSpPr>
        <p:spPr>
          <a:xfrm>
            <a:off x="9182100" y="4772025"/>
            <a:ext cx="904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</p:spTree>
    <p:extLst>
      <p:ext uri="{BB962C8B-B14F-4D97-AF65-F5344CB8AC3E}">
        <p14:creationId xmlns:p14="http://schemas.microsoft.com/office/powerpoint/2010/main" val="5925378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12000" decel="18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accel="12000" decel="18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accel="12000" decel="18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accel="12000" decel="18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10" grpId="0" animBg="1"/>
      <p:bldP spid="11" grpId="0"/>
      <p:bldP spid="12" grpId="0"/>
      <p:bldP spid="13" grpId="0" animBg="1"/>
      <p:bldP spid="14" grpId="0"/>
      <p:bldP spid="15" grpId="0"/>
      <p:bldP spid="16" grpId="0" animBg="1"/>
      <p:bldP spid="17" grpId="0"/>
      <p:bldP spid="1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4615FF4E-9CB2-4BBA-9877-A5B7C80FBA83}"/>
              </a:ext>
            </a:extLst>
          </p:cNvPr>
          <p:cNvSpPr>
            <a:spLocks noGrp="1"/>
          </p:cNvSpPr>
          <p:nvPr/>
        </p:nvSpPr>
        <p:spPr>
          <a:xfrm>
            <a:off x="609600" y="371475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00A7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7A7"/>
                </a:solidFill>
                <a:latin typeface="Aptos"/>
                <a:ea typeface="Aptos"/>
                <a:cs typeface="Aptos"/>
              </a:rPr>
              <a:t>CONTRIBUTION JOURNEY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88ED8A-957C-4339-AE30-4AEC5201DA5D}"/>
              </a:ext>
            </a:extLst>
          </p:cNvPr>
          <p:cNvSpPr>
            <a:spLocks noGrp="1"/>
          </p:cNvSpPr>
          <p:nvPr/>
        </p:nvSpPr>
        <p:spPr>
          <a:xfrm>
            <a:off x="609600" y="657225"/>
            <a:ext cx="1000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850" b="1">
                <a:solidFill>
                  <a:srgbClr val="0B254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2540"/>
                </a:solidFill>
                <a:latin typeface="Aptos"/>
                <a:ea typeface="Aptos"/>
                <a:cs typeface="Aptos"/>
              </a:rPr>
              <a:t>My contribution connected evidence to implementation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078797-42FC-4C9D-8B04-DEE9CCCEE714}"/>
              </a:ext>
            </a:extLst>
          </p:cNvPr>
          <p:cNvSpPr>
            <a:spLocks noGrp="1"/>
          </p:cNvSpPr>
          <p:nvPr/>
        </p:nvSpPr>
        <p:spPr>
          <a:xfrm>
            <a:off x="11239500" y="4286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050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A4B17A-D13B-48B7-B97A-9140BBE865C4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72800" cy="9525"/>
          </a:xfrm>
          <a:prstGeom prst="rect">
            <a:avLst/>
          </a:prstGeom>
          <a:solidFill>
            <a:srgbClr val="D7E0E8"/>
          </a:solidFill>
          <a:ln w="0">
            <a:solidFill>
              <a:srgbClr val="D7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1C2722-E438-405F-9CDE-4C40CD220D0A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Each stage produced an asset the team could use in the next stage.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F1FFFE-1FB4-4F64-AE25-22215C79F6BE}"/>
              </a:ext>
            </a:extLst>
          </p:cNvPr>
          <p:cNvSpPr>
            <a:spLocks noGrp="1"/>
          </p:cNvSpPr>
          <p:nvPr/>
        </p:nvSpPr>
        <p:spPr>
          <a:xfrm>
            <a:off x="1581150" y="2552700"/>
            <a:ext cx="8039100" cy="38100"/>
          </a:xfrm>
          <a:prstGeom prst="rect">
            <a:avLst/>
          </a:prstGeom>
          <a:solidFill>
            <a:srgbClr val="D7E0E8"/>
          </a:solidFill>
          <a:ln w="0">
            <a:solidFill>
              <a:srgbClr val="D7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E2602CF-88E5-40BD-AF56-6CEFF2B18D8A}"/>
              </a:ext>
            </a:extLst>
          </p:cNvPr>
          <p:cNvSpPr>
            <a:spLocks noGrp="1"/>
          </p:cNvSpPr>
          <p:nvPr/>
        </p:nvSpPr>
        <p:spPr>
          <a:xfrm>
            <a:off x="1238250" y="2219325"/>
            <a:ext cx="704850" cy="704850"/>
          </a:xfrm>
          <a:prstGeom prst="ellipse">
            <a:avLst/>
          </a:prstGeom>
          <a:solidFill>
            <a:srgbClr val="00A7A7"/>
          </a:solidFill>
          <a:ln w="0">
            <a:solidFill>
              <a:srgbClr val="00A7A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152CF2-348D-41E0-80B3-1E21FCC0A2D9}"/>
              </a:ext>
            </a:extLst>
          </p:cNvPr>
          <p:cNvSpPr>
            <a:spLocks noGrp="1"/>
          </p:cNvSpPr>
          <p:nvPr/>
        </p:nvSpPr>
        <p:spPr>
          <a:xfrm>
            <a:off x="1238250" y="2352675"/>
            <a:ext cx="704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6629F7-B7D8-4E22-8EEC-D762472084A9}"/>
              </a:ext>
            </a:extLst>
          </p:cNvPr>
          <p:cNvSpPr>
            <a:spLocks noGrp="1"/>
          </p:cNvSpPr>
          <p:nvPr/>
        </p:nvSpPr>
        <p:spPr>
          <a:xfrm>
            <a:off x="904875" y="3143250"/>
            <a:ext cx="137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1">
                <a:solidFill>
                  <a:srgbClr val="0B254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2540"/>
                </a:solidFill>
                <a:latin typeface="Aptos"/>
                <a:ea typeface="Aptos"/>
                <a:cs typeface="Aptos"/>
              </a:rPr>
              <a:t>Research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9F81CC-2FFA-4CCE-8921-9FC8F7818362}"/>
              </a:ext>
            </a:extLst>
          </p:cNvPr>
          <p:cNvSpPr>
            <a:spLocks noGrp="1"/>
          </p:cNvSpPr>
          <p:nvPr/>
        </p:nvSpPr>
        <p:spPr>
          <a:xfrm>
            <a:off x="742950" y="3562350"/>
            <a:ext cx="16954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Literature reviews and survey participation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AEA1477-B811-4F9B-AA89-43919714CF9B}"/>
              </a:ext>
            </a:extLst>
          </p:cNvPr>
          <p:cNvSpPr>
            <a:spLocks noGrp="1"/>
          </p:cNvSpPr>
          <p:nvPr/>
        </p:nvSpPr>
        <p:spPr>
          <a:xfrm>
            <a:off x="3867150" y="2219325"/>
            <a:ext cx="704850" cy="704850"/>
          </a:xfrm>
          <a:prstGeom prst="ellipse">
            <a:avLst/>
          </a:prstGeom>
          <a:solidFill>
            <a:srgbClr val="F2A93B"/>
          </a:solidFill>
          <a:ln w="0">
            <a:solidFill>
              <a:srgbClr val="F2A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E1D7A2-BF7F-4892-B7AC-04E8FD99D3A4}"/>
              </a:ext>
            </a:extLst>
          </p:cNvPr>
          <p:cNvSpPr>
            <a:spLocks noGrp="1"/>
          </p:cNvSpPr>
          <p:nvPr/>
        </p:nvSpPr>
        <p:spPr>
          <a:xfrm>
            <a:off x="3867150" y="2352675"/>
            <a:ext cx="704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C03E96-59F0-4E52-84FA-5072C9D6AA73}"/>
              </a:ext>
            </a:extLst>
          </p:cNvPr>
          <p:cNvSpPr>
            <a:spLocks noGrp="1"/>
          </p:cNvSpPr>
          <p:nvPr/>
        </p:nvSpPr>
        <p:spPr>
          <a:xfrm>
            <a:off x="3533775" y="3143250"/>
            <a:ext cx="137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1">
                <a:solidFill>
                  <a:srgbClr val="0B254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2540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9EEF7E-591E-4CC1-8BC8-DBAD6E7613C7}"/>
              </a:ext>
            </a:extLst>
          </p:cNvPr>
          <p:cNvSpPr>
            <a:spLocks noGrp="1"/>
          </p:cNvSpPr>
          <p:nvPr/>
        </p:nvSpPr>
        <p:spPr>
          <a:xfrm>
            <a:off x="3371850" y="3562350"/>
            <a:ext cx="16954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Nine owned UML diagrams across four views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4C7E6D1-8656-4A46-9AA4-13A57694219B}"/>
              </a:ext>
            </a:extLst>
          </p:cNvPr>
          <p:cNvSpPr>
            <a:spLocks noGrp="1"/>
          </p:cNvSpPr>
          <p:nvPr/>
        </p:nvSpPr>
        <p:spPr>
          <a:xfrm>
            <a:off x="6496050" y="2219325"/>
            <a:ext cx="704850" cy="704850"/>
          </a:xfrm>
          <a:prstGeom prst="ellipse">
            <a:avLst/>
          </a:prstGeom>
          <a:solidFill>
            <a:srgbClr val="4F7CAC"/>
          </a:solidFill>
          <a:ln w="0">
            <a:solidFill>
              <a:srgbClr val="4F7CA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48368F-FE8A-4A93-8D13-41FB8501CBFD}"/>
              </a:ext>
            </a:extLst>
          </p:cNvPr>
          <p:cNvSpPr>
            <a:spLocks noGrp="1"/>
          </p:cNvSpPr>
          <p:nvPr/>
        </p:nvSpPr>
        <p:spPr>
          <a:xfrm>
            <a:off x="6496050" y="2352675"/>
            <a:ext cx="704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4446B4B-7137-4818-AB9A-958399CC018F}"/>
              </a:ext>
            </a:extLst>
          </p:cNvPr>
          <p:cNvSpPr>
            <a:spLocks noGrp="1"/>
          </p:cNvSpPr>
          <p:nvPr/>
        </p:nvSpPr>
        <p:spPr>
          <a:xfrm>
            <a:off x="6162675" y="3143250"/>
            <a:ext cx="137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1">
                <a:solidFill>
                  <a:srgbClr val="0B254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2540"/>
                </a:solidFill>
                <a:latin typeface="Aptos"/>
                <a:ea typeface="Aptos"/>
                <a:cs typeface="Aptos"/>
              </a:rPr>
              <a:t>Architect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785783-3B6D-41E6-B192-DB5A33CD3718}"/>
              </a:ext>
            </a:extLst>
          </p:cNvPr>
          <p:cNvSpPr>
            <a:spLocks noGrp="1"/>
          </p:cNvSpPr>
          <p:nvPr/>
        </p:nvSpPr>
        <p:spPr>
          <a:xfrm>
            <a:off x="6000750" y="3562350"/>
            <a:ext cx="16954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Clean boundaries and one-VM deployment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8D64C1C-3308-436F-A862-CAEF51B46092}"/>
              </a:ext>
            </a:extLst>
          </p:cNvPr>
          <p:cNvSpPr>
            <a:spLocks noGrp="1"/>
          </p:cNvSpPr>
          <p:nvPr/>
        </p:nvSpPr>
        <p:spPr>
          <a:xfrm>
            <a:off x="9124950" y="2219325"/>
            <a:ext cx="704850" cy="704850"/>
          </a:xfrm>
          <a:prstGeom prst="ellipse">
            <a:avLst/>
          </a:prstGeom>
          <a:solidFill>
            <a:srgbClr val="2D9C74"/>
          </a:solidFill>
          <a:ln w="0">
            <a:solidFill>
              <a:srgbClr val="2D9C7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9CEF0A3-301F-40C2-8482-00CEE2FAC51F}"/>
              </a:ext>
            </a:extLst>
          </p:cNvPr>
          <p:cNvSpPr>
            <a:spLocks noGrp="1"/>
          </p:cNvSpPr>
          <p:nvPr/>
        </p:nvSpPr>
        <p:spPr>
          <a:xfrm>
            <a:off x="9124950" y="2352675"/>
            <a:ext cx="704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43E9A5-A95A-4699-845C-5C997845FA78}"/>
              </a:ext>
            </a:extLst>
          </p:cNvPr>
          <p:cNvSpPr>
            <a:spLocks noGrp="1"/>
          </p:cNvSpPr>
          <p:nvPr/>
        </p:nvSpPr>
        <p:spPr>
          <a:xfrm>
            <a:off x="8791575" y="3143250"/>
            <a:ext cx="137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1">
                <a:solidFill>
                  <a:srgbClr val="0B254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2540"/>
                </a:solidFill>
                <a:latin typeface="Aptos"/>
                <a:ea typeface="Aptos"/>
                <a:cs typeface="Aptos"/>
              </a:rPr>
              <a:t>Implement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159F789-DD1F-49AD-AD71-70C6D5D52875}"/>
              </a:ext>
            </a:extLst>
          </p:cNvPr>
          <p:cNvSpPr>
            <a:spLocks noGrp="1"/>
          </p:cNvSpPr>
          <p:nvPr/>
        </p:nvSpPr>
        <p:spPr>
          <a:xfrm>
            <a:off x="8629650" y="3562350"/>
            <a:ext cx="16954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Backend skeleton, APIs, and documentation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634B057-6764-4E39-81D3-44A536CCE96C}"/>
              </a:ext>
            </a:extLst>
          </p:cNvPr>
          <p:cNvSpPr>
            <a:spLocks noGrp="1"/>
          </p:cNvSpPr>
          <p:nvPr/>
        </p:nvSpPr>
        <p:spPr>
          <a:xfrm>
            <a:off x="1714500" y="4838700"/>
            <a:ext cx="8763000" cy="1000125"/>
          </a:xfrm>
          <a:prstGeom prst="roundRect">
            <a:avLst>
              <a:gd name="adj" fmla="val 15238"/>
            </a:avLst>
          </a:prstGeom>
          <a:solidFill>
            <a:srgbClr val="EAF2F8"/>
          </a:solidFill>
          <a:ln w="0">
            <a:solidFill>
              <a:srgbClr val="EAF2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9B5229C-2557-4284-A4AB-B7A5CC773FBD}"/>
              </a:ext>
            </a:extLst>
          </p:cNvPr>
          <p:cNvSpPr>
            <a:spLocks noGrp="1"/>
          </p:cNvSpPr>
          <p:nvPr/>
        </p:nvSpPr>
        <p:spPr>
          <a:xfrm>
            <a:off x="2000250" y="50577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00A7A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A7A7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F8CB4E-7AF7-4962-8A3B-9F1C4CD3A538}"/>
              </a:ext>
            </a:extLst>
          </p:cNvPr>
          <p:cNvSpPr>
            <a:spLocks noGrp="1"/>
          </p:cNvSpPr>
          <p:nvPr/>
        </p:nvSpPr>
        <p:spPr>
          <a:xfrm>
            <a:off x="3143250" y="4981575"/>
            <a:ext cx="695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826" lnSpcReduction="10000"/>
          </a:bodyPr>
          <a:lstStyle/>
          <a:p>
            <a:pPr algn="l">
              <a:buNone/>
              <a:defRPr sz="1725" b="1">
                <a:solidFill>
                  <a:srgbClr val="0B254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2540"/>
                </a:solidFill>
                <a:latin typeface="Aptos"/>
                <a:ea typeface="Aptos"/>
                <a:cs typeface="Aptos"/>
              </a:rPr>
              <a:t>A traceable backend plan: why the feature exists → how it behaves → where it belongs → how it can run.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BB900A2-C99D-41F6-9654-F181203621E6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66675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1">
                <a:solidFill>
                  <a:srgbClr val="8A98A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A98A8"/>
                </a:solidFill>
                <a:latin typeface="Aptos"/>
                <a:ea typeface="Aptos"/>
                <a:cs typeface="Aptos"/>
              </a:rPr>
              <a:t>SMART PEER COMPANION · INDIVIDUAL CONTRIBUTION</a:t>
            </a:r>
          </a:p>
        </p:txBody>
      </p:sp>
    </p:spTree>
    <p:extLst>
      <p:ext uri="{BB962C8B-B14F-4D97-AF65-F5344CB8AC3E}">
        <p14:creationId xmlns:p14="http://schemas.microsoft.com/office/powerpoint/2010/main" val="143608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5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12000" decel="18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accel="12000" decel="18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accel="12000" decel="18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accel="12000" decel="18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accel="12000" decel="18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4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10" grpId="0"/>
      <p:bldP spid="11" grpId="0" animBg="1"/>
      <p:bldP spid="12" grpId="0"/>
      <p:bldP spid="13" grpId="0"/>
      <p:bldP spid="14" grpId="0"/>
      <p:bldP spid="15" grpId="0" animBg="1"/>
      <p:bldP spid="16" grpId="0"/>
      <p:bldP spid="17" grpId="0"/>
      <p:bldP spid="18" grpId="0"/>
      <p:bldP spid="19" grpId="0" animBg="1"/>
      <p:bldP spid="20" grpId="0"/>
      <p:bldP spid="21" grpId="0"/>
      <p:bldP spid="22" grpId="0"/>
      <p:bldP spid="23" grpId="0" animBg="1"/>
      <p:bldP spid="24" grpId="0"/>
      <p:bldP spid="2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70C02261-1A4F-4524-9536-1A0FC5E31370}"/>
              </a:ext>
            </a:extLst>
          </p:cNvPr>
          <p:cNvSpPr>
            <a:spLocks noGrp="1"/>
          </p:cNvSpPr>
          <p:nvPr/>
        </p:nvSpPr>
        <p:spPr>
          <a:xfrm>
            <a:off x="609600" y="371475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00A7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7A7"/>
                </a:solidFill>
                <a:latin typeface="Aptos"/>
                <a:ea typeface="Aptos"/>
                <a:cs typeface="Aptos"/>
              </a:rPr>
              <a:t>ACADEMIC CONTRIBUTION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FF470D-650A-44D4-8EDA-A11CFCEEB783}"/>
              </a:ext>
            </a:extLst>
          </p:cNvPr>
          <p:cNvSpPr>
            <a:spLocks noGrp="1"/>
          </p:cNvSpPr>
          <p:nvPr/>
        </p:nvSpPr>
        <p:spPr>
          <a:xfrm>
            <a:off x="609600" y="657225"/>
            <a:ext cx="1000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850" b="1">
                <a:solidFill>
                  <a:srgbClr val="0B254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2540"/>
                </a:solidFill>
                <a:latin typeface="Aptos"/>
                <a:ea typeface="Aptos"/>
                <a:cs typeface="Aptos"/>
              </a:rPr>
              <a:t>Research reduced uncertainty before development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8C0107-1559-4DBA-BEE3-515A998AE568}"/>
              </a:ext>
            </a:extLst>
          </p:cNvPr>
          <p:cNvSpPr>
            <a:spLocks noGrp="1"/>
          </p:cNvSpPr>
          <p:nvPr/>
        </p:nvSpPr>
        <p:spPr>
          <a:xfrm>
            <a:off x="11239500" y="4286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050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3D3759-7D1B-425A-9E04-8D4A31EAFBA2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72800" cy="9525"/>
          </a:xfrm>
          <a:prstGeom prst="rect">
            <a:avLst/>
          </a:prstGeom>
          <a:solidFill>
            <a:srgbClr val="D7E0E8"/>
          </a:solidFill>
          <a:ln w="0">
            <a:solidFill>
              <a:srgbClr val="D7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D10179-B082-4666-AE0C-D7927DFE2950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Three assigned reviews turned broad sponsor questions into practical product choices.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4C81212-F928-43C7-98B8-28775955402E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3276600" cy="3819525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3"/>
          <a:srcRect t="4004" b="4004"/>
          <a:stretch>
            <a:fillRect/>
          </a:stretch>
        </p:blipFill>
        <p:spPr>
          <a:xfrm>
            <a:off x="781050" y="2124075"/>
            <a:ext cx="1200150" cy="1428750"/>
          </a:xfrm>
          <a:prstGeom prst="roundRect">
            <a:avLst>
              <a:gd name="adj" fmla="val 6349"/>
            </a:avLst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A1597E6-BAD1-47F2-A9A1-63E2B06F8C23}"/>
              </a:ext>
            </a:extLst>
          </p:cNvPr>
          <p:cNvSpPr>
            <a:spLocks noGrp="1"/>
          </p:cNvSpPr>
          <p:nvPr/>
        </p:nvSpPr>
        <p:spPr>
          <a:xfrm>
            <a:off x="2171700" y="2209800"/>
            <a:ext cx="990600" cy="285750"/>
          </a:xfrm>
          <a:prstGeom prst="roundRect">
            <a:avLst>
              <a:gd name="adj" fmla="val 50000"/>
            </a:avLst>
          </a:prstGeom>
          <a:solidFill>
            <a:srgbClr val="EAF2F8"/>
          </a:solidFill>
          <a:ln w="0">
            <a:solidFill>
              <a:srgbClr val="EAF2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A79DC5-009A-4CD7-B5D0-B2E8B84963D5}"/>
              </a:ext>
            </a:extLst>
          </p:cNvPr>
          <p:cNvSpPr>
            <a:spLocks noGrp="1"/>
          </p:cNvSpPr>
          <p:nvPr/>
        </p:nvSpPr>
        <p:spPr>
          <a:xfrm>
            <a:off x="2276475" y="2266950"/>
            <a:ext cx="781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900" b="1">
                <a:solidFill>
                  <a:srgbClr val="1236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2365A"/>
                </a:solidFill>
                <a:latin typeface="Aptos"/>
                <a:ea typeface="Aptos"/>
                <a:cs typeface="Aptos"/>
              </a:rPr>
              <a:t>SPRINT 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D3F93C-3648-4C42-A837-EFE7F795F1DC}"/>
              </a:ext>
            </a:extLst>
          </p:cNvPr>
          <p:cNvSpPr>
            <a:spLocks noGrp="1"/>
          </p:cNvSpPr>
          <p:nvPr/>
        </p:nvSpPr>
        <p:spPr>
          <a:xfrm>
            <a:off x="781050" y="3752850"/>
            <a:ext cx="2905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254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2540"/>
                </a:solidFill>
                <a:latin typeface="Aptos"/>
                <a:ea typeface="Aptos"/>
                <a:cs typeface="Aptos"/>
              </a:rPr>
              <a:t>AI-supported collaboration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26D6C7-7262-41BA-878E-58842E7365EC}"/>
              </a:ext>
            </a:extLst>
          </p:cNvPr>
          <p:cNvSpPr>
            <a:spLocks noGrp="1"/>
          </p:cNvSpPr>
          <p:nvPr/>
        </p:nvSpPr>
        <p:spPr>
          <a:xfrm>
            <a:off x="781050" y="4457700"/>
            <a:ext cx="514350" cy="38100"/>
          </a:xfrm>
          <a:prstGeom prst="rect">
            <a:avLst/>
          </a:prstGeom>
          <a:solidFill>
            <a:srgbClr val="00A7A7"/>
          </a:solidFill>
          <a:ln w="0">
            <a:solidFill>
              <a:srgbClr val="00A7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36B7A2-AF88-43BF-8516-5EB9E960110C}"/>
              </a:ext>
            </a:extLst>
          </p:cNvPr>
          <p:cNvSpPr>
            <a:spLocks noGrp="1"/>
          </p:cNvSpPr>
          <p:nvPr/>
        </p:nvSpPr>
        <p:spPr>
          <a:xfrm>
            <a:off x="781050" y="4648200"/>
            <a:ext cx="29051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AI should scaffold reflection and peer work—not replace student effort.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2E456BE-FB80-4E1C-BB18-D0DBA95F2523}"/>
              </a:ext>
            </a:extLst>
          </p:cNvPr>
          <p:cNvSpPr>
            <a:spLocks noGrp="1"/>
          </p:cNvSpPr>
          <p:nvPr/>
        </p:nvSpPr>
        <p:spPr>
          <a:xfrm>
            <a:off x="4295775" y="1952625"/>
            <a:ext cx="3276600" cy="3819525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4"/>
          <a:srcRect t="4004" b="4004"/>
          <a:stretch>
            <a:fillRect/>
          </a:stretch>
        </p:blipFill>
        <p:spPr>
          <a:xfrm>
            <a:off x="4467225" y="2124075"/>
            <a:ext cx="1200150" cy="1428750"/>
          </a:xfrm>
          <a:prstGeom prst="roundRect">
            <a:avLst>
              <a:gd name="adj" fmla="val 6349"/>
            </a:avLst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7ECB7B8-1D82-4984-8844-C417895EF7FD}"/>
              </a:ext>
            </a:extLst>
          </p:cNvPr>
          <p:cNvSpPr>
            <a:spLocks noGrp="1"/>
          </p:cNvSpPr>
          <p:nvPr/>
        </p:nvSpPr>
        <p:spPr>
          <a:xfrm>
            <a:off x="5857875" y="2209800"/>
            <a:ext cx="990600" cy="285750"/>
          </a:xfrm>
          <a:prstGeom prst="roundRect">
            <a:avLst>
              <a:gd name="adj" fmla="val 50000"/>
            </a:avLst>
          </a:prstGeom>
          <a:solidFill>
            <a:srgbClr val="EAF2F8"/>
          </a:solidFill>
          <a:ln w="0">
            <a:solidFill>
              <a:srgbClr val="EAF2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16FEE7-ED2F-4400-A2E5-4F856257CD83}"/>
              </a:ext>
            </a:extLst>
          </p:cNvPr>
          <p:cNvSpPr>
            <a:spLocks noGrp="1"/>
          </p:cNvSpPr>
          <p:nvPr/>
        </p:nvSpPr>
        <p:spPr>
          <a:xfrm>
            <a:off x="5962650" y="2266950"/>
            <a:ext cx="781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900" b="1">
                <a:solidFill>
                  <a:srgbClr val="1236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2365A"/>
                </a:solidFill>
                <a:latin typeface="Aptos"/>
                <a:ea typeface="Aptos"/>
                <a:cs typeface="Aptos"/>
              </a:rPr>
              <a:t>SPRINT 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823B39-03BB-4E70-9712-7A88BF696AF9}"/>
              </a:ext>
            </a:extLst>
          </p:cNvPr>
          <p:cNvSpPr>
            <a:spLocks noGrp="1"/>
          </p:cNvSpPr>
          <p:nvPr/>
        </p:nvSpPr>
        <p:spPr>
          <a:xfrm>
            <a:off x="4467225" y="3752850"/>
            <a:ext cx="2905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254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2540"/>
                </a:solidFill>
                <a:latin typeface="Aptos"/>
                <a:ea typeface="Aptos"/>
                <a:cs typeface="Aptos"/>
              </a:rPr>
              <a:t>Peer recommendation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99E16AB-554F-45B4-A9BB-C80BD4DF6D85}"/>
              </a:ext>
            </a:extLst>
          </p:cNvPr>
          <p:cNvSpPr>
            <a:spLocks noGrp="1"/>
          </p:cNvSpPr>
          <p:nvPr/>
        </p:nvSpPr>
        <p:spPr>
          <a:xfrm>
            <a:off x="4467225" y="4457700"/>
            <a:ext cx="514350" cy="38100"/>
          </a:xfrm>
          <a:prstGeom prst="rect">
            <a:avLst/>
          </a:prstGeom>
          <a:solidFill>
            <a:srgbClr val="4F7CAC"/>
          </a:solidFill>
          <a:ln w="0">
            <a:solidFill>
              <a:srgbClr val="4F7CA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35B810-A707-41F2-961B-2D5A63C390B4}"/>
              </a:ext>
            </a:extLst>
          </p:cNvPr>
          <p:cNvSpPr>
            <a:spLocks noGrp="1"/>
          </p:cNvSpPr>
          <p:nvPr/>
        </p:nvSpPr>
        <p:spPr>
          <a:xfrm>
            <a:off x="4467225" y="4648200"/>
            <a:ext cx="29051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Match using interests, notes, learning goals, and study topics.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228C31F-55C6-4FF9-B6A6-B3DD8BC818E1}"/>
              </a:ext>
            </a:extLst>
          </p:cNvPr>
          <p:cNvSpPr>
            <a:spLocks noGrp="1"/>
          </p:cNvSpPr>
          <p:nvPr/>
        </p:nvSpPr>
        <p:spPr>
          <a:xfrm>
            <a:off x="7981950" y="1952625"/>
            <a:ext cx="3276600" cy="3819525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pic>
        <p:nvPicPr>
          <p:cNvPr id="53" name="Picture 52"/>
          <p:cNvPicPr>
            <a:picLocks noChangeAspect="1"/>
          </p:cNvPicPr>
          <p:nvPr/>
        </p:nvPicPr>
        <p:blipFill>
          <a:blip r:embed="rId5"/>
          <a:srcRect t="4004" b="4004"/>
          <a:stretch>
            <a:fillRect/>
          </a:stretch>
        </p:blipFill>
        <p:spPr>
          <a:xfrm>
            <a:off x="8153400" y="2124075"/>
            <a:ext cx="1200150" cy="1428750"/>
          </a:xfrm>
          <a:prstGeom prst="roundRect">
            <a:avLst>
              <a:gd name="adj" fmla="val 6349"/>
            </a:avLst>
          </a:prstGeom>
        </p:spPr>
      </p:pic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E136220E-BDCD-4471-A52A-FFDD52B8E49B}"/>
              </a:ext>
            </a:extLst>
          </p:cNvPr>
          <p:cNvSpPr>
            <a:spLocks noGrp="1"/>
          </p:cNvSpPr>
          <p:nvPr/>
        </p:nvSpPr>
        <p:spPr>
          <a:xfrm>
            <a:off x="9544050" y="2209800"/>
            <a:ext cx="990600" cy="285750"/>
          </a:xfrm>
          <a:prstGeom prst="roundRect">
            <a:avLst>
              <a:gd name="adj" fmla="val 50000"/>
            </a:avLst>
          </a:prstGeom>
          <a:solidFill>
            <a:srgbClr val="EAF2F8"/>
          </a:solidFill>
          <a:ln w="0">
            <a:solidFill>
              <a:srgbClr val="EAF2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0888FC-34B4-471F-BE8B-FB21D3BF68C3}"/>
              </a:ext>
            </a:extLst>
          </p:cNvPr>
          <p:cNvSpPr>
            <a:spLocks noGrp="1"/>
          </p:cNvSpPr>
          <p:nvPr/>
        </p:nvSpPr>
        <p:spPr>
          <a:xfrm>
            <a:off x="9648825" y="2266950"/>
            <a:ext cx="781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900" b="1">
                <a:solidFill>
                  <a:srgbClr val="1236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2365A"/>
                </a:solidFill>
                <a:latin typeface="Aptos"/>
                <a:ea typeface="Aptos"/>
                <a:cs typeface="Aptos"/>
              </a:rPr>
              <a:t>SPRINT 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D2D6C10-E01F-4701-923B-09123FB176B3}"/>
              </a:ext>
            </a:extLst>
          </p:cNvPr>
          <p:cNvSpPr>
            <a:spLocks noGrp="1"/>
          </p:cNvSpPr>
          <p:nvPr/>
        </p:nvSpPr>
        <p:spPr>
          <a:xfrm>
            <a:off x="8153400" y="3752850"/>
            <a:ext cx="2905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254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2540"/>
                </a:solidFill>
                <a:latin typeface="Aptos"/>
                <a:ea typeface="Aptos"/>
                <a:cs typeface="Aptos"/>
              </a:rPr>
              <a:t>Feature pathway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3401100-B6FA-4580-BBD3-AF4D03600FAD}"/>
              </a:ext>
            </a:extLst>
          </p:cNvPr>
          <p:cNvSpPr>
            <a:spLocks noGrp="1"/>
          </p:cNvSpPr>
          <p:nvPr/>
        </p:nvSpPr>
        <p:spPr>
          <a:xfrm>
            <a:off x="8153400" y="4457700"/>
            <a:ext cx="514350" cy="38100"/>
          </a:xfrm>
          <a:prstGeom prst="rect">
            <a:avLst/>
          </a:prstGeom>
          <a:solidFill>
            <a:srgbClr val="F2A93B"/>
          </a:solidFill>
          <a:ln w="0">
            <a:solidFill>
              <a:srgbClr val="F2A9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B01EF7F-17F4-4F41-96EC-45343BEB6BFE}"/>
              </a:ext>
            </a:extLst>
          </p:cNvPr>
          <p:cNvSpPr>
            <a:spLocks noGrp="1"/>
          </p:cNvSpPr>
          <p:nvPr/>
        </p:nvSpPr>
        <p:spPr>
          <a:xfrm>
            <a:off x="8153400" y="4648200"/>
            <a:ext cx="29051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Start with transparent rules; evolve toward hybrid AI ranking.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E69F67F-B1D1-45DB-91EC-FF7252F7303F}"/>
              </a:ext>
            </a:extLst>
          </p:cNvPr>
          <p:cNvSpPr>
            <a:spLocks noGrp="1"/>
          </p:cNvSpPr>
          <p:nvPr/>
        </p:nvSpPr>
        <p:spPr>
          <a:xfrm>
            <a:off x="609600" y="6000750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12365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A"/>
                </a:solidFill>
                <a:latin typeface="Aptos"/>
                <a:ea typeface="Aptos"/>
                <a:cs typeface="Aptos"/>
              </a:rPr>
              <a:t>Also contributed with the team leader to survey creation and data collection.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753DFC7-FCAE-4B4B-B075-E694FA3FEA55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66675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1">
                <a:solidFill>
                  <a:srgbClr val="8A98A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A98A8"/>
                </a:solidFill>
                <a:latin typeface="Aptos"/>
                <a:ea typeface="Aptos"/>
                <a:cs typeface="Aptos"/>
              </a:rPr>
              <a:t>SMART PEER COMPANION · INDIVIDUAL CONTRIBUTION</a:t>
            </a:r>
          </a:p>
        </p:txBody>
      </p:sp>
    </p:spTree>
    <p:extLst>
      <p:ext uri="{BB962C8B-B14F-4D97-AF65-F5344CB8AC3E}">
        <p14:creationId xmlns:p14="http://schemas.microsoft.com/office/powerpoint/2010/main" val="614156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5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12000" decel="18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12000" decel="18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4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accel="12000" decel="18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accel="12000" decel="18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4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accel="12000" decel="18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accel="12000" decel="18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4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4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4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accel="12000" decel="18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4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/>
      <p:bldP spid="10" grpId="0"/>
      <p:bldP spid="11" grpId="0" animBg="1"/>
      <p:bldP spid="12" grpId="0"/>
      <p:bldP spid="13" grpId="0" animBg="1"/>
      <p:bldP spid="15" grpId="0" animBg="1"/>
      <p:bldP spid="16" grpId="0"/>
      <p:bldP spid="17" grpId="0"/>
      <p:bldP spid="18" grpId="0" animBg="1"/>
      <p:bldP spid="19" grpId="0"/>
      <p:bldP spid="20" grpId="0" animBg="1"/>
      <p:bldP spid="22" grpId="0" animBg="1"/>
      <p:bldP spid="23" grpId="0"/>
      <p:bldP spid="24" grpId="0"/>
      <p:bldP spid="25" grpId="0" animBg="1"/>
      <p:bldP spid="26" grpId="0"/>
      <p:bldP spid="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EC2735A-D01E-4988-98FD-C2C3EF2B40FA}"/>
              </a:ext>
            </a:extLst>
          </p:cNvPr>
          <p:cNvSpPr>
            <a:spLocks noGrp="1"/>
          </p:cNvSpPr>
          <p:nvPr/>
        </p:nvSpPr>
        <p:spPr>
          <a:xfrm>
            <a:off x="609600" y="371475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00A7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7A7"/>
                </a:solidFill>
                <a:latin typeface="Aptos"/>
                <a:ea typeface="Aptos"/>
                <a:cs typeface="Aptos"/>
              </a:rPr>
              <a:t>SYSTEM MODELLING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E0C2A3-4795-467A-A2F2-87019BD2805B}"/>
              </a:ext>
            </a:extLst>
          </p:cNvPr>
          <p:cNvSpPr>
            <a:spLocks noGrp="1"/>
          </p:cNvSpPr>
          <p:nvPr/>
        </p:nvSpPr>
        <p:spPr>
          <a:xfrm>
            <a:off x="609600" y="657225"/>
            <a:ext cx="1000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850" b="1">
                <a:solidFill>
                  <a:srgbClr val="0B254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2540"/>
                </a:solidFill>
                <a:latin typeface="Aptos"/>
                <a:ea typeface="Aptos"/>
                <a:cs typeface="Aptos"/>
              </a:rPr>
              <a:t>I owned nine UML views of the backend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85040C-6C1C-4D27-AF78-067273B7D2D8}"/>
              </a:ext>
            </a:extLst>
          </p:cNvPr>
          <p:cNvSpPr>
            <a:spLocks noGrp="1"/>
          </p:cNvSpPr>
          <p:nvPr/>
        </p:nvSpPr>
        <p:spPr>
          <a:xfrm>
            <a:off x="11239500" y="4286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050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073EF7-66D8-4CCD-BDAF-8DBB7903CEFE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72800" cy="9525"/>
          </a:xfrm>
          <a:prstGeom prst="rect">
            <a:avLst/>
          </a:prstGeom>
          <a:solidFill>
            <a:srgbClr val="D7E0E8"/>
          </a:solidFill>
          <a:ln w="0">
            <a:solidFill>
              <a:srgbClr val="D7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BA2EAF-BD15-4611-AD3C-1F5D64318E95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952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Together, the diagrams describe workflow, interaction, data structure, and module boundaries.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F5088C5-1B88-40BF-9B94-76CB06F00597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5238750" cy="1666875"/>
          </a:xfrm>
          <a:prstGeom prst="roundRect">
            <a:avLst>
              <a:gd name="adj" fmla="val 9143"/>
            </a:avLst>
          </a:prstGeom>
          <a:solidFill>
            <a:srgbClr val="DDF6F4"/>
          </a:solidFill>
          <a:ln w="0">
            <a:solidFill>
              <a:srgbClr val="DDF6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A99339-BDA6-4E91-ACE0-39BA2FA77411}"/>
              </a:ext>
            </a:extLst>
          </p:cNvPr>
          <p:cNvSpPr>
            <a:spLocks noGrp="1"/>
          </p:cNvSpPr>
          <p:nvPr/>
        </p:nvSpPr>
        <p:spPr>
          <a:xfrm>
            <a:off x="838200" y="2181225"/>
            <a:ext cx="5143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250" b="1">
                <a:solidFill>
                  <a:srgbClr val="00A7A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A7A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1E923E-CD6B-47F5-A778-B286ED2897AA}"/>
              </a:ext>
            </a:extLst>
          </p:cNvPr>
          <p:cNvSpPr>
            <a:spLocks noGrp="1"/>
          </p:cNvSpPr>
          <p:nvPr/>
        </p:nvSpPr>
        <p:spPr>
          <a:xfrm>
            <a:off x="1485900" y="219075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0B254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2540"/>
                </a:solidFill>
                <a:latin typeface="Aptos"/>
                <a:ea typeface="Aptos"/>
                <a:cs typeface="Aptos"/>
              </a:rPr>
              <a:t>Activity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189D8A-AACB-4F5D-A77C-8E8985320C83}"/>
              </a:ext>
            </a:extLst>
          </p:cNvPr>
          <p:cNvSpPr>
            <a:spLocks noGrp="1"/>
          </p:cNvSpPr>
          <p:nvPr/>
        </p:nvSpPr>
        <p:spPr>
          <a:xfrm>
            <a:off x="1485900" y="25908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00A7A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A7A7"/>
                </a:solidFill>
                <a:latin typeface="Aptos"/>
                <a:ea typeface="Aptos"/>
                <a:cs typeface="Aptos"/>
              </a:rPr>
              <a:t>Figure 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3488D1-9DC4-4BF5-8133-325E703311EA}"/>
              </a:ext>
            </a:extLst>
          </p:cNvPr>
          <p:cNvSpPr>
            <a:spLocks noGrp="1"/>
          </p:cNvSpPr>
          <p:nvPr/>
        </p:nvSpPr>
        <p:spPr>
          <a:xfrm>
            <a:off x="1485900" y="2933700"/>
            <a:ext cx="3952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Upload learning material and AI processing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A516722-7625-4992-890E-1D2911F83E57}"/>
              </a:ext>
            </a:extLst>
          </p:cNvPr>
          <p:cNvSpPr>
            <a:spLocks noGrp="1"/>
          </p:cNvSpPr>
          <p:nvPr/>
        </p:nvSpPr>
        <p:spPr>
          <a:xfrm>
            <a:off x="6153150" y="1952625"/>
            <a:ext cx="5238750" cy="1666875"/>
          </a:xfrm>
          <a:prstGeom prst="roundRect">
            <a:avLst>
              <a:gd name="adj" fmla="val 9143"/>
            </a:avLst>
          </a:prstGeom>
          <a:solidFill>
            <a:srgbClr val="EAF2F8"/>
          </a:solidFill>
          <a:ln w="0">
            <a:solidFill>
              <a:srgbClr val="EAF2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8B1818-BD00-42C0-8BAB-12A5FD55AF58}"/>
              </a:ext>
            </a:extLst>
          </p:cNvPr>
          <p:cNvSpPr>
            <a:spLocks noGrp="1"/>
          </p:cNvSpPr>
          <p:nvPr/>
        </p:nvSpPr>
        <p:spPr>
          <a:xfrm>
            <a:off x="6381750" y="2181225"/>
            <a:ext cx="5143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250" b="1">
                <a:solidFill>
                  <a:srgbClr val="4F7CA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4F7CA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68516C7-4616-4D90-97C7-FDC50ED07B62}"/>
              </a:ext>
            </a:extLst>
          </p:cNvPr>
          <p:cNvSpPr>
            <a:spLocks noGrp="1"/>
          </p:cNvSpPr>
          <p:nvPr/>
        </p:nvSpPr>
        <p:spPr>
          <a:xfrm>
            <a:off x="7029450" y="219075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0B254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2540"/>
                </a:solidFill>
                <a:latin typeface="Aptos"/>
                <a:ea typeface="Aptos"/>
                <a:cs typeface="Aptos"/>
              </a:rPr>
              <a:t>Sequence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0C5220-A6F8-47C7-8942-ECC7424CE053}"/>
              </a:ext>
            </a:extLst>
          </p:cNvPr>
          <p:cNvSpPr>
            <a:spLocks noGrp="1"/>
          </p:cNvSpPr>
          <p:nvPr/>
        </p:nvSpPr>
        <p:spPr>
          <a:xfrm>
            <a:off x="7029450" y="25908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4F7CA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F7CAC"/>
                </a:solidFill>
                <a:latin typeface="Aptos"/>
                <a:ea typeface="Aptos"/>
                <a:cs typeface="Aptos"/>
              </a:rPr>
              <a:t>Figures 11, 12, 16, 17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AE60DD-6FEF-482D-8653-0D00B62E29C2}"/>
              </a:ext>
            </a:extLst>
          </p:cNvPr>
          <p:cNvSpPr>
            <a:spLocks noGrp="1"/>
          </p:cNvSpPr>
          <p:nvPr/>
        </p:nvSpPr>
        <p:spPr>
          <a:xfrm>
            <a:off x="7029450" y="2933700"/>
            <a:ext cx="3952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Authentication · PDF/RAG · AI question · Facilitator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FD737CF-2294-4D3F-84AF-5CBF816E24EB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5238750" cy="1666875"/>
          </a:xfrm>
          <a:prstGeom prst="roundRect">
            <a:avLst>
              <a:gd name="adj" fmla="val 9143"/>
            </a:avLst>
          </a:prstGeom>
          <a:solidFill>
            <a:srgbClr val="FFF2D9"/>
          </a:solidFill>
          <a:ln w="0">
            <a:solidFill>
              <a:srgbClr val="FFF2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127A279-08F8-44A2-9E19-8B62333EC21C}"/>
              </a:ext>
            </a:extLst>
          </p:cNvPr>
          <p:cNvSpPr>
            <a:spLocks noGrp="1"/>
          </p:cNvSpPr>
          <p:nvPr/>
        </p:nvSpPr>
        <p:spPr>
          <a:xfrm>
            <a:off x="838200" y="4229100"/>
            <a:ext cx="5143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250" b="1">
                <a:solidFill>
                  <a:srgbClr val="F2A93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2A93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47A525C-4F17-4053-A95B-7ADE7C8DFA48}"/>
              </a:ext>
            </a:extLst>
          </p:cNvPr>
          <p:cNvSpPr>
            <a:spLocks noGrp="1"/>
          </p:cNvSpPr>
          <p:nvPr/>
        </p:nvSpPr>
        <p:spPr>
          <a:xfrm>
            <a:off x="1485900" y="4238625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0B254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2540"/>
                </a:solidFill>
                <a:latin typeface="Aptos"/>
                <a:ea typeface="Aptos"/>
                <a:cs typeface="Aptos"/>
              </a:rPr>
              <a:t>Class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AC7CC06-D973-4700-B0F2-1F9F12BC37A2}"/>
              </a:ext>
            </a:extLst>
          </p:cNvPr>
          <p:cNvSpPr>
            <a:spLocks noGrp="1"/>
          </p:cNvSpPr>
          <p:nvPr/>
        </p:nvSpPr>
        <p:spPr>
          <a:xfrm>
            <a:off x="1485900" y="4638675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F2A93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2A93B"/>
                </a:solidFill>
                <a:latin typeface="Aptos"/>
                <a:ea typeface="Aptos"/>
                <a:cs typeface="Aptos"/>
              </a:rPr>
              <a:t>Figures 19, 20, 25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49DE4A-3B34-4280-A9CD-03CA10E1227C}"/>
              </a:ext>
            </a:extLst>
          </p:cNvPr>
          <p:cNvSpPr>
            <a:spLocks noGrp="1"/>
          </p:cNvSpPr>
          <p:nvPr/>
        </p:nvSpPr>
        <p:spPr>
          <a:xfrm>
            <a:off x="1485900" y="4981575"/>
            <a:ext cx="3952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Users · Collaboration · Backend services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4901EF4-EA26-44E6-92EB-595FBA132B76}"/>
              </a:ext>
            </a:extLst>
          </p:cNvPr>
          <p:cNvSpPr>
            <a:spLocks noGrp="1"/>
          </p:cNvSpPr>
          <p:nvPr/>
        </p:nvSpPr>
        <p:spPr>
          <a:xfrm>
            <a:off x="6153150" y="4000500"/>
            <a:ext cx="5238750" cy="1666875"/>
          </a:xfrm>
          <a:prstGeom prst="roundRect">
            <a:avLst>
              <a:gd name="adj" fmla="val 9143"/>
            </a:avLst>
          </a:prstGeom>
          <a:solidFill>
            <a:srgbClr val="E8F5EF"/>
          </a:solidFill>
          <a:ln w="0">
            <a:solidFill>
              <a:srgbClr val="E8F5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DC2C9B8-9E0E-4A53-B740-0AED84A0586B}"/>
              </a:ext>
            </a:extLst>
          </p:cNvPr>
          <p:cNvSpPr>
            <a:spLocks noGrp="1"/>
          </p:cNvSpPr>
          <p:nvPr/>
        </p:nvSpPr>
        <p:spPr>
          <a:xfrm>
            <a:off x="6381750" y="4229100"/>
            <a:ext cx="5143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250" b="1">
                <a:solidFill>
                  <a:srgbClr val="2D9C7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D9C7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A974C6-23CC-45AF-B52C-3DBB687C587B}"/>
              </a:ext>
            </a:extLst>
          </p:cNvPr>
          <p:cNvSpPr>
            <a:spLocks noGrp="1"/>
          </p:cNvSpPr>
          <p:nvPr/>
        </p:nvSpPr>
        <p:spPr>
          <a:xfrm>
            <a:off x="7029450" y="4238625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0B254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2540"/>
                </a:solidFill>
                <a:latin typeface="Aptos"/>
                <a:ea typeface="Aptos"/>
                <a:cs typeface="Aptos"/>
              </a:rPr>
              <a:t>Component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BA77EC8-115E-4962-BD62-DDC04DFE1C46}"/>
              </a:ext>
            </a:extLst>
          </p:cNvPr>
          <p:cNvSpPr>
            <a:spLocks noGrp="1"/>
          </p:cNvSpPr>
          <p:nvPr/>
        </p:nvSpPr>
        <p:spPr>
          <a:xfrm>
            <a:off x="7029450" y="4638675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2D9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9C74"/>
                </a:solidFill>
                <a:latin typeface="Aptos"/>
                <a:ea typeface="Aptos"/>
                <a:cs typeface="Aptos"/>
              </a:rPr>
              <a:t>Figure 28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1D87B11-89FF-480E-869A-4FE5FBA78FCD}"/>
              </a:ext>
            </a:extLst>
          </p:cNvPr>
          <p:cNvSpPr>
            <a:spLocks noGrp="1"/>
          </p:cNvSpPr>
          <p:nvPr/>
        </p:nvSpPr>
        <p:spPr>
          <a:xfrm>
            <a:off x="7029450" y="4981575"/>
            <a:ext cx="3952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Collaboration module and its dependencies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D328920-284E-454D-9E2C-3279DABC24F5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66675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1">
                <a:solidFill>
                  <a:srgbClr val="8A98A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A98A8"/>
                </a:solidFill>
                <a:latin typeface="Aptos"/>
                <a:ea typeface="Aptos"/>
                <a:cs typeface="Aptos"/>
              </a:rPr>
              <a:t>SMART PEER COMPANION · INDIVIDUAL CONTRIBUTION</a:t>
            </a:r>
          </a:p>
        </p:txBody>
      </p:sp>
    </p:spTree>
    <p:extLst>
      <p:ext uri="{BB962C8B-B14F-4D97-AF65-F5344CB8AC3E}">
        <p14:creationId xmlns:p14="http://schemas.microsoft.com/office/powerpoint/2010/main" val="122549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5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12000" decel="18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accel="12000" decel="18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accel="12000" decel="18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accel="12000" decel="18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4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9" grpId="0"/>
      <p:bldP spid="10" grpId="0"/>
      <p:bldP spid="11" grpId="0" animBg="1"/>
      <p:bldP spid="12" grpId="0"/>
      <p:bldP spid="13" grpId="0"/>
      <p:bldP spid="14" grpId="0"/>
      <p:bldP spid="15" grpId="0"/>
      <p:bldP spid="16" grpId="0" animBg="1"/>
      <p:bldP spid="17" grpId="0"/>
      <p:bldP spid="18" grpId="0"/>
      <p:bldP spid="19" grpId="0"/>
      <p:bldP spid="20" grpId="0"/>
      <p:bldP spid="21" grpId="0" animBg="1"/>
      <p:bldP spid="22" grpId="0"/>
      <p:bldP spid="23" grpId="0"/>
      <p:bldP spid="24" grpId="0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92C2B2FC-C74A-43CE-9247-28BEC67CCBF4}"/>
              </a:ext>
            </a:extLst>
          </p:cNvPr>
          <p:cNvSpPr>
            <a:spLocks noGrp="1"/>
          </p:cNvSpPr>
          <p:nvPr/>
        </p:nvSpPr>
        <p:spPr>
          <a:xfrm>
            <a:off x="609600" y="371475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00A7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7A7"/>
                </a:solidFill>
                <a:latin typeface="Aptos"/>
                <a:ea typeface="Aptos"/>
                <a:cs typeface="Aptos"/>
              </a:rPr>
              <a:t>SELECTED EVIDENCE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4E9EE2-37E2-4BD6-8A4F-960F0BF1256B}"/>
              </a:ext>
            </a:extLst>
          </p:cNvPr>
          <p:cNvSpPr>
            <a:spLocks noGrp="1"/>
          </p:cNvSpPr>
          <p:nvPr/>
        </p:nvSpPr>
        <p:spPr>
          <a:xfrm>
            <a:off x="609600" y="657225"/>
            <a:ext cx="1000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850" b="1">
                <a:solidFill>
                  <a:srgbClr val="0B254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2540"/>
                </a:solidFill>
                <a:latin typeface="Aptos"/>
                <a:ea typeface="Aptos"/>
                <a:cs typeface="Aptos"/>
              </a:rPr>
              <a:t>The UML links user actions to backend responsibility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BE41A0-F925-4637-923E-80179BC34B2A}"/>
              </a:ext>
            </a:extLst>
          </p:cNvPr>
          <p:cNvSpPr>
            <a:spLocks noGrp="1"/>
          </p:cNvSpPr>
          <p:nvPr/>
        </p:nvSpPr>
        <p:spPr>
          <a:xfrm>
            <a:off x="11239500" y="4286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050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981C78-1718-469D-A1BB-EA0CB7F9D0F9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72800" cy="9525"/>
          </a:xfrm>
          <a:prstGeom prst="rect">
            <a:avLst/>
          </a:prstGeom>
          <a:solidFill>
            <a:srgbClr val="D7E0E8"/>
          </a:solidFill>
          <a:ln w="0">
            <a:solidFill>
              <a:srgbClr val="D7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5B0CF6E-CF6E-4295-8B04-42A987F4FDE3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3276600" cy="3048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1657927"/>
            <a:ext cx="3276600" cy="2780145"/>
          </a:xfrm>
          <a:prstGeom prst="roundRect">
            <a:avLst>
              <a:gd name="adj" fmla="val 3750"/>
            </a:avLst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BAC26B7-A4C2-4157-81A8-0BB8C375E515}"/>
              </a:ext>
            </a:extLst>
          </p:cNvPr>
          <p:cNvSpPr>
            <a:spLocks noGrp="1"/>
          </p:cNvSpPr>
          <p:nvPr/>
        </p:nvSpPr>
        <p:spPr>
          <a:xfrm>
            <a:off x="609600" y="4810125"/>
            <a:ext cx="1066800" cy="285750"/>
          </a:xfrm>
          <a:prstGeom prst="roundRect">
            <a:avLst>
              <a:gd name="adj" fmla="val 50000"/>
            </a:avLst>
          </a:prstGeom>
          <a:solidFill>
            <a:srgbClr val="DDF6F4"/>
          </a:solidFill>
          <a:ln w="0">
            <a:solidFill>
              <a:srgbClr val="DDF6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0DAE3D-3101-4D2B-9BCC-8DCE2DD46D7D}"/>
              </a:ext>
            </a:extLst>
          </p:cNvPr>
          <p:cNvSpPr>
            <a:spLocks noGrp="1"/>
          </p:cNvSpPr>
          <p:nvPr/>
        </p:nvSpPr>
        <p:spPr>
          <a:xfrm>
            <a:off x="714375" y="4867275"/>
            <a:ext cx="857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900" b="1">
                <a:solidFill>
                  <a:srgbClr val="00A7A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7A7"/>
                </a:solidFill>
                <a:latin typeface="Aptos"/>
                <a:ea typeface="Aptos"/>
                <a:cs typeface="Aptos"/>
              </a:rPr>
              <a:t>FIGURE 11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4D61D8-52FA-41E3-A3A7-4C019E5F9477}"/>
              </a:ext>
            </a:extLst>
          </p:cNvPr>
          <p:cNvSpPr>
            <a:spLocks noGrp="1"/>
          </p:cNvSpPr>
          <p:nvPr/>
        </p:nvSpPr>
        <p:spPr>
          <a:xfrm>
            <a:off x="609600" y="5219700"/>
            <a:ext cx="3238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254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2540"/>
                </a:solidFill>
                <a:latin typeface="Aptos"/>
                <a:ea typeface="Aptos"/>
                <a:cs typeface="Aptos"/>
              </a:rPr>
              <a:t>Authentication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393953-A49C-443B-A555-6312BD9F2163}"/>
              </a:ext>
            </a:extLst>
          </p:cNvPr>
          <p:cNvSpPr>
            <a:spLocks noGrp="1"/>
          </p:cNvSpPr>
          <p:nvPr/>
        </p:nvSpPr>
        <p:spPr>
          <a:xfrm>
            <a:off x="609600" y="5581650"/>
            <a:ext cx="3238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Credentials → verification → session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D5D21ED-52D9-4A80-932D-F2BC3D403F7D}"/>
              </a:ext>
            </a:extLst>
          </p:cNvPr>
          <p:cNvSpPr>
            <a:spLocks noGrp="1"/>
          </p:cNvSpPr>
          <p:nvPr/>
        </p:nvSpPr>
        <p:spPr>
          <a:xfrm>
            <a:off x="4295775" y="1524000"/>
            <a:ext cx="3276600" cy="3048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295775" y="1657927"/>
            <a:ext cx="3276600" cy="2780145"/>
          </a:xfrm>
          <a:prstGeom prst="roundRect">
            <a:avLst>
              <a:gd name="adj" fmla="val 3750"/>
            </a:avLst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9D1FB7A-2A05-4FFA-9FFB-ED89F1FE2C6C}"/>
              </a:ext>
            </a:extLst>
          </p:cNvPr>
          <p:cNvSpPr>
            <a:spLocks noGrp="1"/>
          </p:cNvSpPr>
          <p:nvPr/>
        </p:nvSpPr>
        <p:spPr>
          <a:xfrm>
            <a:off x="4295775" y="4810125"/>
            <a:ext cx="1066800" cy="285750"/>
          </a:xfrm>
          <a:prstGeom prst="roundRect">
            <a:avLst>
              <a:gd name="adj" fmla="val 50000"/>
            </a:avLst>
          </a:prstGeom>
          <a:solidFill>
            <a:srgbClr val="DDF6F4"/>
          </a:solidFill>
          <a:ln w="0">
            <a:solidFill>
              <a:srgbClr val="DDF6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050989-B51E-4E1B-A523-FC39F324F17E}"/>
              </a:ext>
            </a:extLst>
          </p:cNvPr>
          <p:cNvSpPr>
            <a:spLocks noGrp="1"/>
          </p:cNvSpPr>
          <p:nvPr/>
        </p:nvSpPr>
        <p:spPr>
          <a:xfrm>
            <a:off x="4400550" y="4867275"/>
            <a:ext cx="857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900" b="1">
                <a:solidFill>
                  <a:srgbClr val="00A7A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7A7"/>
                </a:solidFill>
                <a:latin typeface="Aptos"/>
                <a:ea typeface="Aptos"/>
                <a:cs typeface="Aptos"/>
              </a:rPr>
              <a:t>FIGURE 12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9BB5C0-8DAA-4BAE-B58B-88F59D3083BD}"/>
              </a:ext>
            </a:extLst>
          </p:cNvPr>
          <p:cNvSpPr>
            <a:spLocks noGrp="1"/>
          </p:cNvSpPr>
          <p:nvPr/>
        </p:nvSpPr>
        <p:spPr>
          <a:xfrm>
            <a:off x="4295775" y="5219700"/>
            <a:ext cx="3238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254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2540"/>
                </a:solidFill>
                <a:latin typeface="Aptos"/>
                <a:ea typeface="Aptos"/>
                <a:cs typeface="Aptos"/>
              </a:rPr>
              <a:t>PDF + embeddings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7C8A183-8269-4885-8B45-90A454ECE355}"/>
              </a:ext>
            </a:extLst>
          </p:cNvPr>
          <p:cNvSpPr>
            <a:spLocks noGrp="1"/>
          </p:cNvSpPr>
          <p:nvPr/>
        </p:nvSpPr>
        <p:spPr>
          <a:xfrm>
            <a:off x="4295775" y="5581650"/>
            <a:ext cx="3238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Validate → store → chunk → embed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BF64C1B-42FE-4C17-B7A7-57B4335BD3E2}"/>
              </a:ext>
            </a:extLst>
          </p:cNvPr>
          <p:cNvSpPr>
            <a:spLocks noGrp="1"/>
          </p:cNvSpPr>
          <p:nvPr/>
        </p:nvSpPr>
        <p:spPr>
          <a:xfrm>
            <a:off x="7981950" y="1524000"/>
            <a:ext cx="3276600" cy="3048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048625" y="1524000"/>
            <a:ext cx="3143250" cy="3048000"/>
          </a:xfrm>
          <a:prstGeom prst="roundRect">
            <a:avLst>
              <a:gd name="adj" fmla="val 3750"/>
            </a:avLst>
          </a:prstGeom>
        </p:spPr>
      </p:pic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F7CF4CF-3C38-4E5D-8E66-7E626DD62B38}"/>
              </a:ext>
            </a:extLst>
          </p:cNvPr>
          <p:cNvSpPr>
            <a:spLocks noGrp="1"/>
          </p:cNvSpPr>
          <p:nvPr/>
        </p:nvSpPr>
        <p:spPr>
          <a:xfrm>
            <a:off x="7981950" y="4810125"/>
            <a:ext cx="1066800" cy="285750"/>
          </a:xfrm>
          <a:prstGeom prst="roundRect">
            <a:avLst>
              <a:gd name="adj" fmla="val 50000"/>
            </a:avLst>
          </a:prstGeom>
          <a:solidFill>
            <a:srgbClr val="DDF6F4"/>
          </a:solidFill>
          <a:ln w="0">
            <a:solidFill>
              <a:srgbClr val="DDF6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9321F92-99BA-4D14-844B-65F36DCF305D}"/>
              </a:ext>
            </a:extLst>
          </p:cNvPr>
          <p:cNvSpPr>
            <a:spLocks noGrp="1"/>
          </p:cNvSpPr>
          <p:nvPr/>
        </p:nvSpPr>
        <p:spPr>
          <a:xfrm>
            <a:off x="8086725" y="4867275"/>
            <a:ext cx="857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900" b="1">
                <a:solidFill>
                  <a:srgbClr val="00A7A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7A7"/>
                </a:solidFill>
                <a:latin typeface="Aptos"/>
                <a:ea typeface="Aptos"/>
                <a:cs typeface="Aptos"/>
              </a:rPr>
              <a:t>FIGURE 28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85F2C8-023A-4820-8EC9-9EBD83617422}"/>
              </a:ext>
            </a:extLst>
          </p:cNvPr>
          <p:cNvSpPr>
            <a:spLocks noGrp="1"/>
          </p:cNvSpPr>
          <p:nvPr/>
        </p:nvSpPr>
        <p:spPr>
          <a:xfrm>
            <a:off x="7981950" y="5219700"/>
            <a:ext cx="3238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254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2540"/>
                </a:solidFill>
                <a:latin typeface="Aptos"/>
                <a:ea typeface="Aptos"/>
                <a:cs typeface="Aptos"/>
              </a:rPr>
              <a:t>Collaboration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9234D78-A66E-470B-81A8-D77BDC753011}"/>
              </a:ext>
            </a:extLst>
          </p:cNvPr>
          <p:cNvSpPr>
            <a:spLocks noGrp="1"/>
          </p:cNvSpPr>
          <p:nvPr/>
        </p:nvSpPr>
        <p:spPr>
          <a:xfrm>
            <a:off x="7981950" y="5581650"/>
            <a:ext cx="3238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Channels, discussion, files, and AI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9F806EA-3F34-4ADF-8678-6AE8F191896E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66675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1">
                <a:solidFill>
                  <a:srgbClr val="8A98A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A98A8"/>
                </a:solidFill>
                <a:latin typeface="Aptos"/>
                <a:ea typeface="Aptos"/>
                <a:cs typeface="Aptos"/>
              </a:rPr>
              <a:t>SMART PEER COMPANION · INDIVIDUAL CONTRIBUTION</a:t>
            </a:r>
          </a:p>
        </p:txBody>
      </p:sp>
    </p:spTree>
    <p:extLst>
      <p:ext uri="{BB962C8B-B14F-4D97-AF65-F5344CB8AC3E}">
        <p14:creationId xmlns:p14="http://schemas.microsoft.com/office/powerpoint/2010/main" val="842722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5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12000" decel="18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12000" decel="18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4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accel="12000" decel="18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accel="12000" decel="18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4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accel="12000" decel="18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accel="12000" decel="18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4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/>
      <p:bldP spid="9" grpId="0"/>
      <p:bldP spid="10" grpId="0"/>
      <p:bldP spid="11" grpId="0" animBg="1"/>
      <p:bldP spid="13" grpId="0" animBg="1"/>
      <p:bldP spid="14" grpId="0"/>
      <p:bldP spid="15" grpId="0"/>
      <p:bldP spid="16" grpId="0"/>
      <p:bldP spid="17" grpId="0" animBg="1"/>
      <p:bldP spid="19" grpId="0" animBg="1"/>
      <p:bldP spid="20" grpId="0"/>
      <p:bldP spid="21" grpId="0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BD5DD08A-7A2F-4DC0-9D80-2C6D029BA227}"/>
              </a:ext>
            </a:extLst>
          </p:cNvPr>
          <p:cNvSpPr>
            <a:spLocks noGrp="1"/>
          </p:cNvSpPr>
          <p:nvPr/>
        </p:nvSpPr>
        <p:spPr>
          <a:xfrm>
            <a:off x="609600" y="371475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00A7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7A7"/>
                </a:solidFill>
                <a:latin typeface="Aptos"/>
                <a:ea typeface="Aptos"/>
                <a:cs typeface="Aptos"/>
              </a:rPr>
              <a:t>BACKEND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FC499F-A6F2-405C-A36C-DF86BF4D6B39}"/>
              </a:ext>
            </a:extLst>
          </p:cNvPr>
          <p:cNvSpPr>
            <a:spLocks noGrp="1"/>
          </p:cNvSpPr>
          <p:nvPr/>
        </p:nvSpPr>
        <p:spPr>
          <a:xfrm>
            <a:off x="609600" y="657225"/>
            <a:ext cx="1000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850" b="1">
                <a:solidFill>
                  <a:srgbClr val="0B254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2540"/>
                </a:solidFill>
                <a:latin typeface="Aptos"/>
                <a:ea typeface="Aptos"/>
                <a:cs typeface="Aptos"/>
              </a:rPr>
              <a:t>The sponsor’s one-VM decision shaped the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D1C884-2988-4A13-A7B6-E98193F1EFC7}"/>
              </a:ext>
            </a:extLst>
          </p:cNvPr>
          <p:cNvSpPr>
            <a:spLocks noGrp="1"/>
          </p:cNvSpPr>
          <p:nvPr/>
        </p:nvSpPr>
        <p:spPr>
          <a:xfrm>
            <a:off x="11239500" y="4286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050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96C5FF-0CEF-420F-9E2B-BD1B14D1B0AD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72800" cy="9525"/>
          </a:xfrm>
          <a:prstGeom prst="rect">
            <a:avLst/>
          </a:prstGeom>
          <a:solidFill>
            <a:srgbClr val="D7E0E8"/>
          </a:solidFill>
          <a:ln w="0">
            <a:solidFill>
              <a:srgbClr val="D7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72F12F5-DBEE-4725-8EEB-F9FA92734E65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2057400" cy="285750"/>
          </a:xfrm>
          <a:prstGeom prst="roundRect">
            <a:avLst>
              <a:gd name="adj" fmla="val 50000"/>
            </a:avLst>
          </a:prstGeom>
          <a:solidFill>
            <a:srgbClr val="FFF2D9"/>
          </a:solidFill>
          <a:ln w="0">
            <a:solidFill>
              <a:srgbClr val="FFF2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21A9D4-6D5E-44ED-9BEC-0A416E0C6C5E}"/>
              </a:ext>
            </a:extLst>
          </p:cNvPr>
          <p:cNvSpPr>
            <a:spLocks noGrp="1"/>
          </p:cNvSpPr>
          <p:nvPr/>
        </p:nvSpPr>
        <p:spPr>
          <a:xfrm>
            <a:off x="714375" y="1628775"/>
            <a:ext cx="1847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621"/>
          </a:bodyPr>
          <a:lstStyle/>
          <a:p>
            <a:pPr algn="ctr">
              <a:buNone/>
              <a:defRPr sz="900" b="1">
                <a:solidFill>
                  <a:srgbClr val="A968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96800"/>
                </a:solidFill>
                <a:latin typeface="Aptos"/>
                <a:ea typeface="Aptos"/>
                <a:cs typeface="Aptos"/>
              </a:rPr>
              <a:t>SPONSOR-ALIGNED CONSTRAINT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1CCEB3-4596-459C-BC25-FB8DBC9E739E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4333875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>
                <a:solidFill>
                  <a:srgbClr val="0B2540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B2540"/>
                </a:solidFill>
                <a:latin typeface="Aptos"/>
                <a:ea typeface="Aptos"/>
                <a:cs typeface="Aptos"/>
              </a:rPr>
              <a:t>One virtual machine.</a:t>
            </a:r>
          </a:p>
          <a:p>
            <a:pPr algn="l">
              <a:buNone/>
              <a:defRPr sz="2625" b="1">
                <a:solidFill>
                  <a:srgbClr val="0B2540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B2540"/>
                </a:solidFill>
                <a:latin typeface="Aptos"/>
                <a:ea typeface="Aptos"/>
                <a:cs typeface="Aptos"/>
              </a:rPr>
              <a:t>Clear service boundaries.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322F1D-BA40-4F42-BF1C-E8B5AF24DD20}"/>
              </a:ext>
            </a:extLst>
          </p:cNvPr>
          <p:cNvSpPr>
            <a:spLocks noGrp="1"/>
          </p:cNvSpPr>
          <p:nvPr/>
        </p:nvSpPr>
        <p:spPr>
          <a:xfrm>
            <a:off x="609600" y="3324225"/>
            <a:ext cx="433387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I adapted the design so the system could be deployed now without losing a path to scale later.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2F0640-CA98-4F11-96CE-61E0C4990E39}"/>
              </a:ext>
            </a:extLst>
          </p:cNvPr>
          <p:cNvSpPr>
            <a:spLocks noGrp="1"/>
          </p:cNvSpPr>
          <p:nvPr/>
        </p:nvSpPr>
        <p:spPr>
          <a:xfrm>
            <a:off x="609600" y="4514850"/>
            <a:ext cx="47625" cy="438150"/>
          </a:xfrm>
          <a:prstGeom prst="rect">
            <a:avLst/>
          </a:prstGeom>
          <a:solidFill>
            <a:srgbClr val="00A7A7"/>
          </a:solidFill>
          <a:ln w="0">
            <a:solidFill>
              <a:srgbClr val="00A7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EF6919-E3ED-4400-913D-6CF67D379AB8}"/>
              </a:ext>
            </a:extLst>
          </p:cNvPr>
          <p:cNvSpPr>
            <a:spLocks noGrp="1"/>
          </p:cNvSpPr>
          <p:nvPr/>
        </p:nvSpPr>
        <p:spPr>
          <a:xfrm>
            <a:off x="800100" y="44767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12365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A"/>
                </a:solidFill>
                <a:latin typeface="Aptos"/>
                <a:ea typeface="Aptos"/>
                <a:cs typeface="Aptos"/>
              </a:rPr>
              <a:t>Clean Architecture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78B5F2-EAF3-446C-9108-A0DD67540CAB}"/>
              </a:ext>
            </a:extLst>
          </p:cNvPr>
          <p:cNvSpPr>
            <a:spLocks noGrp="1"/>
          </p:cNvSpPr>
          <p:nvPr/>
        </p:nvSpPr>
        <p:spPr>
          <a:xfrm>
            <a:off x="800100" y="4733925"/>
            <a:ext cx="381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Presentation → application → domain → infrastructure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4503ED-7E27-443F-997F-ABFAEB8A5547}"/>
              </a:ext>
            </a:extLst>
          </p:cNvPr>
          <p:cNvSpPr>
            <a:spLocks noGrp="1"/>
          </p:cNvSpPr>
          <p:nvPr/>
        </p:nvSpPr>
        <p:spPr>
          <a:xfrm>
            <a:off x="609600" y="5153025"/>
            <a:ext cx="47625" cy="438150"/>
          </a:xfrm>
          <a:prstGeom prst="rect">
            <a:avLst/>
          </a:prstGeom>
          <a:solidFill>
            <a:srgbClr val="00A7A7"/>
          </a:solidFill>
          <a:ln w="0">
            <a:solidFill>
              <a:srgbClr val="00A7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FD53E46-F6AD-43A0-BDE3-BD192F7B3504}"/>
              </a:ext>
            </a:extLst>
          </p:cNvPr>
          <p:cNvSpPr>
            <a:spLocks noGrp="1"/>
          </p:cNvSpPr>
          <p:nvPr/>
        </p:nvSpPr>
        <p:spPr>
          <a:xfrm>
            <a:off x="800100" y="511492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12365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A"/>
                </a:solidFill>
                <a:latin typeface="Aptos"/>
                <a:ea typeface="Aptos"/>
                <a:cs typeface="Aptos"/>
              </a:rPr>
              <a:t>Container coordination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21ADF4-05D9-4834-A2A7-6721C80BDFEA}"/>
              </a:ext>
            </a:extLst>
          </p:cNvPr>
          <p:cNvSpPr>
            <a:spLocks noGrp="1"/>
          </p:cNvSpPr>
          <p:nvPr/>
        </p:nvSpPr>
        <p:spPr>
          <a:xfrm>
            <a:off x="800100" y="5372100"/>
            <a:ext cx="381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Web, API, workers, data, cache, and AI services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64CD79-CA34-42FE-881A-640182A9D78E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47625" cy="438150"/>
          </a:xfrm>
          <a:prstGeom prst="rect">
            <a:avLst/>
          </a:prstGeom>
          <a:solidFill>
            <a:srgbClr val="00A7A7"/>
          </a:solidFill>
          <a:ln w="0">
            <a:solidFill>
              <a:srgbClr val="00A7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640107F-24C1-42B9-814C-9635E008C377}"/>
              </a:ext>
            </a:extLst>
          </p:cNvPr>
          <p:cNvSpPr>
            <a:spLocks noGrp="1"/>
          </p:cNvSpPr>
          <p:nvPr/>
        </p:nvSpPr>
        <p:spPr>
          <a:xfrm>
            <a:off x="800100" y="57531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12365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A"/>
                </a:solidFill>
                <a:latin typeface="Aptos"/>
                <a:ea typeface="Aptos"/>
                <a:cs typeface="Aptos"/>
              </a:rPr>
              <a:t>AI as a backend concern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2DBFC6-0BEE-49A3-A549-88620A184133}"/>
              </a:ext>
            </a:extLst>
          </p:cNvPr>
          <p:cNvSpPr>
            <a:spLocks noGrp="1"/>
          </p:cNvSpPr>
          <p:nvPr/>
        </p:nvSpPr>
        <p:spPr>
          <a:xfrm>
            <a:off x="800100" y="6010275"/>
            <a:ext cx="381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Orchestration, memory, prompting, models, and RAG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31EC876-B4A5-4AB3-B5E2-9ACBB4E1C2B0}"/>
              </a:ext>
            </a:extLst>
          </p:cNvPr>
          <p:cNvSpPr>
            <a:spLocks noGrp="1"/>
          </p:cNvSpPr>
          <p:nvPr/>
        </p:nvSpPr>
        <p:spPr>
          <a:xfrm>
            <a:off x="5467350" y="1571625"/>
            <a:ext cx="6115050" cy="4572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38266" y="1571625"/>
            <a:ext cx="4373217" cy="4572000"/>
          </a:xfrm>
          <a:prstGeom prst="roundRect">
            <a:avLst>
              <a:gd name="adj" fmla="val 3333"/>
            </a:avLst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A713B6D5-4259-47A2-9C26-294D35774BD8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66675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1">
                <a:solidFill>
                  <a:srgbClr val="8A98A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A98A8"/>
                </a:solidFill>
                <a:latin typeface="Aptos"/>
                <a:ea typeface="Aptos"/>
                <a:cs typeface="Aptos"/>
              </a:rPr>
              <a:t>SMART PEER COMPANION · INDIVIDUAL CONTRIBUTION</a:t>
            </a:r>
          </a:p>
        </p:txBody>
      </p:sp>
    </p:spTree>
    <p:extLst>
      <p:ext uri="{BB962C8B-B14F-4D97-AF65-F5344CB8AC3E}">
        <p14:creationId xmlns:p14="http://schemas.microsoft.com/office/powerpoint/2010/main" val="1339158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5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12000" decel="18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accel="12000" decel="18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accel="12000" decel="18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4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accel="12000" decel="18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accel="12000" decel="18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accel="12000" decel="18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/>
      <p:bldP spid="9" grpId="0" animBg="1"/>
      <p:bldP spid="10" grpId="0"/>
      <p:bldP spid="11" grpId="0"/>
      <p:bldP spid="12" grpId="0" animBg="1"/>
      <p:bldP spid="13" grpId="0"/>
      <p:bldP spid="14" grpId="0"/>
      <p:bldP spid="15" grpId="0" animBg="1"/>
      <p:bldP spid="16" grpId="0"/>
      <p:bldP spid="17" grpId="0"/>
      <p:bldP spid="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2FA5FDB-1309-4312-A7E5-26DD87F197D2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70E1D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0E1DB"/>
                </a:solidFill>
                <a:latin typeface="Aptos"/>
                <a:ea typeface="Aptos"/>
                <a:cs typeface="Aptos"/>
              </a:rPr>
              <a:t>LIVE WALKTHROUGH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5237A8-1C5D-47B9-867B-594A12A2EFAB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7239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Open the interactive</a:t>
            </a:r>
          </a:p>
          <a:p>
            <a:pPr algn="l">
              <a:buNone/>
              <a:defRPr sz="3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architecture book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0245BC-38E0-4CE8-AA6A-8B5F04A07CDE}"/>
              </a:ext>
            </a:extLst>
          </p:cNvPr>
          <p:cNvSpPr>
            <a:spLocks noGrp="1"/>
          </p:cNvSpPr>
          <p:nvPr/>
        </p:nvSpPr>
        <p:spPr>
          <a:xfrm>
            <a:off x="714375" y="3209925"/>
            <a:ext cx="6572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C8D7E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8D7E6"/>
                </a:solidFill>
                <a:latin typeface="Aptos"/>
                <a:ea typeface="Aptos"/>
                <a:cs typeface="Aptos"/>
              </a:rPr>
              <a:t>Follow the backend from high-level architecture to modules, AI processing, request flows, and deployment.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99651A1-A564-4B1C-9FE3-2CDB06E8BBE2}"/>
              </a:ext>
            </a:extLst>
          </p:cNvPr>
          <p:cNvSpPr>
            <a:spLocks noGrp="1"/>
          </p:cNvSpPr>
          <p:nvPr/>
        </p:nvSpPr>
        <p:spPr>
          <a:xfrm>
            <a:off x="685800" y="4514850"/>
            <a:ext cx="10210800" cy="952500"/>
          </a:xfrm>
          <a:prstGeom prst="roundRect">
            <a:avLst>
              <a:gd name="adj" fmla="val 16000"/>
            </a:avLst>
          </a:prstGeom>
          <a:solidFill>
            <a:srgbClr val="163F67"/>
          </a:solidFill>
          <a:ln w="9525">
            <a:solidFill>
              <a:srgbClr val="2E5B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D021D0-1499-40E8-8982-8F19AD3154E6}"/>
              </a:ext>
            </a:extLst>
          </p:cNvPr>
          <p:cNvSpPr>
            <a:spLocks noGrp="1"/>
          </p:cNvSpPr>
          <p:nvPr/>
        </p:nvSpPr>
        <p:spPr>
          <a:xfrm>
            <a:off x="971550" y="4800600"/>
            <a:ext cx="447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70E1DB"/>
                </a:solidFill>
                <a:latin typeface="Aptos"/>
                <a:ea typeface="Aptos"/>
                <a:cs typeface="Aptos"/>
              </a:defRPr>
            </a:pPr>
            <a:r>
              <a:rPr sz="1800" b="1" dirty="0">
                <a:solidFill>
                  <a:srgbClr val="70E1DB"/>
                </a:solidFill>
                <a:latin typeface="Aptos"/>
                <a:ea typeface="Aptos"/>
                <a:cs typeface="Aptos"/>
                <a:hlinkClick r:id="rId3"/>
              </a:rPr>
              <a:t>Open Figma architecture →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9F1036-595A-4685-8D36-714EE5F06BE7}"/>
              </a:ext>
            </a:extLst>
          </p:cNvPr>
          <p:cNvSpPr>
            <a:spLocks noGrp="1"/>
          </p:cNvSpPr>
          <p:nvPr/>
        </p:nvSpPr>
        <p:spPr>
          <a:xfrm>
            <a:off x="8143875" y="4857750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050" b="1">
                <a:solidFill>
                  <a:srgbClr val="A9C1D7"/>
                </a:solidFill>
                <a:latin typeface="Aptos"/>
                <a:ea typeface="Aptos"/>
                <a:cs typeface="Aptos"/>
              </a:defRPr>
            </a:pPr>
            <a:endParaRPr sz="1050" b="1" dirty="0">
              <a:solidFill>
                <a:srgbClr val="A9C1D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035C1B-90E3-447F-8A2F-2282A0F21EBE}"/>
              </a:ext>
            </a:extLst>
          </p:cNvPr>
          <p:cNvSpPr>
            <a:spLocks noGrp="1"/>
          </p:cNvSpPr>
          <p:nvPr/>
        </p:nvSpPr>
        <p:spPr>
          <a:xfrm>
            <a:off x="714375" y="5943600"/>
            <a:ext cx="1009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87A7C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7A7C2"/>
                </a:solidFill>
                <a:latin typeface="Aptos"/>
                <a:ea typeface="Aptos"/>
                <a:cs typeface="Aptos"/>
              </a:rPr>
              <a:t>01  High level     02  Folder structure     03  AI &amp; RAG     04  Request flows     05  Deployment</a:t>
            </a:r>
          </a:p>
        </p:txBody>
      </p:sp>
    </p:spTree>
    <p:extLst>
      <p:ext uri="{BB962C8B-B14F-4D97-AF65-F5344CB8AC3E}">
        <p14:creationId xmlns:p14="http://schemas.microsoft.com/office/powerpoint/2010/main" val="1583466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5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12000" decel="18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4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accel="12000" decel="18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accel="12000" decel="18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accel="12000" decel="18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/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B8A57E4C-1F62-4A6E-9C9A-1EC87D6C4DDA}"/>
              </a:ext>
            </a:extLst>
          </p:cNvPr>
          <p:cNvSpPr>
            <a:spLocks noGrp="1"/>
          </p:cNvSpPr>
          <p:nvPr/>
        </p:nvSpPr>
        <p:spPr>
          <a:xfrm>
            <a:off x="609600" y="371475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00A7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7A7"/>
                </a:solidFill>
                <a:latin typeface="Aptos"/>
                <a:ea typeface="Aptos"/>
                <a:cs typeface="Aptos"/>
              </a:rPr>
              <a:t>IMPLEMENTATION FOUNDATION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69D085-9C32-4C03-A868-7DD3A79467AB}"/>
              </a:ext>
            </a:extLst>
          </p:cNvPr>
          <p:cNvSpPr>
            <a:spLocks noGrp="1"/>
          </p:cNvSpPr>
          <p:nvPr/>
        </p:nvSpPr>
        <p:spPr>
          <a:xfrm>
            <a:off x="609600" y="657225"/>
            <a:ext cx="1000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850" b="1">
                <a:solidFill>
                  <a:srgbClr val="0B254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2540"/>
                </a:solidFill>
                <a:latin typeface="Aptos"/>
                <a:ea typeface="Aptos"/>
                <a:cs typeface="Aptos"/>
              </a:rPr>
              <a:t>I translated the architecture into a backend skeleton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09393-53BA-466B-8ACA-3A7E0A9E6A49}"/>
              </a:ext>
            </a:extLst>
          </p:cNvPr>
          <p:cNvSpPr>
            <a:spLocks noGrp="1"/>
          </p:cNvSpPr>
          <p:nvPr/>
        </p:nvSpPr>
        <p:spPr>
          <a:xfrm>
            <a:off x="11239500" y="4286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050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0CDFB3-07B4-4EBE-850B-5C908E81BDE8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72800" cy="9525"/>
          </a:xfrm>
          <a:prstGeom prst="rect">
            <a:avLst/>
          </a:prstGeom>
          <a:solidFill>
            <a:srgbClr val="D7E0E8"/>
          </a:solidFill>
          <a:ln w="0">
            <a:solidFill>
              <a:srgbClr val="D7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CB9C87B-10EC-4838-B326-48FE4D7CA247}"/>
              </a:ext>
            </a:extLst>
          </p:cNvPr>
          <p:cNvSpPr>
            <a:spLocks noGrp="1"/>
          </p:cNvSpPr>
          <p:nvPr/>
        </p:nvSpPr>
        <p:spPr>
          <a:xfrm>
            <a:off x="6667500" y="1676400"/>
            <a:ext cx="2209800" cy="285750"/>
          </a:xfrm>
          <a:prstGeom prst="roundRect">
            <a:avLst>
              <a:gd name="adj" fmla="val 50000"/>
            </a:avLst>
          </a:prstGeom>
          <a:solidFill>
            <a:srgbClr val="DDF6F4"/>
          </a:solidFill>
          <a:ln w="0">
            <a:solidFill>
              <a:srgbClr val="DDF6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13DA92-BB69-4053-BBBE-3CC3D7FC1517}"/>
              </a:ext>
            </a:extLst>
          </p:cNvPr>
          <p:cNvSpPr>
            <a:spLocks noGrp="1"/>
          </p:cNvSpPr>
          <p:nvPr/>
        </p:nvSpPr>
        <p:spPr>
          <a:xfrm>
            <a:off x="6772275" y="1733550"/>
            <a:ext cx="2000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900" b="1">
                <a:solidFill>
                  <a:srgbClr val="00A7A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7A7"/>
                </a:solidFill>
                <a:latin typeface="Aptos"/>
                <a:ea typeface="Aptos"/>
                <a:cs typeface="Aptos"/>
              </a:rPr>
              <a:t>REPEATABLE MODULE PATTERN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F5EB6E-0932-4C67-941F-A1DDEA4FB047}"/>
              </a:ext>
            </a:extLst>
          </p:cNvPr>
          <p:cNvSpPr>
            <a:spLocks noGrp="1"/>
          </p:cNvSpPr>
          <p:nvPr/>
        </p:nvSpPr>
        <p:spPr>
          <a:xfrm>
            <a:off x="6667500" y="2209800"/>
            <a:ext cx="4667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564" lnSpcReduction="10000"/>
          </a:bodyPr>
          <a:lstStyle/>
          <a:p>
            <a:pPr algn="l">
              <a:buNone/>
              <a:defRPr sz="2400" b="1">
                <a:solidFill>
                  <a:srgbClr val="0B2540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2540"/>
                </a:solidFill>
                <a:latin typeface="Aptos"/>
                <a:ea typeface="Aptos"/>
                <a:cs typeface="Aptos"/>
              </a:rPr>
              <a:t>Domains keep their own boundaries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55737A-B5FC-40E0-9F17-E318EA320685}"/>
              </a:ext>
            </a:extLst>
          </p:cNvPr>
          <p:cNvSpPr>
            <a:spLocks noGrp="1"/>
          </p:cNvSpPr>
          <p:nvPr/>
        </p:nvSpPr>
        <p:spPr>
          <a:xfrm>
            <a:off x="6667500" y="3038475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Each domain follows the same structure: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8AC4834-6648-4741-842C-4F7F42FC276D}"/>
              </a:ext>
            </a:extLst>
          </p:cNvPr>
          <p:cNvSpPr>
            <a:spLocks noGrp="1"/>
          </p:cNvSpPr>
          <p:nvPr/>
        </p:nvSpPr>
        <p:spPr>
          <a:xfrm>
            <a:off x="6667500" y="3571875"/>
            <a:ext cx="44767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668C0D-1065-4E81-A2A4-BDB97280B7C6}"/>
              </a:ext>
            </a:extLst>
          </p:cNvPr>
          <p:cNvSpPr>
            <a:spLocks noGrp="1"/>
          </p:cNvSpPr>
          <p:nvPr/>
        </p:nvSpPr>
        <p:spPr>
          <a:xfrm>
            <a:off x="6667500" y="3571875"/>
            <a:ext cx="66675" cy="495300"/>
          </a:xfrm>
          <a:prstGeom prst="rect">
            <a:avLst/>
          </a:prstGeom>
          <a:solidFill>
            <a:srgbClr val="00A7A7"/>
          </a:solidFill>
          <a:ln w="0">
            <a:solidFill>
              <a:srgbClr val="00A7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F17BC2-A9FC-48F0-9068-476AE6DD91B2}"/>
              </a:ext>
            </a:extLst>
          </p:cNvPr>
          <p:cNvSpPr>
            <a:spLocks noGrp="1"/>
          </p:cNvSpPr>
          <p:nvPr/>
        </p:nvSpPr>
        <p:spPr>
          <a:xfrm>
            <a:off x="6886575" y="3695700"/>
            <a:ext cx="1381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12365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A"/>
                </a:solidFill>
                <a:latin typeface="Aptos"/>
                <a:ea typeface="Aptos"/>
                <a:cs typeface="Aptos"/>
              </a:rPr>
              <a:t>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8B503C6-05E1-48C6-9DE2-733DEA15766E}"/>
              </a:ext>
            </a:extLst>
          </p:cNvPr>
          <p:cNvSpPr>
            <a:spLocks noGrp="1"/>
          </p:cNvSpPr>
          <p:nvPr/>
        </p:nvSpPr>
        <p:spPr>
          <a:xfrm>
            <a:off x="8286750" y="3705225"/>
            <a:ext cx="2619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routes and API contracts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8B1C7B2-923F-4D68-9B1F-19792BAD7EA6}"/>
              </a:ext>
            </a:extLst>
          </p:cNvPr>
          <p:cNvSpPr>
            <a:spLocks noGrp="1"/>
          </p:cNvSpPr>
          <p:nvPr/>
        </p:nvSpPr>
        <p:spPr>
          <a:xfrm>
            <a:off x="6667500" y="4152900"/>
            <a:ext cx="44767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585336-13B1-4525-A658-6A527F30961D}"/>
              </a:ext>
            </a:extLst>
          </p:cNvPr>
          <p:cNvSpPr>
            <a:spLocks noGrp="1"/>
          </p:cNvSpPr>
          <p:nvPr/>
        </p:nvSpPr>
        <p:spPr>
          <a:xfrm>
            <a:off x="6667500" y="4152900"/>
            <a:ext cx="66675" cy="495300"/>
          </a:xfrm>
          <a:prstGeom prst="rect">
            <a:avLst/>
          </a:prstGeom>
          <a:solidFill>
            <a:srgbClr val="4F7CAC"/>
          </a:solidFill>
          <a:ln w="0">
            <a:solidFill>
              <a:srgbClr val="4F7CA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C5E15E-D135-434B-A4E7-D932E131170D}"/>
              </a:ext>
            </a:extLst>
          </p:cNvPr>
          <p:cNvSpPr>
            <a:spLocks noGrp="1"/>
          </p:cNvSpPr>
          <p:nvPr/>
        </p:nvSpPr>
        <p:spPr>
          <a:xfrm>
            <a:off x="6886575" y="4276725"/>
            <a:ext cx="1381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12365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A"/>
                </a:solidFill>
                <a:latin typeface="Aptos"/>
                <a:ea typeface="Aptos"/>
                <a:cs typeface="Aptos"/>
              </a:rPr>
              <a:t>application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07F313-44C4-4ED4-B8C8-B60DE852C4F4}"/>
              </a:ext>
            </a:extLst>
          </p:cNvPr>
          <p:cNvSpPr>
            <a:spLocks noGrp="1"/>
          </p:cNvSpPr>
          <p:nvPr/>
        </p:nvSpPr>
        <p:spPr>
          <a:xfrm>
            <a:off x="8286750" y="4286250"/>
            <a:ext cx="2619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use cases and orchestration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91098E4-50E6-49D7-864E-504BE7183BF9}"/>
              </a:ext>
            </a:extLst>
          </p:cNvPr>
          <p:cNvSpPr>
            <a:spLocks noGrp="1"/>
          </p:cNvSpPr>
          <p:nvPr/>
        </p:nvSpPr>
        <p:spPr>
          <a:xfrm>
            <a:off x="6667500" y="4733925"/>
            <a:ext cx="44767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CBE797-1991-4E86-9CE9-6AB5FFEB5177}"/>
              </a:ext>
            </a:extLst>
          </p:cNvPr>
          <p:cNvSpPr>
            <a:spLocks noGrp="1"/>
          </p:cNvSpPr>
          <p:nvPr/>
        </p:nvSpPr>
        <p:spPr>
          <a:xfrm>
            <a:off x="6667500" y="4733925"/>
            <a:ext cx="66675" cy="495300"/>
          </a:xfrm>
          <a:prstGeom prst="rect">
            <a:avLst/>
          </a:prstGeom>
          <a:solidFill>
            <a:srgbClr val="F2A93B"/>
          </a:solidFill>
          <a:ln w="0">
            <a:solidFill>
              <a:srgbClr val="F2A9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177C3D7-FDB8-49F7-8BEB-43FC44ECDB36}"/>
              </a:ext>
            </a:extLst>
          </p:cNvPr>
          <p:cNvSpPr>
            <a:spLocks noGrp="1"/>
          </p:cNvSpPr>
          <p:nvPr/>
        </p:nvSpPr>
        <p:spPr>
          <a:xfrm>
            <a:off x="6886575" y="4857750"/>
            <a:ext cx="1381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12365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A"/>
                </a:solidFill>
                <a:latin typeface="Aptos"/>
                <a:ea typeface="Aptos"/>
                <a:cs typeface="Aptos"/>
              </a:rPr>
              <a:t>domain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9389D16-C8E4-4FAA-9408-E84022BAAF2F}"/>
              </a:ext>
            </a:extLst>
          </p:cNvPr>
          <p:cNvSpPr>
            <a:spLocks noGrp="1"/>
          </p:cNvSpPr>
          <p:nvPr/>
        </p:nvSpPr>
        <p:spPr>
          <a:xfrm>
            <a:off x="8286750" y="4867275"/>
            <a:ext cx="2619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business rules and entities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CBA7E22-E4D7-491D-B4C1-808D1BA39BA6}"/>
              </a:ext>
            </a:extLst>
          </p:cNvPr>
          <p:cNvSpPr>
            <a:spLocks noGrp="1"/>
          </p:cNvSpPr>
          <p:nvPr/>
        </p:nvSpPr>
        <p:spPr>
          <a:xfrm>
            <a:off x="6667500" y="5314950"/>
            <a:ext cx="44767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2494EE5-F14B-4FE4-86EF-35DA2A23AA70}"/>
              </a:ext>
            </a:extLst>
          </p:cNvPr>
          <p:cNvSpPr>
            <a:spLocks noGrp="1"/>
          </p:cNvSpPr>
          <p:nvPr/>
        </p:nvSpPr>
        <p:spPr>
          <a:xfrm>
            <a:off x="6667500" y="5314950"/>
            <a:ext cx="66675" cy="495300"/>
          </a:xfrm>
          <a:prstGeom prst="rect">
            <a:avLst/>
          </a:prstGeom>
          <a:solidFill>
            <a:srgbClr val="2D9C74"/>
          </a:solidFill>
          <a:ln w="0">
            <a:solidFill>
              <a:srgbClr val="2D9C7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4DB5D75-3ED6-4A42-A028-993B30015BDF}"/>
              </a:ext>
            </a:extLst>
          </p:cNvPr>
          <p:cNvSpPr>
            <a:spLocks noGrp="1"/>
          </p:cNvSpPr>
          <p:nvPr/>
        </p:nvSpPr>
        <p:spPr>
          <a:xfrm>
            <a:off x="6886575" y="5438775"/>
            <a:ext cx="1381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12365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A"/>
                </a:solidFill>
                <a:latin typeface="Aptos"/>
                <a:ea typeface="Aptos"/>
                <a:cs typeface="Aptos"/>
              </a:rPr>
              <a:t>infrastructure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642A8BE-849F-4223-B5E8-08941799E076}"/>
              </a:ext>
            </a:extLst>
          </p:cNvPr>
          <p:cNvSpPr>
            <a:spLocks noGrp="1"/>
          </p:cNvSpPr>
          <p:nvPr/>
        </p:nvSpPr>
        <p:spPr>
          <a:xfrm>
            <a:off x="8286750" y="5448300"/>
            <a:ext cx="2619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database and external adapters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DF27FA3-3684-4C1E-88CE-D71F88988127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66675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1">
                <a:solidFill>
                  <a:srgbClr val="8A98A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A98A8"/>
                </a:solidFill>
                <a:latin typeface="Aptos"/>
                <a:ea typeface="Aptos"/>
                <a:cs typeface="Aptos"/>
              </a:rPr>
              <a:t>SMART PEER COMPANION · INDIVIDUAL CONTRIBUTION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F8661CEE-08AE-4D84-AF88-E94D67635EC8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5476875" cy="4552950"/>
          </a:xfrm>
          <a:prstGeom prst="roundRect">
            <a:avLst>
              <a:gd name="adj" fmla="val 3347"/>
            </a:avLst>
          </a:prstGeom>
          <a:solidFill>
            <a:srgbClr val="0B2540"/>
          </a:solidFill>
          <a:ln w="0">
            <a:solidFill>
              <a:srgbClr val="0B254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0B77B2C-C4CA-46B4-A547-65D760849303}"/>
              </a:ext>
            </a:extLst>
          </p:cNvPr>
          <p:cNvSpPr>
            <a:spLocks noGrp="1"/>
          </p:cNvSpPr>
          <p:nvPr/>
        </p:nvSpPr>
        <p:spPr>
          <a:xfrm>
            <a:off x="895350" y="18383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70E1D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70E1DB"/>
                </a:solidFill>
                <a:latin typeface="Courier New"/>
                <a:ea typeface="Courier New"/>
                <a:cs typeface="Courier New"/>
              </a:rPr>
              <a:t>BACKEND /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3501B6F-E995-4EF2-A28C-6D634774BEA7}"/>
              </a:ext>
            </a:extLst>
          </p:cNvPr>
          <p:cNvSpPr>
            <a:spLocks noGrp="1"/>
          </p:cNvSpPr>
          <p:nvPr/>
        </p:nvSpPr>
        <p:spPr>
          <a:xfrm>
            <a:off x="895350" y="2209800"/>
            <a:ext cx="4619625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35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app/</a:t>
            </a:r>
          </a:p>
          <a:p>
            <a:pPr algn="l">
              <a:buNone/>
              <a:defRPr sz="135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├── api/</a:t>
            </a:r>
          </a:p>
          <a:p>
            <a:pPr algn="l">
              <a:buNone/>
              <a:defRPr sz="135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├── domains/</a:t>
            </a:r>
          </a:p>
          <a:p>
            <a:pPr algn="l">
              <a:buNone/>
              <a:defRPr sz="135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│   ├── auth/</a:t>
            </a:r>
          </a:p>
          <a:p>
            <a:pPr algn="l">
              <a:buNone/>
              <a:defRPr sz="135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│   ├── users/</a:t>
            </a:r>
          </a:p>
          <a:p>
            <a:pPr algn="l">
              <a:buNone/>
              <a:defRPr sz="135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│   ├── notes/</a:t>
            </a:r>
          </a:p>
          <a:p>
            <a:pPr algn="l">
              <a:buNone/>
              <a:defRPr sz="135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│   └── study_groups/</a:t>
            </a:r>
          </a:p>
          <a:p>
            <a:pPr algn="l">
              <a:buNone/>
              <a:defRPr sz="135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├── ai/</a:t>
            </a:r>
          </a:p>
          <a:p>
            <a:pPr algn="l">
              <a:buNone/>
              <a:defRPr sz="135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│   ├── engine/</a:t>
            </a:r>
          </a:p>
          <a:p>
            <a:pPr algn="l">
              <a:buNone/>
              <a:defRPr sz="135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│   └── rag/</a:t>
            </a:r>
          </a:p>
          <a:p>
            <a:pPr algn="l">
              <a:buNone/>
              <a:defRPr sz="135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├── workers/</a:t>
            </a:r>
          </a:p>
          <a:p>
            <a:pPr algn="l">
              <a:buNone/>
              <a:defRPr sz="135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└── main.py</a:t>
            </a:r>
          </a:p>
          <a:p>
            <a:endParaRPr sz="1350" b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 algn="l">
              <a:buNone/>
              <a:defRPr sz="135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tests/      docker/      scripts/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7785F90-C8FA-4A4E-A0C9-17F2410FE501}"/>
              </a:ext>
            </a:extLst>
          </p:cNvPr>
          <p:cNvSpPr>
            <a:spLocks noGrp="1"/>
          </p:cNvSpPr>
          <p:nvPr/>
        </p:nvSpPr>
        <p:spPr>
          <a:xfrm>
            <a:off x="895350" y="5524500"/>
            <a:ext cx="4619625" cy="9525"/>
          </a:xfrm>
          <a:prstGeom prst="rect">
            <a:avLst/>
          </a:prstGeom>
          <a:solidFill>
            <a:srgbClr val="2D526F"/>
          </a:solidFill>
          <a:ln w="0">
            <a:solidFill>
              <a:srgbClr val="2D52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6505E21-81B0-4E2B-B107-743BCC43EBBC}"/>
              </a:ext>
            </a:extLst>
          </p:cNvPr>
          <p:cNvSpPr>
            <a:spLocks noGrp="1"/>
          </p:cNvSpPr>
          <p:nvPr/>
        </p:nvSpPr>
        <p:spPr>
          <a:xfrm>
            <a:off x="895350" y="5695950"/>
            <a:ext cx="4619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AFC5D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FC5D8"/>
                </a:solidFill>
                <a:latin typeface="Aptos"/>
                <a:ea typeface="Aptos"/>
                <a:cs typeface="Aptos"/>
              </a:rPr>
              <a:t>One structure · repeatable across every business domain</a:t>
            </a:r>
          </a:p>
        </p:txBody>
      </p:sp>
    </p:spTree>
    <p:extLst>
      <p:ext uri="{BB962C8B-B14F-4D97-AF65-F5344CB8AC3E}">
        <p14:creationId xmlns:p14="http://schemas.microsoft.com/office/powerpoint/2010/main" val="833918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5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12000" decel="18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4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4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4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4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4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accel="12000" decel="18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accel="12000" decel="18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accel="12000" decel="18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accel="12000" decel="18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accel="12000" decel="18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4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4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10" grpId="0"/>
      <p:bldP spid="11" grpId="0" animBg="1"/>
      <p:bldP spid="12" grpId="0" animBg="1"/>
      <p:bldP spid="13" grpId="0"/>
      <p:bldP spid="14" grpId="0"/>
      <p:bldP spid="15" grpId="0" animBg="1"/>
      <p:bldP spid="16" grpId="0" animBg="1"/>
      <p:bldP spid="17" grpId="0"/>
      <p:bldP spid="18" grpId="0"/>
      <p:bldP spid="19" grpId="0" animBg="1"/>
      <p:bldP spid="20" grpId="0" animBg="1"/>
      <p:bldP spid="21" grpId="0"/>
      <p:bldP spid="22" grpId="0"/>
      <p:bldP spid="23" grpId="0" animBg="1"/>
      <p:bldP spid="24" grpId="0" animBg="1"/>
      <p:bldP spid="25" grpId="0"/>
      <p:bldP spid="26" grpId="0"/>
      <p:bldP spid="29" grpId="0" animBg="1"/>
      <p:bldP spid="30" grpId="0"/>
      <p:bldP spid="31" grpId="0"/>
      <p:bldP spid="32" grpId="0" animBg="1"/>
      <p:bldP spid="3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3558866E-C66C-45CF-880C-065BB95A5E92}"/>
              </a:ext>
            </a:extLst>
          </p:cNvPr>
          <p:cNvSpPr>
            <a:spLocks noGrp="1"/>
          </p:cNvSpPr>
          <p:nvPr/>
        </p:nvSpPr>
        <p:spPr>
          <a:xfrm>
            <a:off x="609600" y="371475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00A7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7A7"/>
                </a:solidFill>
                <a:latin typeface="Aptos"/>
                <a:ea typeface="Aptos"/>
                <a:cs typeface="Aptos"/>
              </a:rPr>
              <a:t>BACKEND DEMONSTRATION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16FB89-9B70-484E-A4E4-2BFEDF9F9B87}"/>
              </a:ext>
            </a:extLst>
          </p:cNvPr>
          <p:cNvSpPr>
            <a:spLocks noGrp="1"/>
          </p:cNvSpPr>
          <p:nvPr/>
        </p:nvSpPr>
        <p:spPr>
          <a:xfrm>
            <a:off x="609600" y="657225"/>
            <a:ext cx="1000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850" b="1">
                <a:solidFill>
                  <a:srgbClr val="0B254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2540"/>
                </a:solidFill>
                <a:latin typeface="Aptos"/>
                <a:ea typeface="Aptos"/>
                <a:cs typeface="Aptos"/>
              </a:rPr>
              <a:t>The skeleton makes APIs testable and self-documenting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BF6946-9EBE-4594-94BA-826A2D9DCE3E}"/>
              </a:ext>
            </a:extLst>
          </p:cNvPr>
          <p:cNvSpPr>
            <a:spLocks noGrp="1"/>
          </p:cNvSpPr>
          <p:nvPr/>
        </p:nvSpPr>
        <p:spPr>
          <a:xfrm>
            <a:off x="11239500" y="4286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050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3FEDED-043F-40A2-945C-4765E17D6563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72800" cy="9525"/>
          </a:xfrm>
          <a:prstGeom prst="rect">
            <a:avLst/>
          </a:prstGeom>
          <a:solidFill>
            <a:srgbClr val="D7E0E8"/>
          </a:solidFill>
          <a:ln w="0">
            <a:solidFill>
              <a:srgbClr val="D7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11D960E-1E3A-47EE-9C94-F0D4D669431B}"/>
              </a:ext>
            </a:extLst>
          </p:cNvPr>
          <p:cNvSpPr>
            <a:spLocks noGrp="1"/>
          </p:cNvSpPr>
          <p:nvPr/>
        </p:nvSpPr>
        <p:spPr>
          <a:xfrm>
            <a:off x="8515350" y="1543050"/>
            <a:ext cx="3067050" cy="4095750"/>
          </a:xfrm>
          <a:prstGeom prst="roundRect">
            <a:avLst>
              <a:gd name="adj" fmla="val 4969"/>
            </a:avLst>
          </a:prstGeom>
          <a:solidFill>
            <a:srgbClr val="0B2540"/>
          </a:solidFill>
          <a:ln w="0">
            <a:solidFill>
              <a:srgbClr val="0B25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48A631-AD43-46C4-9FED-621ECAA2E198}"/>
              </a:ext>
            </a:extLst>
          </p:cNvPr>
          <p:cNvSpPr>
            <a:spLocks noGrp="1"/>
          </p:cNvSpPr>
          <p:nvPr/>
        </p:nvSpPr>
        <p:spPr>
          <a:xfrm>
            <a:off x="8782050" y="1819275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70E1D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0E1DB"/>
                </a:solidFill>
                <a:latin typeface="Aptos"/>
                <a:ea typeface="Aptos"/>
                <a:cs typeface="Aptos"/>
              </a:rPr>
              <a:t>LIVE DEMO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FFD710-5B92-400C-9845-27A457F4B1ED}"/>
              </a:ext>
            </a:extLst>
          </p:cNvPr>
          <p:cNvSpPr>
            <a:spLocks noGrp="1"/>
          </p:cNvSpPr>
          <p:nvPr/>
        </p:nvSpPr>
        <p:spPr>
          <a:xfrm>
            <a:off x="8782050" y="2190750"/>
            <a:ext cx="23812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Show the path</a:t>
            </a:r>
          </a:p>
          <a:p>
            <a:pPr algn="l">
              <a:buNone/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from code to API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6F9D1F6-938B-4D94-97CE-4EBF22E08197}"/>
              </a:ext>
            </a:extLst>
          </p:cNvPr>
          <p:cNvSpPr>
            <a:spLocks noGrp="1"/>
          </p:cNvSpPr>
          <p:nvPr/>
        </p:nvSpPr>
        <p:spPr>
          <a:xfrm>
            <a:off x="8782050" y="3276600"/>
            <a:ext cx="323850" cy="323850"/>
          </a:xfrm>
          <a:prstGeom prst="ellipse">
            <a:avLst/>
          </a:prstGeom>
          <a:solidFill>
            <a:srgbClr val="00A7A7"/>
          </a:solidFill>
          <a:ln w="0">
            <a:solidFill>
              <a:srgbClr val="00A7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91BD96-E688-446F-BDBB-2B7CEE48A172}"/>
              </a:ext>
            </a:extLst>
          </p:cNvPr>
          <p:cNvSpPr>
            <a:spLocks noGrp="1"/>
          </p:cNvSpPr>
          <p:nvPr/>
        </p:nvSpPr>
        <p:spPr>
          <a:xfrm>
            <a:off x="8782050" y="333375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6D7E57-75AB-42B6-B50D-EE195ACBB525}"/>
              </a:ext>
            </a:extLst>
          </p:cNvPr>
          <p:cNvSpPr>
            <a:spLocks noGrp="1"/>
          </p:cNvSpPr>
          <p:nvPr/>
        </p:nvSpPr>
        <p:spPr>
          <a:xfrm>
            <a:off x="9258300" y="33242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Run the backend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0D9F418-8B9D-4AD2-80E1-864D5EFA76D0}"/>
              </a:ext>
            </a:extLst>
          </p:cNvPr>
          <p:cNvSpPr>
            <a:spLocks noGrp="1"/>
          </p:cNvSpPr>
          <p:nvPr/>
        </p:nvSpPr>
        <p:spPr>
          <a:xfrm>
            <a:off x="8782050" y="3771900"/>
            <a:ext cx="323850" cy="323850"/>
          </a:xfrm>
          <a:prstGeom prst="ellipse">
            <a:avLst/>
          </a:prstGeom>
          <a:solidFill>
            <a:srgbClr val="00A7A7"/>
          </a:solidFill>
          <a:ln w="0">
            <a:solidFill>
              <a:srgbClr val="00A7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6D538B-A31A-44F0-A1B7-E6570A45D434}"/>
              </a:ext>
            </a:extLst>
          </p:cNvPr>
          <p:cNvSpPr>
            <a:spLocks noGrp="1"/>
          </p:cNvSpPr>
          <p:nvPr/>
        </p:nvSpPr>
        <p:spPr>
          <a:xfrm>
            <a:off x="8782050" y="382905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DBEEC64-98E4-495C-B6EB-702D66C727D1}"/>
              </a:ext>
            </a:extLst>
          </p:cNvPr>
          <p:cNvSpPr>
            <a:spLocks noGrp="1"/>
          </p:cNvSpPr>
          <p:nvPr/>
        </p:nvSpPr>
        <p:spPr>
          <a:xfrm>
            <a:off x="9258300" y="38195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Open /docs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DF263E4-C498-470B-973D-89C22DDD7992}"/>
              </a:ext>
            </a:extLst>
          </p:cNvPr>
          <p:cNvSpPr>
            <a:spLocks noGrp="1"/>
          </p:cNvSpPr>
          <p:nvPr/>
        </p:nvSpPr>
        <p:spPr>
          <a:xfrm>
            <a:off x="8782050" y="4267200"/>
            <a:ext cx="323850" cy="323850"/>
          </a:xfrm>
          <a:prstGeom prst="ellipse">
            <a:avLst/>
          </a:prstGeom>
          <a:solidFill>
            <a:srgbClr val="00A7A7"/>
          </a:solidFill>
          <a:ln w="0">
            <a:solidFill>
              <a:srgbClr val="00A7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A4F5A82-C83E-4DB3-8ED4-408887DEE2B5}"/>
              </a:ext>
            </a:extLst>
          </p:cNvPr>
          <p:cNvSpPr>
            <a:spLocks noGrp="1"/>
          </p:cNvSpPr>
          <p:nvPr/>
        </p:nvSpPr>
        <p:spPr>
          <a:xfrm>
            <a:off x="8782050" y="432435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E7A365F-EFE6-443A-9228-129D502C552B}"/>
              </a:ext>
            </a:extLst>
          </p:cNvPr>
          <p:cNvSpPr>
            <a:spLocks noGrp="1"/>
          </p:cNvSpPr>
          <p:nvPr/>
        </p:nvSpPr>
        <p:spPr>
          <a:xfrm>
            <a:off x="9258300" y="43148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Call an endpoint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8CAB00E-39AF-4983-B9A4-F617D51626A7}"/>
              </a:ext>
            </a:extLst>
          </p:cNvPr>
          <p:cNvSpPr>
            <a:spLocks noGrp="1"/>
          </p:cNvSpPr>
          <p:nvPr/>
        </p:nvSpPr>
        <p:spPr>
          <a:xfrm>
            <a:off x="8782050" y="4762500"/>
            <a:ext cx="323850" cy="323850"/>
          </a:xfrm>
          <a:prstGeom prst="ellipse">
            <a:avLst/>
          </a:prstGeom>
          <a:solidFill>
            <a:srgbClr val="00A7A7"/>
          </a:solidFill>
          <a:ln w="0">
            <a:solidFill>
              <a:srgbClr val="00A7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B9C53CC-7204-47E7-8065-C55658D62411}"/>
              </a:ext>
            </a:extLst>
          </p:cNvPr>
          <p:cNvSpPr>
            <a:spLocks noGrp="1"/>
          </p:cNvSpPr>
          <p:nvPr/>
        </p:nvSpPr>
        <p:spPr>
          <a:xfrm>
            <a:off x="8782050" y="481965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EEFEF7D-0CAC-4FCD-A0C8-1620FA4CD22C}"/>
              </a:ext>
            </a:extLst>
          </p:cNvPr>
          <p:cNvSpPr>
            <a:spLocks noGrp="1"/>
          </p:cNvSpPr>
          <p:nvPr/>
        </p:nvSpPr>
        <p:spPr>
          <a:xfrm>
            <a:off x="9258300" y="48101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Show /redoc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DE5CF23-4F91-4010-864E-21B4206E75A2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85725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12365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65A"/>
                </a:solidFill>
                <a:latin typeface="Aptos"/>
                <a:ea typeface="Aptos"/>
                <a:cs typeface="Aptos"/>
              </a:rPr>
              <a:t>FastAPI automatically keeps the API contract visible to the whole team.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C37FE2B-CBE5-439C-87B3-825EE78A417C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66675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1">
                <a:solidFill>
                  <a:srgbClr val="8A98A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A98A8"/>
                </a:solidFill>
                <a:latin typeface="Aptos"/>
                <a:ea typeface="Aptos"/>
                <a:cs typeface="Aptos"/>
              </a:rPr>
              <a:t>SMART PEER COMPANION · INDIVIDUAL CONTRIBUTION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12BF606-6876-4A5B-AE6D-9D8706E68885}"/>
              </a:ext>
            </a:extLst>
          </p:cNvPr>
          <p:cNvSpPr>
            <a:spLocks noGrp="1"/>
          </p:cNvSpPr>
          <p:nvPr/>
        </p:nvSpPr>
        <p:spPr>
          <a:xfrm>
            <a:off x="609600" y="1543050"/>
            <a:ext cx="4762500" cy="4095750"/>
          </a:xfrm>
          <a:prstGeom prst="roundRect">
            <a:avLst>
              <a:gd name="adj" fmla="val 3721"/>
            </a:avLst>
          </a:prstGeom>
          <a:solidFill>
            <a:srgbClr val="0B2540"/>
          </a:solidFill>
          <a:ln w="0">
            <a:solidFill>
              <a:srgbClr val="0B254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AC15131-6697-4DCD-A91D-3DA7821C7BBD}"/>
              </a:ext>
            </a:extLst>
          </p:cNvPr>
          <p:cNvSpPr>
            <a:spLocks noGrp="1"/>
          </p:cNvSpPr>
          <p:nvPr/>
        </p:nvSpPr>
        <p:spPr>
          <a:xfrm>
            <a:off x="876300" y="1781175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70E1D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70E1DB"/>
                </a:solidFill>
                <a:latin typeface="Courier New"/>
                <a:ea typeface="Courier New"/>
                <a:cs typeface="Courier New"/>
              </a:rPr>
              <a:t>router.py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4FE43A2-B14D-443D-A362-691203935DE1}"/>
              </a:ext>
            </a:extLst>
          </p:cNvPr>
          <p:cNvSpPr>
            <a:spLocks noGrp="1"/>
          </p:cNvSpPr>
          <p:nvPr/>
        </p:nvSpPr>
        <p:spPr>
          <a:xfrm>
            <a:off x="3676650" y="1781175"/>
            <a:ext cx="1381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200" b="1">
                <a:solidFill>
                  <a:srgbClr val="AFC5D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FC5D8"/>
                </a:solidFill>
                <a:latin typeface="Aptos"/>
                <a:ea typeface="Aptos"/>
                <a:cs typeface="Aptos"/>
              </a:rPr>
              <a:t>FASTAPI ROUTER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A4C1585-0F43-480F-8A71-B5C176E0C8CD}"/>
              </a:ext>
            </a:extLst>
          </p:cNvPr>
          <p:cNvSpPr>
            <a:spLocks noGrp="1"/>
          </p:cNvSpPr>
          <p:nvPr/>
        </p:nvSpPr>
        <p:spPr>
          <a:xfrm>
            <a:off x="876300" y="2076450"/>
            <a:ext cx="4191000" cy="9525"/>
          </a:xfrm>
          <a:prstGeom prst="rect">
            <a:avLst/>
          </a:prstGeom>
          <a:solidFill>
            <a:srgbClr val="2D526F"/>
          </a:solidFill>
          <a:ln w="0">
            <a:solidFill>
              <a:srgbClr val="2D52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70DF9DC-E621-4296-9415-9E93B1E70881}"/>
              </a:ext>
            </a:extLst>
          </p:cNvPr>
          <p:cNvSpPr>
            <a:spLocks noGrp="1"/>
          </p:cNvSpPr>
          <p:nvPr/>
        </p:nvSpPr>
        <p:spPr>
          <a:xfrm>
            <a:off x="876300" y="2333625"/>
            <a:ext cx="419100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from </a:t>
            </a:r>
            <a:r>
              <a:rPr sz="1200" b="0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fastapi</a:t>
            </a:r>
            <a:r>
              <a:rPr sz="1200" b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import </a:t>
            </a:r>
            <a:r>
              <a:rPr sz="1200" b="0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APIRouter</a:t>
            </a:r>
            <a:r>
              <a:rPr sz="1200" b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, Depends</a:t>
            </a:r>
          </a:p>
          <a:p>
            <a:endParaRPr sz="1200" b="0" dirty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 algn="l">
              <a:buNone/>
              <a:def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router = </a:t>
            </a:r>
            <a:r>
              <a:rPr sz="1200" b="0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APIRouter</a:t>
            </a:r>
            <a:r>
              <a:rPr sz="1200" b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(prefix="/users")</a:t>
            </a:r>
          </a:p>
          <a:p>
            <a:endParaRPr sz="1200" b="0" dirty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 algn="l">
              <a:buNone/>
              <a:def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@</a:t>
            </a:r>
            <a:r>
              <a:rPr sz="1200" b="0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router.get</a:t>
            </a:r>
            <a:r>
              <a:rPr sz="1200" b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("/me")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async def </a:t>
            </a:r>
            <a:r>
              <a:rPr sz="1200" b="0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get_current_user</a:t>
            </a:r>
            <a:r>
              <a:rPr sz="1200" b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(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service = Depends(</a:t>
            </a:r>
            <a:r>
              <a:rPr sz="1200" b="0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get_user_service</a:t>
            </a:r>
            <a:r>
              <a:rPr sz="1200" b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)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):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return await </a:t>
            </a:r>
            <a:r>
              <a:rPr sz="1200" b="0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service.get_current_user</a:t>
            </a:r>
            <a:r>
              <a:rPr sz="1200" b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()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A8A2072A-0BA2-44C5-80AF-A850DD12970E}"/>
              </a:ext>
            </a:extLst>
          </p:cNvPr>
          <p:cNvSpPr>
            <a:spLocks noGrp="1"/>
          </p:cNvSpPr>
          <p:nvPr/>
        </p:nvSpPr>
        <p:spPr>
          <a:xfrm>
            <a:off x="876300" y="5057775"/>
            <a:ext cx="2000250" cy="323850"/>
          </a:xfrm>
          <a:prstGeom prst="roundRect">
            <a:avLst>
              <a:gd name="adj" fmla="val 23529"/>
            </a:avLst>
          </a:prstGeom>
          <a:solidFill>
            <a:srgbClr val="163F67"/>
          </a:solidFill>
          <a:ln w="9525">
            <a:solidFill>
              <a:srgbClr val="2E5B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768FA95-1487-42E4-BBD4-CABDDDA2C951}"/>
              </a:ext>
            </a:extLst>
          </p:cNvPr>
          <p:cNvSpPr>
            <a:spLocks noGrp="1"/>
          </p:cNvSpPr>
          <p:nvPr/>
        </p:nvSpPr>
        <p:spPr>
          <a:xfrm>
            <a:off x="1009650" y="5143500"/>
            <a:ext cx="1733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750"/>
          </a:bodyPr>
          <a:lstStyle/>
          <a:p>
            <a:pPr algn="ctr">
              <a:buNone/>
              <a:defRPr sz="1200" b="1">
                <a:solidFill>
                  <a:srgbClr val="70E1D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E1DB"/>
                </a:solidFill>
                <a:latin typeface="Aptos"/>
                <a:ea typeface="Aptos"/>
                <a:cs typeface="Aptos"/>
              </a:rPr>
              <a:t>router → service → DTO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D5954CCA-F376-4E15-ACEC-6F2B5E246435}"/>
              </a:ext>
            </a:extLst>
          </p:cNvPr>
          <p:cNvSpPr>
            <a:spLocks noGrp="1"/>
          </p:cNvSpPr>
          <p:nvPr/>
        </p:nvSpPr>
        <p:spPr>
          <a:xfrm>
            <a:off x="5619750" y="1543050"/>
            <a:ext cx="2647950" cy="4095750"/>
          </a:xfrm>
          <a:prstGeom prst="roundRect">
            <a:avLst>
              <a:gd name="adj" fmla="val 5755"/>
            </a:avLst>
          </a:prstGeom>
          <a:solidFill>
            <a:srgbClr val="F4F7FA"/>
          </a:solidFill>
          <a:ln w="9525">
            <a:solidFill>
              <a:srgbClr val="D7E0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4E614FF-235D-4833-B3D7-BB550F11F63C}"/>
              </a:ext>
            </a:extLst>
          </p:cNvPr>
          <p:cNvSpPr>
            <a:spLocks noGrp="1"/>
          </p:cNvSpPr>
          <p:nvPr/>
        </p:nvSpPr>
        <p:spPr>
          <a:xfrm>
            <a:off x="5791200" y="1781175"/>
            <a:ext cx="22383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0B254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540"/>
                </a:solidFill>
                <a:latin typeface="Aptos"/>
                <a:ea typeface="Aptos"/>
                <a:cs typeface="Aptos"/>
              </a:rPr>
              <a:t>Generated API contract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1E3FCB8-F035-4883-BC05-AB9B41953B25}"/>
              </a:ext>
            </a:extLst>
          </p:cNvPr>
          <p:cNvSpPr>
            <a:spLocks noGrp="1"/>
          </p:cNvSpPr>
          <p:nvPr/>
        </p:nvSpPr>
        <p:spPr>
          <a:xfrm>
            <a:off x="5791200" y="2114550"/>
            <a:ext cx="20955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958" lnSpcReduction="10000"/>
          </a:bodyPr>
          <a:lstStyle/>
          <a:p>
            <a:pPr algn="l">
              <a:buNone/>
              <a:defRPr sz="1200" b="1">
                <a:solidFill>
                  <a:srgbClr val="00A7A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A7A7"/>
                </a:solidFill>
                <a:latin typeface="Aptos"/>
                <a:ea typeface="Aptos"/>
                <a:cs typeface="Aptos"/>
              </a:rPr>
              <a:t>FastAPI · OpenAPI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2C0A2C4-382F-4703-91E8-30FC6EF2F82E}"/>
              </a:ext>
            </a:extLst>
          </p:cNvPr>
          <p:cNvSpPr>
            <a:spLocks noGrp="1"/>
          </p:cNvSpPr>
          <p:nvPr/>
        </p:nvSpPr>
        <p:spPr>
          <a:xfrm>
            <a:off x="5791200" y="2428875"/>
            <a:ext cx="2238375" cy="9525"/>
          </a:xfrm>
          <a:prstGeom prst="rect">
            <a:avLst/>
          </a:prstGeom>
          <a:solidFill>
            <a:srgbClr val="D7E0E8"/>
          </a:solidFill>
          <a:ln w="0">
            <a:solidFill>
              <a:srgbClr val="D7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BA038669-78BC-42A4-829B-618C89D31D70}"/>
              </a:ext>
            </a:extLst>
          </p:cNvPr>
          <p:cNvSpPr>
            <a:spLocks noGrp="1"/>
          </p:cNvSpPr>
          <p:nvPr/>
        </p:nvSpPr>
        <p:spPr>
          <a:xfrm>
            <a:off x="5791200" y="2657475"/>
            <a:ext cx="438150" cy="228600"/>
          </a:xfrm>
          <a:prstGeom prst="roundRect">
            <a:avLst>
              <a:gd name="adj" fmla="val 25000"/>
            </a:avLst>
          </a:prstGeom>
          <a:solidFill>
            <a:srgbClr val="2D9C74"/>
          </a:solidFill>
          <a:ln w="0">
            <a:solidFill>
              <a:srgbClr val="2D9C7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5EB5B68-874B-455A-AB6D-00397FEB1240}"/>
              </a:ext>
            </a:extLst>
          </p:cNvPr>
          <p:cNvSpPr>
            <a:spLocks noGrp="1"/>
          </p:cNvSpPr>
          <p:nvPr/>
        </p:nvSpPr>
        <p:spPr>
          <a:xfrm>
            <a:off x="5791200" y="2705100"/>
            <a:ext cx="438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625" lnSpcReduction="10000"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GET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AEA768D-56D6-4B12-B88C-0ABE2D597A9C}"/>
              </a:ext>
            </a:extLst>
          </p:cNvPr>
          <p:cNvSpPr>
            <a:spLocks noGrp="1"/>
          </p:cNvSpPr>
          <p:nvPr/>
        </p:nvSpPr>
        <p:spPr>
          <a:xfrm>
            <a:off x="6353175" y="2686050"/>
            <a:ext cx="1200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750"/>
          </a:bodyPr>
          <a:lstStyle/>
          <a:p>
            <a:pPr algn="l">
              <a:buNone/>
              <a:defRPr sz="1200" b="1">
                <a:solidFill>
                  <a:srgbClr val="0B2540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B2540"/>
                </a:solidFill>
                <a:latin typeface="Courier New"/>
                <a:ea typeface="Courier New"/>
                <a:cs typeface="Courier New"/>
              </a:rPr>
              <a:t>/health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79C56BC-8883-4BE8-87A8-31DA5304D914}"/>
              </a:ext>
            </a:extLst>
          </p:cNvPr>
          <p:cNvSpPr>
            <a:spLocks noGrp="1"/>
          </p:cNvSpPr>
          <p:nvPr/>
        </p:nvSpPr>
        <p:spPr>
          <a:xfrm>
            <a:off x="7677150" y="26860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750"/>
          </a:bodyPr>
          <a:lstStyle/>
          <a:p>
            <a:pPr algn="r">
              <a:buNone/>
              <a:defRPr sz="1200" b="1">
                <a:solidFill>
                  <a:srgbClr val="2D9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9C74"/>
                </a:solidFill>
                <a:latin typeface="Aptos"/>
                <a:ea typeface="Aptos"/>
                <a:cs typeface="Aptos"/>
              </a:rPr>
              <a:t>200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F347FFF3-9294-420F-90D0-C9653F27B645}"/>
              </a:ext>
            </a:extLst>
          </p:cNvPr>
          <p:cNvSpPr>
            <a:spLocks noGrp="1"/>
          </p:cNvSpPr>
          <p:nvPr/>
        </p:nvSpPr>
        <p:spPr>
          <a:xfrm>
            <a:off x="5791200" y="3114675"/>
            <a:ext cx="438150" cy="228600"/>
          </a:xfrm>
          <a:prstGeom prst="roundRect">
            <a:avLst>
              <a:gd name="adj" fmla="val 25000"/>
            </a:avLst>
          </a:prstGeom>
          <a:solidFill>
            <a:srgbClr val="4F7CAC"/>
          </a:solidFill>
          <a:ln w="0">
            <a:solidFill>
              <a:srgbClr val="4F7CA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30D654E-B74A-4DFB-B270-BDF4C945C31F}"/>
              </a:ext>
            </a:extLst>
          </p:cNvPr>
          <p:cNvSpPr>
            <a:spLocks noGrp="1"/>
          </p:cNvSpPr>
          <p:nvPr/>
        </p:nvSpPr>
        <p:spPr>
          <a:xfrm>
            <a:off x="5791200" y="3162300"/>
            <a:ext cx="438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625" lnSpcReduction="10000"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GET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01F2E14-B1AD-4AF2-AAE9-8DE8266180F0}"/>
              </a:ext>
            </a:extLst>
          </p:cNvPr>
          <p:cNvSpPr>
            <a:spLocks noGrp="1"/>
          </p:cNvSpPr>
          <p:nvPr/>
        </p:nvSpPr>
        <p:spPr>
          <a:xfrm>
            <a:off x="6353175" y="3143250"/>
            <a:ext cx="1200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750"/>
          </a:bodyPr>
          <a:lstStyle/>
          <a:p>
            <a:pPr algn="l">
              <a:buNone/>
              <a:defRPr sz="1200" b="1">
                <a:solidFill>
                  <a:srgbClr val="0B2540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B2540"/>
                </a:solidFill>
                <a:latin typeface="Courier New"/>
                <a:ea typeface="Courier New"/>
                <a:cs typeface="Courier New"/>
              </a:rPr>
              <a:t>/users/me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271F6AC-5813-4D87-BC43-26266F4389DF}"/>
              </a:ext>
            </a:extLst>
          </p:cNvPr>
          <p:cNvSpPr>
            <a:spLocks noGrp="1"/>
          </p:cNvSpPr>
          <p:nvPr/>
        </p:nvSpPr>
        <p:spPr>
          <a:xfrm>
            <a:off x="7677150" y="31432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750"/>
          </a:bodyPr>
          <a:lstStyle/>
          <a:p>
            <a:pPr algn="r">
              <a:buNone/>
              <a:defRPr sz="1200" b="1">
                <a:solidFill>
                  <a:srgbClr val="2D9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9C74"/>
                </a:solidFill>
                <a:latin typeface="Aptos"/>
                <a:ea typeface="Aptos"/>
                <a:cs typeface="Aptos"/>
              </a:rPr>
              <a:t>200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E659AEFA-A048-4EAC-807C-28973C56A060}"/>
              </a:ext>
            </a:extLst>
          </p:cNvPr>
          <p:cNvSpPr>
            <a:spLocks noGrp="1"/>
          </p:cNvSpPr>
          <p:nvPr/>
        </p:nvSpPr>
        <p:spPr>
          <a:xfrm>
            <a:off x="5791200" y="3571875"/>
            <a:ext cx="438150" cy="228600"/>
          </a:xfrm>
          <a:prstGeom prst="roundRect">
            <a:avLst>
              <a:gd name="adj" fmla="val 25000"/>
            </a:avLst>
          </a:prstGeom>
          <a:solidFill>
            <a:srgbClr val="F2A93B"/>
          </a:solidFill>
          <a:ln w="0">
            <a:solidFill>
              <a:srgbClr val="F2A9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A636893-8294-4A48-8B41-150A769FC1F6}"/>
              </a:ext>
            </a:extLst>
          </p:cNvPr>
          <p:cNvSpPr>
            <a:spLocks noGrp="1"/>
          </p:cNvSpPr>
          <p:nvPr/>
        </p:nvSpPr>
        <p:spPr>
          <a:xfrm>
            <a:off x="5791200" y="3619500"/>
            <a:ext cx="4381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625" lnSpcReduction="10000"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POST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D95D2F0-DA4E-4196-AF00-CA41471AB06A}"/>
              </a:ext>
            </a:extLst>
          </p:cNvPr>
          <p:cNvSpPr>
            <a:spLocks noGrp="1"/>
          </p:cNvSpPr>
          <p:nvPr/>
        </p:nvSpPr>
        <p:spPr>
          <a:xfrm>
            <a:off x="6353175" y="3600450"/>
            <a:ext cx="1200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750"/>
          </a:bodyPr>
          <a:lstStyle/>
          <a:p>
            <a:pPr algn="l">
              <a:buNone/>
              <a:defRPr sz="1200" b="1">
                <a:solidFill>
                  <a:srgbClr val="0B2540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B2540"/>
                </a:solidFill>
                <a:latin typeface="Courier New"/>
                <a:ea typeface="Courier New"/>
                <a:cs typeface="Courier New"/>
              </a:rPr>
              <a:t>/notes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6A701F4-FFA7-43C1-A0CE-81163020A470}"/>
              </a:ext>
            </a:extLst>
          </p:cNvPr>
          <p:cNvSpPr>
            <a:spLocks noGrp="1"/>
          </p:cNvSpPr>
          <p:nvPr/>
        </p:nvSpPr>
        <p:spPr>
          <a:xfrm>
            <a:off x="7677150" y="36004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750"/>
          </a:bodyPr>
          <a:lstStyle/>
          <a:p>
            <a:pPr algn="r">
              <a:buNone/>
              <a:defRPr sz="1200" b="1">
                <a:solidFill>
                  <a:srgbClr val="2D9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9C74"/>
                </a:solidFill>
                <a:latin typeface="Aptos"/>
                <a:ea typeface="Aptos"/>
                <a:cs typeface="Aptos"/>
              </a:rPr>
              <a:t>201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D0AD973-0DFD-4D90-B41C-06D92C680D2A}"/>
              </a:ext>
            </a:extLst>
          </p:cNvPr>
          <p:cNvSpPr>
            <a:spLocks noGrp="1"/>
          </p:cNvSpPr>
          <p:nvPr/>
        </p:nvSpPr>
        <p:spPr>
          <a:xfrm>
            <a:off x="5791200" y="4029075"/>
            <a:ext cx="2238375" cy="9525"/>
          </a:xfrm>
          <a:prstGeom prst="rect">
            <a:avLst/>
          </a:prstGeom>
          <a:solidFill>
            <a:srgbClr val="D7E0E8"/>
          </a:solidFill>
          <a:ln w="0">
            <a:solidFill>
              <a:srgbClr val="D7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7AEB686-6102-40C4-8A79-EA10AA44AE95}"/>
              </a:ext>
            </a:extLst>
          </p:cNvPr>
          <p:cNvSpPr>
            <a:spLocks noGrp="1"/>
          </p:cNvSpPr>
          <p:nvPr/>
        </p:nvSpPr>
        <p:spPr>
          <a:xfrm>
            <a:off x="5791200" y="42672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12365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65A"/>
                </a:solidFill>
                <a:latin typeface="Aptos"/>
                <a:ea typeface="Aptos"/>
                <a:cs typeface="Aptos"/>
              </a:rPr>
              <a:t>Interactive documentation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762A9A37-F8B5-4144-9C36-5D602DC0C4C1}"/>
              </a:ext>
            </a:extLst>
          </p:cNvPr>
          <p:cNvSpPr>
            <a:spLocks noGrp="1"/>
          </p:cNvSpPr>
          <p:nvPr/>
        </p:nvSpPr>
        <p:spPr>
          <a:xfrm>
            <a:off x="5791200" y="4581525"/>
            <a:ext cx="102870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F4F8CE1-DC9D-45EA-9958-C945F283FECF}"/>
              </a:ext>
            </a:extLst>
          </p:cNvPr>
          <p:cNvSpPr>
            <a:spLocks noGrp="1"/>
          </p:cNvSpPr>
          <p:nvPr/>
        </p:nvSpPr>
        <p:spPr>
          <a:xfrm>
            <a:off x="5791200" y="4686300"/>
            <a:ext cx="1028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847"/>
          </a:bodyPr>
          <a:lstStyle/>
          <a:p>
            <a:pPr algn="ctr">
              <a:buNone/>
              <a:defRPr sz="1200" b="1">
                <a:solidFill>
                  <a:srgbClr val="0B254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2540"/>
                </a:solidFill>
                <a:latin typeface="Aptos"/>
                <a:ea typeface="Aptos"/>
                <a:cs typeface="Aptos"/>
              </a:rPr>
              <a:t>Swagger /docs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083146D7-140C-4BE5-8B41-AB95BA040B9E}"/>
              </a:ext>
            </a:extLst>
          </p:cNvPr>
          <p:cNvSpPr>
            <a:spLocks noGrp="1"/>
          </p:cNvSpPr>
          <p:nvPr/>
        </p:nvSpPr>
        <p:spPr>
          <a:xfrm>
            <a:off x="7000875" y="4581525"/>
            <a:ext cx="102870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5221CEC-88F7-4AC3-87A6-8FF0B61F8316}"/>
              </a:ext>
            </a:extLst>
          </p:cNvPr>
          <p:cNvSpPr>
            <a:spLocks noGrp="1"/>
          </p:cNvSpPr>
          <p:nvPr/>
        </p:nvSpPr>
        <p:spPr>
          <a:xfrm>
            <a:off x="7000875" y="4686300"/>
            <a:ext cx="1028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0B254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2540"/>
                </a:solidFill>
                <a:latin typeface="Aptos"/>
                <a:ea typeface="Aptos"/>
                <a:cs typeface="Aptos"/>
              </a:rPr>
              <a:t>ReDoc /redoc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69ACBA4-5C92-43A0-83B3-CC5CEF7D6A57}"/>
              </a:ext>
            </a:extLst>
          </p:cNvPr>
          <p:cNvSpPr>
            <a:spLocks noGrp="1"/>
          </p:cNvSpPr>
          <p:nvPr/>
        </p:nvSpPr>
        <p:spPr>
          <a:xfrm>
            <a:off x="5791200" y="5219700"/>
            <a:ext cx="223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Visible · testable · shareable</a:t>
            </a:r>
          </a:p>
        </p:txBody>
      </p:sp>
    </p:spTree>
    <p:extLst>
      <p:ext uri="{BB962C8B-B14F-4D97-AF65-F5344CB8AC3E}">
        <p14:creationId xmlns:p14="http://schemas.microsoft.com/office/powerpoint/2010/main" val="1719961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5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12000" decel="18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4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4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4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4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4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4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4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accel="12000" decel="18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4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4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4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4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4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4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4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4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4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4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4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4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4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4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4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4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34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4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34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4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4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4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34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accel="12000" decel="18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3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3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3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3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3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3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3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3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3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3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3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3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3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3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3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accel="12000" decel="18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/>
      <p:bldP spid="12" grpId="0" animBg="1"/>
      <p:bldP spid="13" grpId="0"/>
      <p:bldP spid="14" grpId="0"/>
      <p:bldP spid="15" grpId="0" animBg="1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/>
      <p:bldP spid="27" grpId="0" animBg="1"/>
      <p:bldP spid="28" grpId="0"/>
      <p:bldP spid="29" grpId="0"/>
      <p:bldP spid="30" grpId="0" animBg="1"/>
      <p:bldP spid="31" grpId="0"/>
      <p:bldP spid="32" grpId="0" animBg="1"/>
      <p:bldP spid="33" grpId="0"/>
      <p:bldP spid="34" grpId="0" animBg="1"/>
      <p:bldP spid="35" grpId="0"/>
      <p:bldP spid="36" grpId="0"/>
      <p:bldP spid="37" grpId="0" animBg="1"/>
      <p:bldP spid="38" grpId="0" animBg="1"/>
      <p:bldP spid="39" grpId="0"/>
      <p:bldP spid="40" grpId="0"/>
      <p:bldP spid="41" grpId="0"/>
      <p:bldP spid="42" grpId="0" animBg="1"/>
      <p:bldP spid="43" grpId="0"/>
      <p:bldP spid="44" grpId="0"/>
      <p:bldP spid="45" grpId="0"/>
      <p:bldP spid="46" grpId="0" animBg="1"/>
      <p:bldP spid="47" grpId="0"/>
      <p:bldP spid="48" grpId="0"/>
      <p:bldP spid="49" grpId="0"/>
      <p:bldP spid="50" grpId="0" animBg="1"/>
      <p:bldP spid="51" grpId="0"/>
      <p:bldP spid="52" grpId="0" animBg="1"/>
      <p:bldP spid="53" grpId="0"/>
      <p:bldP spid="54" grpId="0" animBg="1"/>
      <p:bldP spid="55" grpId="0"/>
      <p:bldP spid="5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DFF0B6E-D9EB-47A7-920E-13B70757B52C}"/>
              </a:ext>
            </a:extLst>
          </p:cNvPr>
          <p:cNvSpPr>
            <a:spLocks noGrp="1"/>
          </p:cNvSpPr>
          <p:nvPr/>
        </p:nvSpPr>
        <p:spPr>
          <a:xfrm>
            <a:off x="685800" y="657225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00A7A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A7A7"/>
                </a:solidFill>
                <a:latin typeface="Aptos"/>
                <a:ea typeface="Aptos"/>
                <a:cs typeface="Aptos"/>
              </a:rPr>
              <a:t>CONTRIBUTION SUMMARY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754293-85EB-4658-ABE8-AD8E9AF96B42}"/>
              </a:ext>
            </a:extLst>
          </p:cNvPr>
          <p:cNvSpPr>
            <a:spLocks noGrp="1"/>
          </p:cNvSpPr>
          <p:nvPr/>
        </p:nvSpPr>
        <p:spPr>
          <a:xfrm>
            <a:off x="685800" y="1400175"/>
            <a:ext cx="72390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600" b="1">
                <a:solidFill>
                  <a:srgbClr val="0B2540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0B2540"/>
                </a:solidFill>
                <a:latin typeface="Aptos"/>
                <a:ea typeface="Aptos"/>
                <a:cs typeface="Aptos"/>
              </a:rPr>
              <a:t>I created continuity from</a:t>
            </a:r>
          </a:p>
          <a:p>
            <a:pPr algn="l">
              <a:buNone/>
              <a:defRPr sz="3600" b="1">
                <a:solidFill>
                  <a:srgbClr val="0B2540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0B2540"/>
                </a:solidFill>
                <a:latin typeface="Aptos"/>
                <a:ea typeface="Aptos"/>
                <a:cs typeface="Aptos"/>
              </a:rPr>
              <a:t>research to implementation.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8EB1813-26E8-4B7A-B871-AB6FE854A6ED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3295650" cy="186690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4F5871-C700-4DE8-ACC0-71B790DC7D4C}"/>
              </a:ext>
            </a:extLst>
          </p:cNvPr>
          <p:cNvSpPr>
            <a:spLocks noGrp="1"/>
          </p:cNvSpPr>
          <p:nvPr/>
        </p:nvSpPr>
        <p:spPr>
          <a:xfrm>
            <a:off x="914400" y="3562350"/>
            <a:ext cx="428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00A7A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A7A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0C5B01-C3E4-4C4A-9D01-53ED3FABBA18}"/>
              </a:ext>
            </a:extLst>
          </p:cNvPr>
          <p:cNvSpPr>
            <a:spLocks noGrp="1"/>
          </p:cNvSpPr>
          <p:nvPr/>
        </p:nvSpPr>
        <p:spPr>
          <a:xfrm>
            <a:off x="914400" y="3952875"/>
            <a:ext cx="2809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254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2540"/>
                </a:solidFill>
                <a:latin typeface="Aptos"/>
                <a:ea typeface="Aptos"/>
                <a:cs typeface="Aptos"/>
              </a:rPr>
              <a:t>Evidence-informed choices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735B6D-E82B-455E-93F7-66DA5E616448}"/>
              </a:ext>
            </a:extLst>
          </p:cNvPr>
          <p:cNvSpPr>
            <a:spLocks noGrp="1"/>
          </p:cNvSpPr>
          <p:nvPr/>
        </p:nvSpPr>
        <p:spPr>
          <a:xfrm>
            <a:off x="914400" y="4533900"/>
            <a:ext cx="2809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Research and survey participation reduced uncertainty.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AE3364F-4D76-4EF0-9E8F-C0EEE67A24B3}"/>
              </a:ext>
            </a:extLst>
          </p:cNvPr>
          <p:cNvSpPr>
            <a:spLocks noGrp="1"/>
          </p:cNvSpPr>
          <p:nvPr/>
        </p:nvSpPr>
        <p:spPr>
          <a:xfrm>
            <a:off x="4352925" y="3333750"/>
            <a:ext cx="3295650" cy="186690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28F2BE-5E38-4D2D-B89A-B9A8DB52F0DC}"/>
              </a:ext>
            </a:extLst>
          </p:cNvPr>
          <p:cNvSpPr>
            <a:spLocks noGrp="1"/>
          </p:cNvSpPr>
          <p:nvPr/>
        </p:nvSpPr>
        <p:spPr>
          <a:xfrm>
            <a:off x="4581525" y="3562350"/>
            <a:ext cx="428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00A7A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A7A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C8FA07-AC65-4463-863E-A41EE1F5F1D0}"/>
              </a:ext>
            </a:extLst>
          </p:cNvPr>
          <p:cNvSpPr>
            <a:spLocks noGrp="1"/>
          </p:cNvSpPr>
          <p:nvPr/>
        </p:nvSpPr>
        <p:spPr>
          <a:xfrm>
            <a:off x="4581525" y="3952875"/>
            <a:ext cx="2809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254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2540"/>
                </a:solidFill>
                <a:latin typeface="Aptos"/>
                <a:ea typeface="Aptos"/>
                <a:cs typeface="Aptos"/>
              </a:rPr>
              <a:t>Shared system language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20D050-EC0F-439E-87A6-03ACF88E0261}"/>
              </a:ext>
            </a:extLst>
          </p:cNvPr>
          <p:cNvSpPr>
            <a:spLocks noGrp="1"/>
          </p:cNvSpPr>
          <p:nvPr/>
        </p:nvSpPr>
        <p:spPr>
          <a:xfrm>
            <a:off x="4581525" y="4533900"/>
            <a:ext cx="2809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Nine UML diagrams made behaviour and ownership visible.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8B9AD9E-E37E-4B7F-9128-6A87D6577DEE}"/>
              </a:ext>
            </a:extLst>
          </p:cNvPr>
          <p:cNvSpPr>
            <a:spLocks noGrp="1"/>
          </p:cNvSpPr>
          <p:nvPr/>
        </p:nvSpPr>
        <p:spPr>
          <a:xfrm>
            <a:off x="8020050" y="3333750"/>
            <a:ext cx="3295650" cy="186690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E14A88-8DA1-4456-85B7-8F874E29EF5F}"/>
              </a:ext>
            </a:extLst>
          </p:cNvPr>
          <p:cNvSpPr>
            <a:spLocks noGrp="1"/>
          </p:cNvSpPr>
          <p:nvPr/>
        </p:nvSpPr>
        <p:spPr>
          <a:xfrm>
            <a:off x="8248650" y="3562350"/>
            <a:ext cx="428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00A7A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A7A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410A5DA-CBA7-44DB-94AF-D8A68D548DDC}"/>
              </a:ext>
            </a:extLst>
          </p:cNvPr>
          <p:cNvSpPr>
            <a:spLocks noGrp="1"/>
          </p:cNvSpPr>
          <p:nvPr/>
        </p:nvSpPr>
        <p:spPr>
          <a:xfrm>
            <a:off x="8248650" y="3952875"/>
            <a:ext cx="2809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080"/>
          </a:bodyPr>
          <a:lstStyle/>
          <a:p>
            <a:pPr algn="l">
              <a:buNone/>
              <a:defRPr sz="1650" b="1">
                <a:solidFill>
                  <a:srgbClr val="0B254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2540"/>
                </a:solidFill>
                <a:latin typeface="Aptos"/>
                <a:ea typeface="Aptos"/>
                <a:cs typeface="Aptos"/>
              </a:rPr>
              <a:t>Executable backend baseline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CDB98BA-F4E5-4BD4-98FC-407EA4A3DA3E}"/>
              </a:ext>
            </a:extLst>
          </p:cNvPr>
          <p:cNvSpPr>
            <a:spLocks noGrp="1"/>
          </p:cNvSpPr>
          <p:nvPr/>
        </p:nvSpPr>
        <p:spPr>
          <a:xfrm>
            <a:off x="8248650" y="4533900"/>
            <a:ext cx="2809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Architecture, folder structure, APIs, and documentation.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4AB04DE-E1E3-4AC0-826D-4DB8B22F96D4}"/>
              </a:ext>
            </a:extLst>
          </p:cNvPr>
          <p:cNvSpPr>
            <a:spLocks noGrp="1"/>
          </p:cNvSpPr>
          <p:nvPr/>
        </p:nvSpPr>
        <p:spPr>
          <a:xfrm>
            <a:off x="685800" y="5791200"/>
            <a:ext cx="10820400" cy="9525"/>
          </a:xfrm>
          <a:prstGeom prst="rect">
            <a:avLst/>
          </a:prstGeom>
          <a:solidFill>
            <a:srgbClr val="D7E0E8"/>
          </a:solidFill>
          <a:ln w="0">
            <a:solidFill>
              <a:srgbClr val="D7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1C43E90-13BD-48B1-8D22-7034CF27A432}"/>
              </a:ext>
            </a:extLst>
          </p:cNvPr>
          <p:cNvSpPr>
            <a:spLocks noGrp="1"/>
          </p:cNvSpPr>
          <p:nvPr/>
        </p:nvSpPr>
        <p:spPr>
          <a:xfrm>
            <a:off x="685800" y="6029325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1236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2365A"/>
                </a:solidFill>
                <a:latin typeface="Aptos"/>
                <a:ea typeface="Aptos"/>
                <a:cs typeface="Aptos"/>
              </a:rPr>
              <a:t>Next: integrate remaining domains and complete the end-to-end AI/RAG flow.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6DDA85B-058C-4A78-A5C8-B78B8983B1A8}"/>
              </a:ext>
            </a:extLst>
          </p:cNvPr>
          <p:cNvSpPr>
            <a:spLocks noGrp="1"/>
          </p:cNvSpPr>
          <p:nvPr/>
        </p:nvSpPr>
        <p:spPr>
          <a:xfrm>
            <a:off x="9886950" y="6010275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500" b="1">
                <a:solidFill>
                  <a:srgbClr val="00A7A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A7A7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87883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5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12000" decel="18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4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accel="12000" decel="18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accel="12000" decel="18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accel="12000" decel="18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accel="12000" decel="1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  <p:bldP spid="6" grpId="0"/>
      <p:bldP spid="7" grpId="0" animBg="1"/>
      <p:bldP spid="8" grpId="0"/>
      <p:bldP spid="9" grpId="0"/>
      <p:bldP spid="10" grpId="0"/>
      <p:bldP spid="11" grpId="0" animBg="1"/>
      <p:bldP spid="12" grpId="0"/>
      <p:bldP spid="13" grpId="0"/>
      <p:bldP spid="14" grpId="0"/>
      <p:bldP spid="15" grpId="0" animBg="1"/>
      <p:bldP spid="16" grpId="0"/>
      <p:bldP spid="17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610</TotalTime>
  <Words>782</Words>
  <Application>Microsoft Macintosh PowerPoint</Application>
  <DocSecurity>0</DocSecurity>
  <PresentationFormat>Widescreen</PresentationFormat>
  <Paragraphs>189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Calibri</vt:lpstr>
      <vt:lpstr>Courier New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. Hein Myat Thu</cp:lastModifiedBy>
  <cp:revision>3</cp:revision>
  <dcterms:created xsi:type="dcterms:W3CDTF">2026-07-31T10:50:34Z</dcterms:created>
  <dcterms:modified xsi:type="dcterms:W3CDTF">2026-07-31T21:42:57Z</dcterms:modified>
</cp:coreProperties>
</file>